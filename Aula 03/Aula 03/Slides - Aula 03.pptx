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83"/>
  </p:notesMasterIdLst>
  <p:sldIdLst>
    <p:sldId id="256" r:id="rId5"/>
    <p:sldId id="257" r:id="rId6"/>
    <p:sldId id="259" r:id="rId7"/>
    <p:sldId id="260" r:id="rId8"/>
    <p:sldId id="261" r:id="rId9"/>
    <p:sldId id="262" r:id="rId10"/>
    <p:sldId id="263" r:id="rId11"/>
    <p:sldId id="264" r:id="rId12"/>
    <p:sldId id="265" r:id="rId13"/>
    <p:sldId id="266" r:id="rId14"/>
    <p:sldId id="268" r:id="rId15"/>
    <p:sldId id="269" r:id="rId16"/>
    <p:sldId id="270" r:id="rId17"/>
    <p:sldId id="271" r:id="rId18"/>
    <p:sldId id="272" r:id="rId19"/>
    <p:sldId id="274" r:id="rId20"/>
    <p:sldId id="275" r:id="rId21"/>
    <p:sldId id="276" r:id="rId22"/>
    <p:sldId id="277" r:id="rId23"/>
    <p:sldId id="279" r:id="rId24"/>
    <p:sldId id="278" r:id="rId25"/>
    <p:sldId id="281" r:id="rId26"/>
    <p:sldId id="282" r:id="rId27"/>
    <p:sldId id="283" r:id="rId28"/>
    <p:sldId id="285" r:id="rId29"/>
    <p:sldId id="286" r:id="rId30"/>
    <p:sldId id="287" r:id="rId31"/>
    <p:sldId id="288" r:id="rId32"/>
    <p:sldId id="289" r:id="rId33"/>
    <p:sldId id="290" r:id="rId34"/>
    <p:sldId id="320" r:id="rId35"/>
    <p:sldId id="321" r:id="rId36"/>
    <p:sldId id="322" r:id="rId37"/>
    <p:sldId id="323" r:id="rId38"/>
    <p:sldId id="324" r:id="rId39"/>
    <p:sldId id="325" r:id="rId40"/>
    <p:sldId id="326" r:id="rId41"/>
    <p:sldId id="295" r:id="rId42"/>
    <p:sldId id="317" r:id="rId43"/>
    <p:sldId id="318" r:id="rId44"/>
    <p:sldId id="296" r:id="rId45"/>
    <p:sldId id="297" r:id="rId46"/>
    <p:sldId id="298" r:id="rId47"/>
    <p:sldId id="299" r:id="rId48"/>
    <p:sldId id="300" r:id="rId49"/>
    <p:sldId id="319" r:id="rId50"/>
    <p:sldId id="342" r:id="rId51"/>
    <p:sldId id="343" r:id="rId52"/>
    <p:sldId id="302" r:id="rId53"/>
    <p:sldId id="303" r:id="rId54"/>
    <p:sldId id="304" r:id="rId55"/>
    <p:sldId id="305" r:id="rId56"/>
    <p:sldId id="307" r:id="rId57"/>
    <p:sldId id="308" r:id="rId58"/>
    <p:sldId id="310" r:id="rId59"/>
    <p:sldId id="311" r:id="rId60"/>
    <p:sldId id="312" r:id="rId61"/>
    <p:sldId id="314" r:id="rId62"/>
    <p:sldId id="315" r:id="rId63"/>
    <p:sldId id="327" r:id="rId64"/>
    <p:sldId id="328" r:id="rId65"/>
    <p:sldId id="329" r:id="rId66"/>
    <p:sldId id="330" r:id="rId67"/>
    <p:sldId id="291" r:id="rId68"/>
    <p:sldId id="292" r:id="rId69"/>
    <p:sldId id="293" r:id="rId70"/>
    <p:sldId id="294" r:id="rId71"/>
    <p:sldId id="331" r:id="rId72"/>
    <p:sldId id="332" r:id="rId73"/>
    <p:sldId id="333" r:id="rId74"/>
    <p:sldId id="334" r:id="rId75"/>
    <p:sldId id="335" r:id="rId76"/>
    <p:sldId id="336" r:id="rId77"/>
    <p:sldId id="337" r:id="rId78"/>
    <p:sldId id="338" r:id="rId79"/>
    <p:sldId id="339" r:id="rId80"/>
    <p:sldId id="340" r:id="rId81"/>
    <p:sldId id="258" r:id="rId8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67" d="100"/>
          <a:sy n="67" d="100"/>
        </p:scale>
        <p:origin x="150" y="137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áudio Carvajal" userId="1c23233fab0a788b" providerId="LiveId" clId="{093D70BD-492E-45D0-B5AB-6B410A6D8764}"/>
    <pc:docChg chg="custSel modSld">
      <pc:chgData name="Cláudio Carvajal" userId="1c23233fab0a788b" providerId="LiveId" clId="{093D70BD-492E-45D0-B5AB-6B410A6D8764}" dt="2025-06-23T13:34:58.141" v="3" actId="20577"/>
      <pc:docMkLst>
        <pc:docMk/>
      </pc:docMkLst>
      <pc:sldChg chg="delSp modSp mod">
        <pc:chgData name="Cláudio Carvajal" userId="1c23233fab0a788b" providerId="LiveId" clId="{093D70BD-492E-45D0-B5AB-6B410A6D8764}" dt="2025-06-23T13:34:58.141" v="3" actId="20577"/>
        <pc:sldMkLst>
          <pc:docMk/>
          <pc:sldMk cId="0" sldId="256"/>
        </pc:sldMkLst>
        <pc:spChg chg="mod">
          <ac:chgData name="Cláudio Carvajal" userId="1c23233fab0a788b" providerId="LiveId" clId="{093D70BD-492E-45D0-B5AB-6B410A6D8764}" dt="2025-06-23T13:34:58.141" v="3" actId="20577"/>
          <ac:spMkLst>
            <pc:docMk/>
            <pc:sldMk cId="0" sldId="256"/>
            <ac:spMk id="120" creationId="{00000000-0000-0000-0000-000000000000}"/>
          </ac:spMkLst>
        </pc:spChg>
        <pc:picChg chg="del">
          <ac:chgData name="Cláudio Carvajal" userId="1c23233fab0a788b" providerId="LiveId" clId="{093D70BD-492E-45D0-B5AB-6B410A6D8764}" dt="2025-06-23T13:34:53.385" v="0" actId="478"/>
          <ac:picMkLst>
            <pc:docMk/>
            <pc:sldMk cId="0" sldId="256"/>
            <ac:picMk id="3" creationId="{D8B40C3F-F368-555A-F896-B0EBE4E6F40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p:cNvSpPr txBox="1">
            <a:spLocks noGrp="1"/>
          </p:cNvSpPr>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3125968" y="673100"/>
            <a:ext cx="18135601" cy="8737600"/>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635000" y="9512300"/>
            <a:ext cx="23114000" cy="2006600"/>
          </a:xfrm>
          <a:prstGeom prst="rect">
            <a:avLst/>
          </a:prstGeom>
        </p:spPr>
        <p:txBody>
          <a:bodyPr anchor="b"/>
          <a:lstStyle/>
          <a:p>
            <a:r>
              <a:t>Title Text</a:t>
            </a:r>
          </a:p>
        </p:txBody>
      </p:sp>
      <p:sp>
        <p:nvSpPr>
          <p:cNvPr id="22" name="Body Level One…"/>
          <p:cNvSpPr txBox="1">
            <a:spLocks noGrp="1"/>
          </p:cNvSpPr>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778000" y="4533900"/>
            <a:ext cx="20828000" cy="4648200"/>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13165980" y="952500"/>
            <a:ext cx="9525001" cy="11468100"/>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651000" y="952500"/>
            <a:ext cx="10223500" cy="5549900"/>
          </a:xfrm>
          <a:prstGeom prst="rect">
            <a:avLst/>
          </a:prstGeom>
        </p:spPr>
        <p:txBody>
          <a:bodyPr anchor="b"/>
          <a:lstStyle>
            <a:lvl1pPr>
              <a:defRPr sz="8400"/>
            </a:lvl1pPr>
          </a:lstStyle>
          <a:p>
            <a:r>
              <a:t>Title Text</a:t>
            </a:r>
          </a:p>
        </p:txBody>
      </p:sp>
      <p:sp>
        <p:nvSpPr>
          <p:cNvPr id="40" name="Body Level One…"/>
          <p:cNvSpPr txBox="1">
            <a:spLocks noGrp="1"/>
          </p:cNvSpPr>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quarter" idx="13"/>
          </p:nvPr>
        </p:nvSpPr>
        <p:spPr>
          <a:xfrm>
            <a:off x="15760700" y="7048500"/>
            <a:ext cx="7404100" cy="554990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15760700" y="1130300"/>
            <a:ext cx="7404100" cy="5549900"/>
          </a:xfrm>
          <a:prstGeom prst="rect">
            <a:avLst/>
          </a:prstGeom>
        </p:spPr>
        <p:txBody>
          <a:bodyPr lIns="91439" tIns="45719" rIns="91439" bIns="45719" anchor="t">
            <a:noAutofit/>
          </a:bodyPr>
          <a:lstStyle/>
          <a:p>
            <a:endParaRPr/>
          </a:p>
        </p:txBody>
      </p:sp>
      <p:sp>
        <p:nvSpPr>
          <p:cNvPr id="85" name="Image"/>
          <p:cNvSpPr>
            <a:spLocks noGrp="1"/>
          </p:cNvSpPr>
          <p:nvPr>
            <p:ph type="pic" idx="15"/>
          </p:nvPr>
        </p:nvSpPr>
        <p:spPr>
          <a:xfrm>
            <a:off x="1206500" y="1130300"/>
            <a:ext cx="14173200" cy="11468100"/>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13"/>
          </p:nvPr>
        </p:nvSpPr>
        <p:spPr>
          <a:xfrm>
            <a:off x="2387600" y="8953500"/>
            <a:ext cx="19621500" cy="585521"/>
          </a:xfrm>
          <a:prstGeom prst="rect">
            <a:avLst/>
          </a:prstGeom>
        </p:spPr>
        <p:txBody>
          <a:bodyPr anchor="t">
            <a:spAutoFit/>
          </a:bodyPr>
          <a:lstStyle>
            <a:lvl1pPr marL="0" indent="0" algn="ctr">
              <a:spcBef>
                <a:spcPts val="0"/>
              </a:spcBef>
              <a:buSzTx/>
              <a:buNone/>
              <a:defRPr sz="3200" i="1"/>
            </a:lvl1pPr>
          </a:lstStyle>
          <a:p>
            <a:r>
              <a:t>–Johnny Appleseed</a:t>
            </a:r>
          </a:p>
        </p:txBody>
      </p:sp>
      <p:sp>
        <p:nvSpPr>
          <p:cNvPr id="94" name="“Type a quote here.”"/>
          <p:cNvSpPr txBox="1">
            <a:spLocks noGrp="1"/>
          </p:cNvSpPr>
          <p:nvPr>
            <p:ph type="body" sz="quarter" idx="14"/>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ítulo e Conteú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689100" y="1612900"/>
            <a:ext cx="19170650" cy="2286000"/>
          </a:xfrm>
        </p:spPr>
        <p:txBody>
          <a:bodyPr/>
          <a:lstStyle/>
          <a:p>
            <a:r>
              <a:rPr lang="pt-BR" dirty="0"/>
              <a:t>Clique para editar estilo do título mestre</a:t>
            </a:r>
          </a:p>
        </p:txBody>
      </p:sp>
      <p:sp>
        <p:nvSpPr>
          <p:cNvPr id="3" name="Espaço Reservado para Conteúdo 2"/>
          <p:cNvSpPr>
            <a:spLocks noGrp="1"/>
          </p:cNvSpPr>
          <p:nvPr>
            <p:ph idx="1"/>
          </p:nvPr>
        </p:nvSpPr>
        <p:spPr>
          <a:xfrm>
            <a:off x="1689100" y="4406900"/>
            <a:ext cx="19170650" cy="7823200"/>
          </a:xfrm>
        </p:spPr>
        <p:txBody>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p:cNvSpPr>
            <a:spLocks noGrp="1"/>
          </p:cNvSpPr>
          <p:nvPr>
            <p:ph type="dt" sz="half" idx="10"/>
          </p:nvPr>
        </p:nvSpPr>
        <p:spPr/>
        <p:txBody>
          <a:bodyPr/>
          <a:lstStyle/>
          <a:p>
            <a:fld id="{EE41137B-F694-7B4C-8D60-520B530DFBC4}" type="datetimeFigureOut">
              <a:rPr lang="pt-BR" smtClean="0"/>
              <a:t>18/08/2026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a:xfrm>
            <a:off x="11886690" y="13081000"/>
            <a:ext cx="597921" cy="471924"/>
          </a:xfrm>
        </p:spPr>
        <p:txBody>
          <a:bodyPr/>
          <a:lstStyle/>
          <a:p>
            <a:fld id="{85C2E139-75F7-E84C-B376-8E7902EEBDCD}" type="slidenum">
              <a:rPr lang="pt-BR" smtClean="0"/>
              <a:t>‹nº›</a:t>
            </a:fld>
            <a:endParaRPr lang="pt-BR"/>
          </a:p>
        </p:txBody>
      </p:sp>
    </p:spTree>
    <p:extLst>
      <p:ext uri="{BB962C8B-B14F-4D97-AF65-F5344CB8AC3E}">
        <p14:creationId xmlns:p14="http://schemas.microsoft.com/office/powerpoint/2010/main" val="3323329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89100" y="355600"/>
            <a:ext cx="21005800" cy="228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tabLst/>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tabLst/>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www.docker.com/products/docker-desktop"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ww.pulumi.com/docs/install" TargetMode="Externa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descr="Interface gráfica do usuário, Texto, Aplicativo&#10;&#10;Descrição gerada automaticamente">
            <a:extLst>
              <a:ext uri="{FF2B5EF4-FFF2-40B4-BE49-F238E27FC236}">
                <a16:creationId xmlns:a16="http://schemas.microsoft.com/office/drawing/2014/main" id="{5A8A4EE0-71B7-4C3A-9B31-B940838B0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24383999" cy="13716000"/>
          </a:xfrm>
          <a:prstGeom prst="rect">
            <a:avLst/>
          </a:prstGeom>
        </p:spPr>
      </p:pic>
      <p:sp>
        <p:nvSpPr>
          <p:cNvPr id="120" name="Title"/>
          <p:cNvSpPr txBox="1">
            <a:spLocks noGrp="1"/>
          </p:cNvSpPr>
          <p:nvPr>
            <p:ph type="ctrTitle"/>
          </p:nvPr>
        </p:nvSpPr>
        <p:spPr>
          <a:xfrm>
            <a:off x="1692939" y="4614632"/>
            <a:ext cx="19029265" cy="1587500"/>
          </a:xfrm>
          <a:prstGeom prst="rect">
            <a:avLst/>
          </a:prstGeom>
        </p:spPr>
        <p:txBody>
          <a:bodyPr>
            <a:noAutofit/>
          </a:bodyPr>
          <a:lstStyle/>
          <a:p>
            <a:r>
              <a:rPr lang="pt-BR" sz="6600" b="1" i="1" dirty="0">
                <a:solidFill>
                  <a:srgbClr val="0070C0"/>
                </a:solidFill>
              </a:rPr>
              <a:t>MLOps &amp; CI/CD</a:t>
            </a:r>
          </a:p>
        </p:txBody>
      </p:sp>
      <p:sp>
        <p:nvSpPr>
          <p:cNvPr id="121" name="Body"/>
          <p:cNvSpPr txBox="1">
            <a:spLocks noGrp="1"/>
          </p:cNvSpPr>
          <p:nvPr>
            <p:ph type="subTitle" sz="quarter" idx="1"/>
          </p:nvPr>
        </p:nvSpPr>
        <p:spPr>
          <a:xfrm>
            <a:off x="1692939" y="7102707"/>
            <a:ext cx="19029265" cy="1587500"/>
          </a:xfrm>
          <a:prstGeom prst="rect">
            <a:avLst/>
          </a:prstGeom>
        </p:spPr>
        <p:txBody>
          <a:bodyPr>
            <a:normAutofit fontScale="85000" lnSpcReduction="10000"/>
          </a:bodyPr>
          <a:lstStyle/>
          <a:p>
            <a:pPr algn="l"/>
            <a:r>
              <a:rPr lang="pt-BR" sz="4400" dirty="0"/>
              <a:t>Disciplina/Tema:  Aula 3 — Infraestrutura como Código: Pulumi (Python) x Terraform</a:t>
            </a:r>
          </a:p>
          <a:p>
            <a:pPr algn="l"/>
            <a:r>
              <a:rPr lang="pt-BR" sz="4400" dirty="0"/>
              <a:t>Professor(a):  André Luiz Braga</a:t>
            </a:r>
          </a:p>
          <a:p>
            <a:pPr algn="l"/>
            <a:r>
              <a:rPr sz="3000" i="1">
                <a:solidFill>
                  <a:srgbClr val="595959"/>
                </a:solidFill>
                <a:latin typeface="Calibri"/>
              </a:rPr>
              <a:t>MBA em BI &amp; Data Science  •  Carga horária da aula: 5h</a:t>
            </a:r>
          </a:p>
        </p:txBody>
      </p:sp>
      <p:sp>
        <p:nvSpPr>
          <p:cNvPr id="122" name="TextBox 121"/>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sz="4000" b="1">
                <a:solidFill>
                  <a:srgbClr val="0070C0"/>
                </a:solidFill>
                <a:latin typeface="Calibri"/>
              </a:rPr>
              <a:t>Agenda de Hoje</a:t>
            </a:r>
            <a:endParaRPr lang="pt-BR" dirty="0"/>
          </a:p>
        </p:txBody>
      </p:sp>
      <p:sp>
        <p:nvSpPr>
          <p:cNvPr id="3" name="Espaço Reservado para Conteúdo 2"/>
          <p:cNvSpPr>
            <a:spLocks noGrp="1"/>
          </p:cNvSpPr>
          <p:nvPr>
            <p:ph idx="1"/>
          </p:nvPr>
        </p:nvSpPr>
        <p:spPr/>
        <p:txBody>
          <a:bodyPr wrap="square" anchor="t"/>
          <a:lstStyle/>
          <a:p>
            <a:pPr algn="l">
              <a:spcBef>
                <a:spcPts val="0"/>
              </a:spcBef>
              <a:spcAft>
                <a:spcPts val="1500"/>
              </a:spcAft>
            </a:pPr>
            <a:r>
              <a:rPr sz="2300" dirty="0" err="1">
                <a:solidFill>
                  <a:srgbClr val="262626"/>
                </a:solidFill>
                <a:latin typeface="Calibri"/>
              </a:rPr>
              <a:t>Retomada</a:t>
            </a:r>
            <a:r>
              <a:rPr sz="2300" dirty="0">
                <a:solidFill>
                  <a:srgbClr val="262626"/>
                </a:solidFill>
                <a:latin typeface="Calibri"/>
              </a:rPr>
              <a:t>: 4 </a:t>
            </a:r>
            <a:r>
              <a:rPr sz="2300" dirty="0" err="1">
                <a:solidFill>
                  <a:srgbClr val="262626"/>
                </a:solidFill>
                <a:latin typeface="Calibri"/>
              </a:rPr>
              <a:t>pendências</a:t>
            </a:r>
            <a:r>
              <a:rPr sz="2300" dirty="0">
                <a:solidFill>
                  <a:srgbClr val="262626"/>
                </a:solidFill>
                <a:latin typeface="Calibri"/>
              </a:rPr>
              <a:t> das Aulas 01 e 02 (Docker, dados </a:t>
            </a:r>
            <a:r>
              <a:rPr sz="2300" dirty="0" err="1">
                <a:solidFill>
                  <a:srgbClr val="262626"/>
                </a:solidFill>
                <a:latin typeface="Calibri"/>
              </a:rPr>
              <a:t>sintéticos</a:t>
            </a:r>
            <a:r>
              <a:rPr sz="2300" dirty="0">
                <a:solidFill>
                  <a:srgbClr val="262626"/>
                </a:solidFill>
                <a:latin typeface="Calibri"/>
              </a:rPr>
              <a:t>, Terraform x Azure, </a:t>
            </a:r>
            <a:r>
              <a:rPr sz="2300" dirty="0" err="1">
                <a:solidFill>
                  <a:srgbClr val="262626"/>
                </a:solidFill>
                <a:latin typeface="Calibri"/>
              </a:rPr>
              <a:t>diretórios</a:t>
            </a:r>
            <a:r>
              <a:rPr sz="2300" dirty="0">
                <a:solidFill>
                  <a:srgbClr val="262626"/>
                </a:solidFill>
                <a:latin typeface="Calibri"/>
              </a:rPr>
              <a:t>)</a:t>
            </a:r>
            <a:endParaRPr lang="pt-BR" dirty="0"/>
          </a:p>
          <a:p>
            <a:pPr algn="l">
              <a:spcBef>
                <a:spcPts val="0"/>
              </a:spcBef>
              <a:spcAft>
                <a:spcPts val="1500"/>
              </a:spcAft>
            </a:pPr>
            <a:r>
              <a:rPr sz="2300" dirty="0" err="1">
                <a:solidFill>
                  <a:srgbClr val="262626"/>
                </a:solidFill>
                <a:latin typeface="Calibri"/>
              </a:rPr>
              <a:t>Pulumi</a:t>
            </a:r>
            <a:r>
              <a:rPr sz="2300" dirty="0">
                <a:solidFill>
                  <a:srgbClr val="262626"/>
                </a:solidFill>
                <a:latin typeface="Calibri"/>
              </a:rPr>
              <a:t>: </a:t>
            </a:r>
            <a:r>
              <a:rPr sz="2300" dirty="0" err="1">
                <a:solidFill>
                  <a:srgbClr val="262626"/>
                </a:solidFill>
                <a:latin typeface="Calibri"/>
              </a:rPr>
              <a:t>fundamentos</a:t>
            </a:r>
            <a:r>
              <a:rPr sz="2300" dirty="0">
                <a:solidFill>
                  <a:srgbClr val="262626"/>
                </a:solidFill>
                <a:latin typeface="Calibri"/>
              </a:rPr>
              <a:t> e </a:t>
            </a:r>
            <a:r>
              <a:rPr sz="2300" dirty="0" err="1">
                <a:solidFill>
                  <a:srgbClr val="262626"/>
                </a:solidFill>
                <a:latin typeface="Calibri"/>
              </a:rPr>
              <a:t>comparação</a:t>
            </a:r>
            <a:r>
              <a:rPr sz="2300" dirty="0">
                <a:solidFill>
                  <a:srgbClr val="262626"/>
                </a:solidFill>
                <a:latin typeface="Calibri"/>
              </a:rPr>
              <a:t> </a:t>
            </a:r>
            <a:r>
              <a:rPr sz="2300" dirty="0" err="1">
                <a:solidFill>
                  <a:srgbClr val="262626"/>
                </a:solidFill>
                <a:latin typeface="Calibri"/>
              </a:rPr>
              <a:t>conceitual</a:t>
            </a:r>
            <a:r>
              <a:rPr sz="2300" dirty="0">
                <a:solidFill>
                  <a:srgbClr val="262626"/>
                </a:solidFill>
                <a:latin typeface="Calibri"/>
              </a:rPr>
              <a:t>, </a:t>
            </a:r>
            <a:r>
              <a:rPr sz="2300" dirty="0" err="1">
                <a:solidFill>
                  <a:srgbClr val="262626"/>
                </a:solidFill>
                <a:latin typeface="Calibri"/>
              </a:rPr>
              <a:t>lado</a:t>
            </a:r>
            <a:r>
              <a:rPr sz="2300" dirty="0">
                <a:solidFill>
                  <a:srgbClr val="262626"/>
                </a:solidFill>
                <a:latin typeface="Calibri"/>
              </a:rPr>
              <a:t> a </a:t>
            </a:r>
            <a:r>
              <a:rPr sz="2300" dirty="0" err="1">
                <a:solidFill>
                  <a:srgbClr val="262626"/>
                </a:solidFill>
                <a:latin typeface="Calibri"/>
              </a:rPr>
              <a:t>lado</a:t>
            </a:r>
            <a:r>
              <a:rPr sz="2300" dirty="0">
                <a:solidFill>
                  <a:srgbClr val="262626"/>
                </a:solidFill>
                <a:latin typeface="Calibri"/>
              </a:rPr>
              <a:t>, com o Terraform</a:t>
            </a:r>
          </a:p>
          <a:p>
            <a:pPr algn="l">
              <a:spcBef>
                <a:spcPts val="0"/>
              </a:spcBef>
              <a:spcAft>
                <a:spcPts val="1500"/>
              </a:spcAft>
            </a:pPr>
            <a:r>
              <a:rPr sz="2300" dirty="0" err="1">
                <a:solidFill>
                  <a:srgbClr val="262626"/>
                </a:solidFill>
                <a:latin typeface="Calibri"/>
              </a:rPr>
              <a:t>Instalação</a:t>
            </a:r>
            <a:r>
              <a:rPr sz="2300" dirty="0">
                <a:solidFill>
                  <a:srgbClr val="262626"/>
                </a:solidFill>
                <a:latin typeface="Calibri"/>
              </a:rPr>
              <a:t> do </a:t>
            </a:r>
            <a:r>
              <a:rPr sz="2300" dirty="0" err="1">
                <a:solidFill>
                  <a:srgbClr val="262626"/>
                </a:solidFill>
                <a:latin typeface="Calibri"/>
              </a:rPr>
              <a:t>Pulumi</a:t>
            </a:r>
            <a:r>
              <a:rPr sz="2300" dirty="0">
                <a:solidFill>
                  <a:srgbClr val="262626"/>
                </a:solidFill>
                <a:latin typeface="Calibri"/>
              </a:rPr>
              <a:t> CLI e </a:t>
            </a:r>
            <a:r>
              <a:rPr sz="2300" dirty="0" err="1">
                <a:solidFill>
                  <a:srgbClr val="262626"/>
                </a:solidFill>
                <a:latin typeface="Calibri"/>
              </a:rPr>
              <a:t>criação</a:t>
            </a:r>
            <a:r>
              <a:rPr sz="2300" dirty="0">
                <a:solidFill>
                  <a:srgbClr val="262626"/>
                </a:solidFill>
                <a:latin typeface="Calibri"/>
              </a:rPr>
              <a:t> do </a:t>
            </a:r>
            <a:r>
              <a:rPr sz="2300" dirty="0" err="1">
                <a:solidFill>
                  <a:srgbClr val="262626"/>
                </a:solidFill>
                <a:latin typeface="Calibri"/>
              </a:rPr>
              <a:t>primeiro</a:t>
            </a:r>
            <a:r>
              <a:rPr sz="2300" dirty="0">
                <a:solidFill>
                  <a:srgbClr val="262626"/>
                </a:solidFill>
                <a:latin typeface="Calibri"/>
              </a:rPr>
              <a:t> </a:t>
            </a:r>
            <a:r>
              <a:rPr sz="2300" dirty="0" err="1">
                <a:solidFill>
                  <a:srgbClr val="262626"/>
                </a:solidFill>
                <a:latin typeface="Calibri"/>
              </a:rPr>
              <a:t>projeto</a:t>
            </a:r>
            <a:endParaRPr sz="2300" dirty="0">
              <a:solidFill>
                <a:srgbClr val="262626"/>
              </a:solidFill>
              <a:latin typeface="Calibri"/>
            </a:endParaRPr>
          </a:p>
          <a:p>
            <a:pPr algn="l">
              <a:spcBef>
                <a:spcPts val="0"/>
              </a:spcBef>
              <a:spcAft>
                <a:spcPts val="1500"/>
              </a:spcAft>
            </a:pPr>
            <a:r>
              <a:rPr sz="2300" dirty="0">
                <a:solidFill>
                  <a:srgbClr val="262626"/>
                </a:solidFill>
                <a:latin typeface="Calibri"/>
              </a:rPr>
              <a:t>5 </a:t>
            </a:r>
            <a:r>
              <a:rPr sz="2300" dirty="0" err="1">
                <a:solidFill>
                  <a:srgbClr val="262626"/>
                </a:solidFill>
                <a:latin typeface="Calibri"/>
              </a:rPr>
              <a:t>exemplos</a:t>
            </a:r>
            <a:r>
              <a:rPr sz="2300" dirty="0">
                <a:solidFill>
                  <a:srgbClr val="262626"/>
                </a:solidFill>
                <a:latin typeface="Calibri"/>
              </a:rPr>
              <a:t> </a:t>
            </a:r>
            <a:r>
              <a:rPr sz="2300" dirty="0" err="1">
                <a:solidFill>
                  <a:srgbClr val="262626"/>
                </a:solidFill>
                <a:latin typeface="Calibri"/>
              </a:rPr>
              <a:t>práticos</a:t>
            </a:r>
            <a:r>
              <a:rPr sz="2300" dirty="0">
                <a:solidFill>
                  <a:srgbClr val="262626"/>
                </a:solidFill>
                <a:latin typeface="Calibri"/>
              </a:rPr>
              <a:t>: </a:t>
            </a:r>
            <a:r>
              <a:rPr sz="2300" dirty="0" err="1">
                <a:solidFill>
                  <a:srgbClr val="262626"/>
                </a:solidFill>
                <a:latin typeface="Calibri"/>
              </a:rPr>
              <a:t>cada</a:t>
            </a:r>
            <a:r>
              <a:rPr sz="2300" dirty="0">
                <a:solidFill>
                  <a:srgbClr val="262626"/>
                </a:solidFill>
                <a:latin typeface="Calibri"/>
              </a:rPr>
              <a:t> script Terraform da Aula 02, </a:t>
            </a:r>
            <a:r>
              <a:rPr sz="2300" dirty="0" err="1">
                <a:solidFill>
                  <a:srgbClr val="262626"/>
                </a:solidFill>
                <a:latin typeface="Calibri"/>
              </a:rPr>
              <a:t>reescrito</a:t>
            </a:r>
            <a:r>
              <a:rPr sz="2300" dirty="0">
                <a:solidFill>
                  <a:srgbClr val="262626"/>
                </a:solidFill>
                <a:latin typeface="Calibri"/>
              </a:rPr>
              <a:t> </a:t>
            </a:r>
            <a:r>
              <a:rPr sz="2300" dirty="0" err="1">
                <a:solidFill>
                  <a:srgbClr val="262626"/>
                </a:solidFill>
                <a:latin typeface="Calibri"/>
              </a:rPr>
              <a:t>em</a:t>
            </a:r>
            <a:r>
              <a:rPr sz="2300" dirty="0">
                <a:solidFill>
                  <a:srgbClr val="262626"/>
                </a:solidFill>
                <a:latin typeface="Calibri"/>
              </a:rPr>
              <a:t> </a:t>
            </a:r>
            <a:r>
              <a:rPr sz="2300" dirty="0" err="1">
                <a:solidFill>
                  <a:srgbClr val="262626"/>
                </a:solidFill>
                <a:latin typeface="Calibri"/>
              </a:rPr>
              <a:t>Pulumi</a:t>
            </a:r>
            <a:endParaRPr sz="2300" dirty="0">
              <a:solidFill>
                <a:srgbClr val="262626"/>
              </a:solidFill>
              <a:latin typeface="Calibri"/>
            </a:endParaRPr>
          </a:p>
          <a:p>
            <a:pPr algn="l">
              <a:spcBef>
                <a:spcPts val="0"/>
              </a:spcBef>
              <a:spcAft>
                <a:spcPts val="1500"/>
              </a:spcAft>
            </a:pPr>
            <a:r>
              <a:rPr sz="2300" dirty="0" err="1">
                <a:solidFill>
                  <a:srgbClr val="262626"/>
                </a:solidFill>
                <a:latin typeface="Calibri"/>
              </a:rPr>
              <a:t>Arquitetura</a:t>
            </a:r>
            <a:r>
              <a:rPr sz="2300" dirty="0">
                <a:solidFill>
                  <a:srgbClr val="262626"/>
                </a:solidFill>
                <a:latin typeface="Calibri"/>
              </a:rPr>
              <a:t> interna do </a:t>
            </a:r>
            <a:r>
              <a:rPr sz="2300" dirty="0" err="1">
                <a:solidFill>
                  <a:srgbClr val="262626"/>
                </a:solidFill>
                <a:latin typeface="Calibri"/>
              </a:rPr>
              <a:t>Pulumi</a:t>
            </a:r>
            <a:r>
              <a:rPr sz="2300" dirty="0">
                <a:solidFill>
                  <a:srgbClr val="262626"/>
                </a:solidFill>
                <a:latin typeface="Calibri"/>
              </a:rPr>
              <a:t> e </a:t>
            </a:r>
            <a:r>
              <a:rPr sz="2300" dirty="0" err="1">
                <a:solidFill>
                  <a:srgbClr val="262626"/>
                </a:solidFill>
                <a:latin typeface="Calibri"/>
              </a:rPr>
              <a:t>mindmap</a:t>
            </a:r>
            <a:r>
              <a:rPr sz="2300" dirty="0">
                <a:solidFill>
                  <a:srgbClr val="262626"/>
                </a:solidFill>
                <a:latin typeface="Calibri"/>
              </a:rPr>
              <a:t> de </a:t>
            </a:r>
            <a:r>
              <a:rPr sz="2300" dirty="0" err="1">
                <a:solidFill>
                  <a:srgbClr val="262626"/>
                </a:solidFill>
                <a:latin typeface="Calibri"/>
              </a:rPr>
              <a:t>comandos</a:t>
            </a:r>
            <a:r>
              <a:rPr sz="2300" dirty="0">
                <a:solidFill>
                  <a:srgbClr val="262626"/>
                </a:solidFill>
                <a:latin typeface="Calibri"/>
              </a:rPr>
              <a:t>/</a:t>
            </a:r>
            <a:r>
              <a:rPr sz="2300" dirty="0" err="1">
                <a:solidFill>
                  <a:srgbClr val="262626"/>
                </a:solidFill>
                <a:latin typeface="Calibri"/>
              </a:rPr>
              <a:t>conceitos</a:t>
            </a:r>
            <a:endParaRPr sz="2300" dirty="0">
              <a:solidFill>
                <a:srgbClr val="262626"/>
              </a:solidFill>
              <a:latin typeface="Calibri"/>
            </a:endParaRPr>
          </a:p>
          <a:p>
            <a:pPr algn="l">
              <a:spcBef>
                <a:spcPts val="0"/>
              </a:spcBef>
              <a:spcAft>
                <a:spcPts val="1500"/>
              </a:spcAft>
            </a:pPr>
            <a:r>
              <a:rPr sz="2300" dirty="0">
                <a:solidFill>
                  <a:srgbClr val="262626"/>
                </a:solidFill>
                <a:latin typeface="Calibri"/>
              </a:rPr>
              <a:t>Terraform x </a:t>
            </a:r>
            <a:r>
              <a:rPr sz="2300" dirty="0" err="1">
                <a:solidFill>
                  <a:srgbClr val="262626"/>
                </a:solidFill>
                <a:latin typeface="Calibri"/>
              </a:rPr>
              <a:t>Pulumi</a:t>
            </a:r>
            <a:r>
              <a:rPr sz="2300" dirty="0">
                <a:solidFill>
                  <a:srgbClr val="262626"/>
                </a:solidFill>
                <a:latin typeface="Calibri"/>
              </a:rPr>
              <a:t>: </a:t>
            </a:r>
            <a:r>
              <a:rPr sz="2300" dirty="0" err="1">
                <a:solidFill>
                  <a:srgbClr val="262626"/>
                </a:solidFill>
                <a:latin typeface="Calibri"/>
              </a:rPr>
              <a:t>prós</a:t>
            </a:r>
            <a:r>
              <a:rPr sz="2300" dirty="0">
                <a:solidFill>
                  <a:srgbClr val="262626"/>
                </a:solidFill>
                <a:latin typeface="Calibri"/>
              </a:rPr>
              <a:t>, contras e </a:t>
            </a:r>
            <a:r>
              <a:rPr sz="2300" dirty="0" err="1">
                <a:solidFill>
                  <a:srgbClr val="262626"/>
                </a:solidFill>
                <a:latin typeface="Calibri"/>
              </a:rPr>
              <a:t>quando</a:t>
            </a:r>
            <a:r>
              <a:rPr sz="2300" dirty="0">
                <a:solidFill>
                  <a:srgbClr val="262626"/>
                </a:solidFill>
                <a:latin typeface="Calibri"/>
              </a:rPr>
              <a:t> usar </a:t>
            </a:r>
            <a:r>
              <a:rPr sz="2300" dirty="0" err="1">
                <a:solidFill>
                  <a:srgbClr val="262626"/>
                </a:solidFill>
                <a:latin typeface="Calibri"/>
              </a:rPr>
              <a:t>cada</a:t>
            </a:r>
            <a:r>
              <a:rPr sz="2300" dirty="0">
                <a:solidFill>
                  <a:srgbClr val="262626"/>
                </a:solidFill>
                <a:latin typeface="Calibri"/>
              </a:rPr>
              <a:t> um</a:t>
            </a:r>
          </a:p>
          <a:p>
            <a:pPr algn="l">
              <a:spcBef>
                <a:spcPts val="0"/>
              </a:spcBef>
              <a:spcAft>
                <a:spcPts val="1500"/>
              </a:spcAft>
            </a:pPr>
            <a:r>
              <a:rPr sz="2300" dirty="0" err="1">
                <a:solidFill>
                  <a:srgbClr val="262626"/>
                </a:solidFill>
                <a:latin typeface="Calibri"/>
              </a:rPr>
              <a:t>Critérios</a:t>
            </a:r>
            <a:r>
              <a:rPr sz="2300" dirty="0">
                <a:solidFill>
                  <a:srgbClr val="262626"/>
                </a:solidFill>
                <a:latin typeface="Calibri"/>
              </a:rPr>
              <a:t> </a:t>
            </a:r>
            <a:r>
              <a:rPr sz="2300" dirty="0" err="1">
                <a:solidFill>
                  <a:srgbClr val="262626"/>
                </a:solidFill>
                <a:latin typeface="Calibri"/>
              </a:rPr>
              <a:t>completos</a:t>
            </a:r>
            <a:r>
              <a:rPr sz="2300" dirty="0">
                <a:solidFill>
                  <a:srgbClr val="262626"/>
                </a:solidFill>
                <a:latin typeface="Calibri"/>
              </a:rPr>
              <a:t> de </a:t>
            </a:r>
            <a:r>
              <a:rPr sz="2300" dirty="0" err="1">
                <a:solidFill>
                  <a:srgbClr val="262626"/>
                </a:solidFill>
                <a:latin typeface="Calibri"/>
              </a:rPr>
              <a:t>avaliação</a:t>
            </a:r>
            <a:r>
              <a:rPr sz="2300" dirty="0">
                <a:solidFill>
                  <a:srgbClr val="262626"/>
                </a:solidFill>
                <a:latin typeface="Calibri"/>
              </a:rPr>
              <a:t> — as 8 </a:t>
            </a:r>
            <a:r>
              <a:rPr sz="2300" dirty="0" err="1">
                <a:solidFill>
                  <a:srgbClr val="262626"/>
                </a:solidFill>
                <a:latin typeface="Calibri"/>
              </a:rPr>
              <a:t>entregas</a:t>
            </a:r>
            <a:r>
              <a:rPr sz="2300" dirty="0">
                <a:solidFill>
                  <a:srgbClr val="262626"/>
                </a:solidFill>
                <a:latin typeface="Calibri"/>
              </a:rPr>
              <a:t> do </a:t>
            </a:r>
            <a:r>
              <a:rPr sz="2300" dirty="0" err="1">
                <a:solidFill>
                  <a:srgbClr val="262626"/>
                </a:solidFill>
                <a:latin typeface="Calibri"/>
              </a:rPr>
              <a:t>curso</a:t>
            </a:r>
            <a:endParaRPr sz="2300" dirty="0">
              <a:solidFill>
                <a:srgbClr val="262626"/>
              </a:solidFill>
              <a:latin typeface="Calibri"/>
            </a:endParaRP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a:t>
            </a:r>
          </a:p>
        </p:txBody>
      </p:sp>
    </p:spTree>
    <p:extLst>
      <p:ext uri="{BB962C8B-B14F-4D97-AF65-F5344CB8AC3E}">
        <p14:creationId xmlns:p14="http://schemas.microsoft.com/office/powerpoint/2010/main" val="2110453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Objetivos de Aprendizagem</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Fechar as pendências práticas:  </a:t>
            </a:r>
            <a:r>
              <a:rPr sz="2800">
                <a:solidFill>
                  <a:srgbClr val="262626"/>
                </a:solidFill>
                <a:latin typeface="Calibri"/>
              </a:rPr>
              <a:t>das Aulas 01 e 02, com evidências prontas para as entregas.</a:t>
            </a:r>
          </a:p>
          <a:p>
            <a:pPr algn="l">
              <a:spcBef>
                <a:spcPts val="0"/>
              </a:spcBef>
              <a:spcAft>
                <a:spcPts val="2000"/>
              </a:spcAft>
            </a:pPr>
            <a:r>
              <a:rPr sz="2800" b="1">
                <a:solidFill>
                  <a:srgbClr val="004A8F"/>
                </a:solidFill>
                <a:latin typeface="Calibri"/>
              </a:rPr>
              <a:t>Compreender o Pulumi:  </a:t>
            </a:r>
            <a:r>
              <a:rPr sz="2800">
                <a:solidFill>
                  <a:srgbClr val="262626"/>
                </a:solidFill>
                <a:latin typeface="Calibri"/>
              </a:rPr>
              <a:t>como uma alternativa de IaC que usa linguagens de programação reais — hoje, Python.</a:t>
            </a:r>
          </a:p>
          <a:p>
            <a:pPr algn="l">
              <a:spcBef>
                <a:spcPts val="0"/>
              </a:spcBef>
              <a:spcAft>
                <a:spcPts val="2000"/>
              </a:spcAft>
            </a:pPr>
            <a:r>
              <a:rPr sz="2800" b="1">
                <a:solidFill>
                  <a:srgbClr val="004A8F"/>
                </a:solidFill>
                <a:latin typeface="Calibri"/>
              </a:rPr>
              <a:t>Comparar, na prática:  </a:t>
            </a:r>
            <a:r>
              <a:rPr sz="2800">
                <a:solidFill>
                  <a:srgbClr val="262626"/>
                </a:solidFill>
                <a:latin typeface="Calibri"/>
              </a:rPr>
              <a:t>os mesmos 5 exemplos em Terraform (HCL) e em Pulumi (Python), lado a lado.</a:t>
            </a:r>
          </a:p>
          <a:p>
            <a:pPr algn="l">
              <a:spcBef>
                <a:spcPts val="0"/>
              </a:spcBef>
              <a:spcAft>
                <a:spcPts val="2000"/>
              </a:spcAft>
            </a:pPr>
            <a:r>
              <a:rPr sz="2800" b="1">
                <a:solidFill>
                  <a:srgbClr val="004A8F"/>
                </a:solidFill>
                <a:latin typeface="Calibri"/>
              </a:rPr>
              <a:t>Decidir com critério:  </a:t>
            </a:r>
            <a:r>
              <a:rPr sz="2800">
                <a:solidFill>
                  <a:srgbClr val="262626"/>
                </a:solidFill>
                <a:latin typeface="Calibri"/>
              </a:rPr>
              <a:t>quando faz mais sentido usar Terraform e quando faz mais sentido usar Pulumi.</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Pendências das Aulas 01 e 02</a:t>
            </a:r>
          </a:p>
        </p:txBody>
      </p:sp>
      <p:sp>
        <p:nvSpPr>
          <p:cNvPr id="3" name="Content Placeholder 2"/>
          <p:cNvSpPr>
            <a:spLocks noGrp="1"/>
          </p:cNvSpPr>
          <p:nvPr>
            <p:ph idx="1"/>
          </p:nvPr>
        </p:nvSpPr>
        <p:spPr>
          <a:xfrm flipH="1">
            <a:off x="2728685" y="8072514"/>
            <a:ext cx="16212457" cy="2000000"/>
          </a:xfrm>
        </p:spPr>
        <p:txBody>
          <a:bodyPr wrap="square" anchor="t"/>
          <a:lstStyle/>
          <a:p>
            <a:pPr algn="l">
              <a:spcBef>
                <a:spcPts val="0"/>
              </a:spcBef>
              <a:spcAft>
                <a:spcPts val="1200"/>
              </a:spcAft>
              <a:buNone/>
            </a:pPr>
            <a:r>
              <a:rPr sz="2600" dirty="0">
                <a:solidFill>
                  <a:srgbClr val="595959"/>
                </a:solidFill>
                <a:latin typeface="Calibri"/>
              </a:rPr>
              <a:t>Quatro </a:t>
            </a:r>
            <a:r>
              <a:rPr sz="2600" dirty="0" err="1">
                <a:solidFill>
                  <a:srgbClr val="595959"/>
                </a:solidFill>
                <a:latin typeface="Calibri"/>
              </a:rPr>
              <a:t>pontos</a:t>
            </a:r>
            <a:r>
              <a:rPr sz="2600" dirty="0">
                <a:solidFill>
                  <a:srgbClr val="595959"/>
                </a:solidFill>
                <a:latin typeface="Calibri"/>
              </a:rPr>
              <a:t> </a:t>
            </a:r>
            <a:r>
              <a:rPr sz="2600" dirty="0" err="1">
                <a:solidFill>
                  <a:srgbClr val="595959"/>
                </a:solidFill>
                <a:latin typeface="Calibri"/>
              </a:rPr>
              <a:t>que</a:t>
            </a:r>
            <a:r>
              <a:rPr sz="2600" dirty="0">
                <a:solidFill>
                  <a:srgbClr val="595959"/>
                </a:solidFill>
                <a:latin typeface="Calibri"/>
              </a:rPr>
              <a:t> </a:t>
            </a:r>
            <a:r>
              <a:rPr sz="2600" dirty="0" err="1">
                <a:solidFill>
                  <a:srgbClr val="595959"/>
                </a:solidFill>
                <a:latin typeface="Calibri"/>
              </a:rPr>
              <a:t>ficaram</a:t>
            </a:r>
            <a:r>
              <a:rPr sz="2600" dirty="0">
                <a:solidFill>
                  <a:srgbClr val="595959"/>
                </a:solidFill>
                <a:latin typeface="Calibri"/>
              </a:rPr>
              <a:t> de fora — </a:t>
            </a:r>
            <a:r>
              <a:rPr sz="2600" dirty="0" err="1">
                <a:solidFill>
                  <a:srgbClr val="595959"/>
                </a:solidFill>
                <a:latin typeface="Calibri"/>
              </a:rPr>
              <a:t>vamos</a:t>
            </a:r>
            <a:r>
              <a:rPr sz="2600" dirty="0">
                <a:solidFill>
                  <a:srgbClr val="595959"/>
                </a:solidFill>
                <a:latin typeface="Calibri"/>
              </a:rPr>
              <a:t> </a:t>
            </a:r>
            <a:r>
              <a:rPr sz="2600" dirty="0" err="1">
                <a:solidFill>
                  <a:srgbClr val="595959"/>
                </a:solidFill>
                <a:latin typeface="Calibri"/>
              </a:rPr>
              <a:t>executar</a:t>
            </a:r>
            <a:r>
              <a:rPr sz="2600" dirty="0">
                <a:solidFill>
                  <a:srgbClr val="595959"/>
                </a:solidFill>
                <a:latin typeface="Calibri"/>
              </a:rPr>
              <a:t> </a:t>
            </a:r>
            <a:r>
              <a:rPr sz="2600" dirty="0" err="1">
                <a:solidFill>
                  <a:srgbClr val="595959"/>
                </a:solidFill>
                <a:latin typeface="Calibri"/>
              </a:rPr>
              <a:t>cada</a:t>
            </a:r>
            <a:r>
              <a:rPr sz="2600" dirty="0">
                <a:solidFill>
                  <a:srgbClr val="595959"/>
                </a:solidFill>
                <a:latin typeface="Calibri"/>
              </a:rPr>
              <a:t> um agora, com </a:t>
            </a:r>
            <a:r>
              <a:rPr sz="2600" dirty="0" err="1">
                <a:solidFill>
                  <a:srgbClr val="595959"/>
                </a:solidFill>
                <a:latin typeface="Calibri"/>
              </a:rPr>
              <a:t>calma</a:t>
            </a:r>
            <a:r>
              <a:rPr sz="2600" dirty="0">
                <a:solidFill>
                  <a:srgbClr val="595959"/>
                </a:solidFill>
                <a:latin typeface="Calibri"/>
              </a:rPr>
              <a:t>, </a:t>
            </a:r>
            <a:r>
              <a:rPr sz="2600" dirty="0" err="1">
                <a:solidFill>
                  <a:srgbClr val="595959"/>
                </a:solidFill>
                <a:latin typeface="Calibri"/>
              </a:rPr>
              <a:t>porque</a:t>
            </a:r>
            <a:r>
              <a:rPr sz="2600" dirty="0">
                <a:solidFill>
                  <a:srgbClr val="595959"/>
                </a:solidFill>
                <a:latin typeface="Calibri"/>
              </a:rPr>
              <a:t> o </a:t>
            </a:r>
            <a:r>
              <a:rPr sz="2600" dirty="0" err="1">
                <a:solidFill>
                  <a:srgbClr val="595959"/>
                </a:solidFill>
                <a:latin typeface="Calibri"/>
              </a:rPr>
              <a:t>Pulumi</a:t>
            </a:r>
            <a:r>
              <a:rPr sz="2600" dirty="0">
                <a:solidFill>
                  <a:srgbClr val="595959"/>
                </a:solidFill>
                <a:latin typeface="Calibri"/>
              </a:rPr>
              <a:t> de </a:t>
            </a:r>
            <a:r>
              <a:rPr sz="2600" dirty="0" err="1">
                <a:solidFill>
                  <a:srgbClr val="595959"/>
                </a:solidFill>
                <a:latin typeface="Calibri"/>
              </a:rPr>
              <a:t>hoje</a:t>
            </a:r>
            <a:r>
              <a:rPr sz="2600" dirty="0">
                <a:solidFill>
                  <a:srgbClr val="595959"/>
                </a:solidFill>
                <a:latin typeface="Calibri"/>
              </a:rPr>
              <a:t> </a:t>
            </a:r>
            <a:r>
              <a:rPr sz="2600" dirty="0" err="1">
                <a:solidFill>
                  <a:srgbClr val="595959"/>
                </a:solidFill>
                <a:latin typeface="Calibri"/>
              </a:rPr>
              <a:t>depende</a:t>
            </a:r>
            <a:r>
              <a:rPr sz="2600" dirty="0">
                <a:solidFill>
                  <a:srgbClr val="595959"/>
                </a:solidFill>
                <a:latin typeface="Calibri"/>
              </a:rPr>
              <a:t> deles.</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RETOMADA</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Por Que Fechar Isso Antes de Começar o Pulumi</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Docker Desktop:  </a:t>
            </a:r>
            <a:r>
              <a:rPr sz="2800">
                <a:solidFill>
                  <a:srgbClr val="262626"/>
                </a:solidFill>
                <a:latin typeface="Calibri"/>
              </a:rPr>
              <a:t>vai ser usado hoje no exemplo de container em Pulumi, e já é pré-requisito da Aula 04 (Airflow) e da Aula 05 (Kubeflow).</a:t>
            </a:r>
          </a:p>
          <a:p>
            <a:pPr algn="l">
              <a:spcBef>
                <a:spcPts val="0"/>
              </a:spcBef>
              <a:spcAft>
                <a:spcPts val="2000"/>
              </a:spcAft>
            </a:pPr>
            <a:r>
              <a:rPr sz="2800" b="1">
                <a:solidFill>
                  <a:srgbClr val="004A8F"/>
                </a:solidFill>
                <a:latin typeface="Calibri"/>
              </a:rPr>
              <a:t>Prompt de dados sintéticos:  </a:t>
            </a:r>
            <a:r>
              <a:rPr sz="2800">
                <a:solidFill>
                  <a:srgbClr val="262626"/>
                </a:solidFill>
                <a:latin typeface="Calibri"/>
              </a:rPr>
              <a:t>o dataset do SEU projeto (não mais só o do projeto-guia PCDF) é insumo direto da Entrega 3.</a:t>
            </a:r>
          </a:p>
          <a:p>
            <a:pPr algn="l">
              <a:spcBef>
                <a:spcPts val="0"/>
              </a:spcBef>
              <a:spcAft>
                <a:spcPts val="2000"/>
              </a:spcAft>
            </a:pPr>
            <a:r>
              <a:rPr sz="2800" b="1">
                <a:solidFill>
                  <a:srgbClr val="004A8F"/>
                </a:solidFill>
                <a:latin typeface="Calibri"/>
              </a:rPr>
              <a:t>Terraform contra o Azure:  </a:t>
            </a:r>
            <a:r>
              <a:rPr sz="2800">
                <a:solidFill>
                  <a:srgbClr val="262626"/>
                </a:solidFill>
                <a:latin typeface="Calibri"/>
              </a:rPr>
              <a:t>sem essa demo rodada de verdade, não existe evidência para a Entrega 3 — e é o paralelo direto do que faremos em Pulumi.</a:t>
            </a:r>
          </a:p>
          <a:p>
            <a:pPr algn="l">
              <a:spcBef>
                <a:spcPts val="0"/>
              </a:spcBef>
              <a:spcAft>
                <a:spcPts val="2000"/>
              </a:spcAft>
            </a:pPr>
            <a:r>
              <a:rPr sz="2800" b="1">
                <a:solidFill>
                  <a:srgbClr val="004A8F"/>
                </a:solidFill>
                <a:latin typeface="Calibri"/>
              </a:rPr>
              <a:t>Estrutura de diretórios:  </a:t>
            </a:r>
            <a:r>
              <a:rPr sz="2800">
                <a:solidFill>
                  <a:srgbClr val="262626"/>
                </a:solidFill>
                <a:latin typeface="Calibri"/>
              </a:rPr>
              <a:t>a pasta pulumi/ que vamos usar hoje já deveria existir desde a Aula 01 — vale conferir antes de seguir.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Docker Desktop: Instalação e Configuração</a:t>
            </a:r>
          </a:p>
        </p:txBody>
      </p:sp>
      <p:sp>
        <p:nvSpPr>
          <p:cNvPr id="3" name="Content Placeholder 2"/>
          <p:cNvSpPr>
            <a:spLocks noGrp="1"/>
          </p:cNvSpPr>
          <p:nvPr>
            <p:ph idx="1"/>
          </p:nvPr>
        </p:nvSpPr>
        <p:spPr>
          <a:xfrm flipH="1">
            <a:off x="3860800" y="7680629"/>
            <a:ext cx="14528800" cy="2000000"/>
          </a:xfrm>
        </p:spPr>
        <p:txBody>
          <a:bodyPr wrap="square" anchor="t"/>
          <a:lstStyle/>
          <a:p>
            <a:pPr algn="l">
              <a:spcBef>
                <a:spcPts val="0"/>
              </a:spcBef>
              <a:spcAft>
                <a:spcPts val="1200"/>
              </a:spcAft>
              <a:buNone/>
            </a:pPr>
            <a:r>
              <a:rPr sz="2600" dirty="0" err="1">
                <a:solidFill>
                  <a:srgbClr val="595959"/>
                </a:solidFill>
                <a:latin typeface="Calibri"/>
              </a:rPr>
              <a:t>Instalado</a:t>
            </a:r>
            <a:r>
              <a:rPr sz="2600" dirty="0">
                <a:solidFill>
                  <a:srgbClr val="595959"/>
                </a:solidFill>
                <a:latin typeface="Calibri"/>
              </a:rPr>
              <a:t> </a:t>
            </a:r>
            <a:r>
              <a:rPr sz="2600" dirty="0" err="1">
                <a:solidFill>
                  <a:srgbClr val="595959"/>
                </a:solidFill>
                <a:latin typeface="Calibri"/>
              </a:rPr>
              <a:t>na</a:t>
            </a:r>
            <a:r>
              <a:rPr sz="2600" dirty="0">
                <a:solidFill>
                  <a:srgbClr val="595959"/>
                </a:solidFill>
                <a:latin typeface="Calibri"/>
              </a:rPr>
              <a:t> Aula 01, mas </a:t>
            </a:r>
            <a:r>
              <a:rPr sz="2600" dirty="0" err="1">
                <a:solidFill>
                  <a:srgbClr val="595959"/>
                </a:solidFill>
                <a:latin typeface="Calibri"/>
              </a:rPr>
              <a:t>nunca</a:t>
            </a:r>
            <a:r>
              <a:rPr sz="2600" dirty="0">
                <a:solidFill>
                  <a:srgbClr val="595959"/>
                </a:solidFill>
                <a:latin typeface="Calibri"/>
              </a:rPr>
              <a:t> </a:t>
            </a:r>
            <a:r>
              <a:rPr sz="2600" dirty="0" err="1">
                <a:solidFill>
                  <a:srgbClr val="595959"/>
                </a:solidFill>
                <a:latin typeface="Calibri"/>
              </a:rPr>
              <a:t>demonstrado</a:t>
            </a:r>
            <a:r>
              <a:rPr sz="2600" dirty="0">
                <a:solidFill>
                  <a:srgbClr val="595959"/>
                </a:solidFill>
                <a:latin typeface="Calibri"/>
              </a:rPr>
              <a:t> </a:t>
            </a:r>
            <a:r>
              <a:rPr sz="2600" dirty="0" err="1">
                <a:solidFill>
                  <a:srgbClr val="595959"/>
                </a:solidFill>
                <a:latin typeface="Calibri"/>
              </a:rPr>
              <a:t>ao</a:t>
            </a:r>
            <a:r>
              <a:rPr sz="2600" dirty="0">
                <a:solidFill>
                  <a:srgbClr val="595959"/>
                </a:solidFill>
                <a:latin typeface="Calibri"/>
              </a:rPr>
              <a:t> vivo — </a:t>
            </a:r>
            <a:r>
              <a:rPr sz="2600" dirty="0" err="1">
                <a:solidFill>
                  <a:srgbClr val="595959"/>
                </a:solidFill>
                <a:latin typeface="Calibri"/>
              </a:rPr>
              <a:t>hoje</a:t>
            </a:r>
            <a:r>
              <a:rPr sz="2600" dirty="0">
                <a:solidFill>
                  <a:srgbClr val="595959"/>
                </a:solidFill>
                <a:latin typeface="Calibri"/>
              </a:rPr>
              <a:t> </a:t>
            </a:r>
            <a:r>
              <a:rPr sz="2600" dirty="0" err="1">
                <a:solidFill>
                  <a:srgbClr val="595959"/>
                </a:solidFill>
                <a:latin typeface="Calibri"/>
              </a:rPr>
              <a:t>vamos</a:t>
            </a:r>
            <a:r>
              <a:rPr sz="2600" dirty="0">
                <a:solidFill>
                  <a:srgbClr val="595959"/>
                </a:solidFill>
                <a:latin typeface="Calibri"/>
              </a:rPr>
              <a:t> </a:t>
            </a:r>
            <a:r>
              <a:rPr sz="2600" dirty="0" err="1">
                <a:solidFill>
                  <a:srgbClr val="595959"/>
                </a:solidFill>
                <a:latin typeface="Calibri"/>
              </a:rPr>
              <a:t>rodar</a:t>
            </a:r>
            <a:r>
              <a:rPr sz="2600" dirty="0">
                <a:solidFill>
                  <a:srgbClr val="595959"/>
                </a:solidFill>
                <a:latin typeface="Calibri"/>
              </a:rPr>
              <a:t> de </a:t>
            </a:r>
            <a:r>
              <a:rPr sz="2600" dirty="0" err="1">
                <a:solidFill>
                  <a:srgbClr val="595959"/>
                </a:solidFill>
                <a:latin typeface="Calibri"/>
              </a:rPr>
              <a:t>verdade</a:t>
            </a:r>
            <a:r>
              <a:rPr sz="2600" dirty="0">
                <a:solidFill>
                  <a:srgbClr val="595959"/>
                </a:solidFill>
                <a:latin typeface="Calibri"/>
              </a:rPr>
              <a:t>.</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PENDÊNCIA 1 DE 4</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Instalar o Docker Desktop — Windows</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a:t>
            </a:r>
          </a:p>
        </p:txBody>
      </p:sp>
      <p:sp>
        <p:nvSpPr>
          <p:cNvPr id="5" name="TextBox 4"/>
          <p:cNvSpPr txBox="1"/>
          <p:nvPr/>
        </p:nvSpPr>
        <p:spPr>
          <a:xfrm>
            <a:off x="2356757" y="3392851"/>
            <a:ext cx="19170650" cy="3170099"/>
          </a:xfrm>
          <a:prstGeom prst="rect">
            <a:avLst/>
          </a:prstGeom>
          <a:noFill/>
        </p:spPr>
        <p:txBody>
          <a:bodyPr wrap="square" anchor="t">
            <a:spAutoFit/>
          </a:bodyPr>
          <a:lstStyle/>
          <a:p>
            <a:pPr algn="l">
              <a:spcBef>
                <a:spcPts val="0"/>
              </a:spcBef>
              <a:spcAft>
                <a:spcPts val="600"/>
              </a:spcAft>
            </a:pPr>
            <a:r>
              <a:rPr sz="3600" dirty="0">
                <a:solidFill>
                  <a:srgbClr val="262626"/>
                </a:solidFill>
                <a:latin typeface="Calibri"/>
              </a:rPr>
              <a:t>Pré-</a:t>
            </a:r>
            <a:r>
              <a:rPr sz="3600" dirty="0" err="1">
                <a:solidFill>
                  <a:srgbClr val="262626"/>
                </a:solidFill>
                <a:latin typeface="Calibri"/>
              </a:rPr>
              <a:t>requisito</a:t>
            </a:r>
            <a:r>
              <a:rPr sz="3600" dirty="0">
                <a:solidFill>
                  <a:srgbClr val="262626"/>
                </a:solidFill>
                <a:latin typeface="Calibri"/>
              </a:rPr>
              <a:t>: WSL2 </a:t>
            </a:r>
            <a:r>
              <a:rPr sz="3600" dirty="0" err="1">
                <a:solidFill>
                  <a:srgbClr val="262626"/>
                </a:solidFill>
                <a:latin typeface="Calibri"/>
              </a:rPr>
              <a:t>habilitado</a:t>
            </a:r>
            <a:r>
              <a:rPr sz="3600" dirty="0">
                <a:solidFill>
                  <a:srgbClr val="262626"/>
                </a:solidFill>
                <a:latin typeface="Calibri"/>
              </a:rPr>
              <a:t> (Manual Aula 01, Passo A1-5)</a:t>
            </a:r>
          </a:p>
          <a:p>
            <a:pPr algn="l">
              <a:spcBef>
                <a:spcPts val="0"/>
              </a:spcBef>
              <a:spcAft>
                <a:spcPts val="600"/>
              </a:spcAft>
            </a:pPr>
            <a:r>
              <a:rPr sz="3600" dirty="0">
                <a:solidFill>
                  <a:srgbClr val="262626"/>
                </a:solidFill>
                <a:latin typeface="Calibri"/>
              </a:rPr>
              <a:t>Link: </a:t>
            </a:r>
            <a:endParaRPr lang="en-US" sz="3600" dirty="0">
              <a:solidFill>
                <a:srgbClr val="262626"/>
              </a:solidFill>
              <a:latin typeface="Calibri"/>
            </a:endParaRPr>
          </a:p>
          <a:p>
            <a:pPr algn="l">
              <a:spcBef>
                <a:spcPts val="0"/>
              </a:spcBef>
              <a:spcAft>
                <a:spcPts val="600"/>
              </a:spcAft>
            </a:pPr>
            <a:r>
              <a:rPr lang="en-US" sz="3600" dirty="0">
                <a:solidFill>
                  <a:srgbClr val="262626"/>
                </a:solidFill>
                <a:latin typeface="Calibri"/>
                <a:hlinkClick r:id="rId2"/>
              </a:rPr>
              <a:t>www.</a:t>
            </a:r>
            <a:r>
              <a:rPr sz="3600" dirty="0">
                <a:solidFill>
                  <a:srgbClr val="262626"/>
                </a:solidFill>
                <a:latin typeface="Calibri"/>
                <a:hlinkClick r:id="rId2"/>
              </a:rPr>
              <a:t>docker.com/products/docker-desktop</a:t>
            </a:r>
            <a:endParaRPr lang="en-US" sz="3600" dirty="0">
              <a:solidFill>
                <a:srgbClr val="262626"/>
              </a:solidFill>
              <a:latin typeface="Calibri"/>
            </a:endParaRPr>
          </a:p>
          <a:p>
            <a:pPr algn="l">
              <a:spcBef>
                <a:spcPts val="0"/>
              </a:spcBef>
              <a:spcAft>
                <a:spcPts val="600"/>
              </a:spcAft>
            </a:pPr>
            <a:endParaRPr lang="en-US" sz="3600" dirty="0">
              <a:solidFill>
                <a:srgbClr val="262626"/>
              </a:solidFill>
              <a:latin typeface="Calibri"/>
            </a:endParaRPr>
          </a:p>
          <a:p>
            <a:pPr algn="l">
              <a:spcBef>
                <a:spcPts val="0"/>
              </a:spcBef>
              <a:spcAft>
                <a:spcPts val="600"/>
              </a:spcAft>
            </a:pPr>
            <a:endParaRPr sz="3600" dirty="0">
              <a:solidFill>
                <a:srgbClr val="262626"/>
              </a:solidFill>
              <a:latin typeface="Calibri"/>
            </a:endParaRP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3600" dirty="0">
                <a:solidFill>
                  <a:srgbClr val="FFFF00"/>
                </a:solidFill>
                <a:latin typeface="Consolas"/>
              </a:rPr>
              <a:t># PowerShell </a:t>
            </a:r>
            <a:r>
              <a:rPr sz="3600" dirty="0" err="1">
                <a:solidFill>
                  <a:srgbClr val="FFFF00"/>
                </a:solidFill>
                <a:latin typeface="Consolas"/>
              </a:rPr>
              <a:t>como</a:t>
            </a:r>
            <a:r>
              <a:rPr sz="3600" dirty="0">
                <a:solidFill>
                  <a:srgbClr val="FFFF00"/>
                </a:solidFill>
                <a:latin typeface="Consolas"/>
              </a:rPr>
              <a:t> </a:t>
            </a:r>
            <a:r>
              <a:rPr sz="3600" dirty="0" err="1">
                <a:solidFill>
                  <a:srgbClr val="FFFF00"/>
                </a:solidFill>
                <a:latin typeface="Consolas"/>
              </a:rPr>
              <a:t>administrador</a:t>
            </a:r>
            <a:r>
              <a:rPr sz="3600" dirty="0">
                <a:solidFill>
                  <a:srgbClr val="FFFF00"/>
                </a:solidFill>
                <a:latin typeface="Consolas"/>
              </a:rPr>
              <a:t>, se o WSL2 </a:t>
            </a:r>
            <a:r>
              <a:rPr sz="3600" dirty="0" err="1">
                <a:solidFill>
                  <a:srgbClr val="FFFF00"/>
                </a:solidFill>
                <a:latin typeface="Consolas"/>
              </a:rPr>
              <a:t>ainda</a:t>
            </a:r>
            <a:r>
              <a:rPr sz="3600" dirty="0">
                <a:solidFill>
                  <a:srgbClr val="FFFF00"/>
                </a:solidFill>
                <a:latin typeface="Consolas"/>
              </a:rPr>
              <a:t> </a:t>
            </a:r>
            <a:r>
              <a:rPr sz="3600" dirty="0" err="1">
                <a:solidFill>
                  <a:srgbClr val="FFFF00"/>
                </a:solidFill>
                <a:latin typeface="Consolas"/>
              </a:rPr>
              <a:t>não</a:t>
            </a:r>
            <a:r>
              <a:rPr sz="3600" dirty="0">
                <a:solidFill>
                  <a:srgbClr val="FFFF00"/>
                </a:solidFill>
                <a:latin typeface="Consolas"/>
              </a:rPr>
              <a:t> </a:t>
            </a:r>
            <a:r>
              <a:rPr sz="3600" dirty="0" err="1">
                <a:solidFill>
                  <a:srgbClr val="FFFF00"/>
                </a:solidFill>
                <a:latin typeface="Consolas"/>
              </a:rPr>
              <a:t>estiver</a:t>
            </a:r>
            <a:r>
              <a:rPr sz="3600" dirty="0">
                <a:solidFill>
                  <a:srgbClr val="FFFF00"/>
                </a:solidFill>
                <a:latin typeface="Consolas"/>
              </a:rPr>
              <a:t> </a:t>
            </a:r>
            <a:r>
              <a:rPr sz="3600" dirty="0" err="1">
                <a:solidFill>
                  <a:srgbClr val="FFFF00"/>
                </a:solidFill>
                <a:latin typeface="Consolas"/>
              </a:rPr>
              <a:t>ativo</a:t>
            </a:r>
            <a:r>
              <a:rPr sz="3600" dirty="0">
                <a:solidFill>
                  <a:srgbClr val="FFFF00"/>
                </a:solidFill>
                <a:latin typeface="Consolas"/>
              </a:rPr>
              <a:t>:</a:t>
            </a:r>
          </a:p>
          <a:p>
            <a:pPr algn="l"/>
            <a:r>
              <a:rPr sz="3600" dirty="0" err="1">
                <a:solidFill>
                  <a:srgbClr val="E8E8E8"/>
                </a:solidFill>
                <a:latin typeface="Consolas"/>
              </a:rPr>
              <a:t>wsl</a:t>
            </a:r>
            <a:r>
              <a:rPr sz="3600" dirty="0">
                <a:solidFill>
                  <a:srgbClr val="E8E8E8"/>
                </a:solidFill>
                <a:latin typeface="Consolas"/>
              </a:rPr>
              <a:t> --install</a:t>
            </a:r>
          </a:p>
          <a:p>
            <a:pPr algn="l"/>
            <a:r>
              <a:rPr sz="3600" dirty="0">
                <a:solidFill>
                  <a:srgbClr val="E8E8E8"/>
                </a:solidFill>
                <a:latin typeface="Consolas"/>
              </a:rPr>
              <a:t> </a:t>
            </a:r>
          </a:p>
          <a:p>
            <a:pPr algn="l"/>
            <a:r>
              <a:rPr sz="3600" dirty="0">
                <a:solidFill>
                  <a:srgbClr val="FFFF00"/>
                </a:solidFill>
                <a:latin typeface="Consolas"/>
              </a:rPr>
              <a:t># no </a:t>
            </a:r>
            <a:r>
              <a:rPr sz="3600" dirty="0" err="1">
                <a:solidFill>
                  <a:srgbClr val="FFFF00"/>
                </a:solidFill>
                <a:latin typeface="Consolas"/>
              </a:rPr>
              <a:t>instalador</a:t>
            </a:r>
            <a:r>
              <a:rPr sz="3600" dirty="0">
                <a:solidFill>
                  <a:srgbClr val="FFFF00"/>
                </a:solidFill>
                <a:latin typeface="Consolas"/>
              </a:rPr>
              <a:t> do Docker Desktop, </a:t>
            </a:r>
            <a:r>
              <a:rPr sz="3600" dirty="0" err="1">
                <a:solidFill>
                  <a:srgbClr val="FFFF00"/>
                </a:solidFill>
                <a:latin typeface="Consolas"/>
              </a:rPr>
              <a:t>mantenha</a:t>
            </a:r>
            <a:r>
              <a:rPr sz="3600" dirty="0">
                <a:solidFill>
                  <a:srgbClr val="FFFF00"/>
                </a:solidFill>
                <a:latin typeface="Consolas"/>
              </a:rPr>
              <a:t> </a:t>
            </a:r>
            <a:r>
              <a:rPr sz="3600" dirty="0" err="1">
                <a:solidFill>
                  <a:srgbClr val="FFFF00"/>
                </a:solidFill>
                <a:latin typeface="Consolas"/>
              </a:rPr>
              <a:t>marcada</a:t>
            </a:r>
            <a:r>
              <a:rPr sz="3600" dirty="0">
                <a:solidFill>
                  <a:srgbClr val="FFFF00"/>
                </a:solidFill>
                <a:latin typeface="Consolas"/>
              </a:rPr>
              <a:t> a </a:t>
            </a:r>
            <a:r>
              <a:rPr sz="3600" dirty="0" err="1">
                <a:solidFill>
                  <a:srgbClr val="FFFF00"/>
                </a:solidFill>
                <a:latin typeface="Consolas"/>
              </a:rPr>
              <a:t>opção</a:t>
            </a:r>
            <a:r>
              <a:rPr sz="3600" dirty="0">
                <a:solidFill>
                  <a:srgbClr val="FFFF00"/>
                </a:solidFill>
                <a:latin typeface="Consolas"/>
              </a:rPr>
              <a:t>:</a:t>
            </a:r>
          </a:p>
          <a:p>
            <a:pPr algn="l"/>
            <a:r>
              <a:rPr sz="3600" dirty="0">
                <a:solidFill>
                  <a:srgbClr val="FFFF00"/>
                </a:solidFill>
                <a:latin typeface="Consolas"/>
              </a:rPr>
              <a:t># "Install required Windows components for WSL 2"</a:t>
            </a:r>
          </a:p>
          <a:p>
            <a:pPr algn="l"/>
            <a:r>
              <a:rPr sz="3600" dirty="0">
                <a:solidFill>
                  <a:srgbClr val="E8E8E8"/>
                </a:solidFill>
                <a:latin typeface="Consolas"/>
              </a:rPr>
              <a:t> </a:t>
            </a:r>
          </a:p>
          <a:p>
            <a:pPr algn="l"/>
            <a:r>
              <a:rPr sz="3600" dirty="0">
                <a:solidFill>
                  <a:srgbClr val="FFFF00"/>
                </a:solidFill>
                <a:latin typeface="Consolas"/>
              </a:rPr>
              <a:t># </a:t>
            </a:r>
            <a:r>
              <a:rPr sz="3600" dirty="0" err="1">
                <a:solidFill>
                  <a:srgbClr val="FFFF00"/>
                </a:solidFill>
                <a:latin typeface="Consolas"/>
              </a:rPr>
              <a:t>reinicie</a:t>
            </a:r>
            <a:r>
              <a:rPr sz="3600" dirty="0">
                <a:solidFill>
                  <a:srgbClr val="FFFF00"/>
                </a:solidFill>
                <a:latin typeface="Consolas"/>
              </a:rPr>
              <a:t> o </a:t>
            </a:r>
            <a:r>
              <a:rPr sz="3600" dirty="0" err="1">
                <a:solidFill>
                  <a:srgbClr val="FFFF00"/>
                </a:solidFill>
                <a:latin typeface="Consolas"/>
              </a:rPr>
              <a:t>computador</a:t>
            </a:r>
            <a:r>
              <a:rPr sz="3600" dirty="0">
                <a:solidFill>
                  <a:srgbClr val="FFFF00"/>
                </a:solidFill>
                <a:latin typeface="Consolas"/>
              </a:rPr>
              <a:t> </a:t>
            </a:r>
            <a:r>
              <a:rPr sz="3600" dirty="0" err="1">
                <a:solidFill>
                  <a:srgbClr val="FFFF00"/>
                </a:solidFill>
                <a:latin typeface="Consolas"/>
              </a:rPr>
              <a:t>ao</a:t>
            </a:r>
            <a:r>
              <a:rPr sz="3600" dirty="0">
                <a:solidFill>
                  <a:srgbClr val="FFFF00"/>
                </a:solidFill>
                <a:latin typeface="Consolas"/>
              </a:rPr>
              <a:t> final da </a:t>
            </a:r>
            <a:r>
              <a:rPr sz="3600" dirty="0" err="1">
                <a:solidFill>
                  <a:srgbClr val="FFFF00"/>
                </a:solidFill>
                <a:latin typeface="Consolas"/>
              </a:rPr>
              <a:t>instalação</a:t>
            </a:r>
            <a:endParaRPr sz="3600" dirty="0">
              <a:solidFill>
                <a:srgbClr val="FFFF00"/>
              </a:solidFill>
              <a:latin typeface="Consola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Instalar o Docker Desktop — Mac</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a:t>
            </a:r>
          </a:p>
        </p:txBody>
      </p:sp>
      <p:sp>
        <p:nvSpPr>
          <p:cNvPr id="5" name="TextBox 4"/>
          <p:cNvSpPr txBox="1"/>
          <p:nvPr/>
        </p:nvSpPr>
        <p:spPr>
          <a:xfrm>
            <a:off x="1689100" y="4406900"/>
            <a:ext cx="19170650" cy="1500000"/>
          </a:xfrm>
          <a:prstGeom prst="rect">
            <a:avLst/>
          </a:prstGeom>
          <a:noFill/>
        </p:spPr>
        <p:txBody>
          <a:bodyPr wrap="square" anchor="t">
            <a:spAutoFit/>
          </a:bodyPr>
          <a:lstStyle/>
          <a:p>
            <a:pPr algn="l">
              <a:spcBef>
                <a:spcPts val="0"/>
              </a:spcBef>
              <a:spcAft>
                <a:spcPts val="600"/>
              </a:spcAft>
            </a:pPr>
            <a:r>
              <a:rPr sz="2200">
                <a:solidFill>
                  <a:srgbClr val="262626"/>
                </a:solidFill>
                <a:latin typeface="Calibri"/>
              </a:rPr>
              <a:t>Link: docker.com/products/docker-desktop</a:t>
            </a: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ctr"/>
            <a:r>
              <a:rPr sz="2300">
                <a:solidFill>
                  <a:srgbClr val="E8E8E8"/>
                </a:solidFill>
                <a:latin typeface="Consolas"/>
              </a:rPr>
              <a:t># opção 1: baixar o instalador .dmg oficial e arrastar para Applications</a:t>
            </a:r>
          </a:p>
          <a:p>
            <a:r>
              <a:rPr sz="2300">
                <a:solidFill>
                  <a:srgbClr val="E8E8E8"/>
                </a:solidFill>
                <a:latin typeface="Consolas"/>
              </a:rPr>
              <a:t> </a:t>
            </a:r>
          </a:p>
          <a:p>
            <a:r>
              <a:rPr sz="2300">
                <a:solidFill>
                  <a:srgbClr val="E8E8E8"/>
                </a:solidFill>
                <a:latin typeface="Consolas"/>
              </a:rPr>
              <a:t># opção 2: via Homebrew</a:t>
            </a:r>
          </a:p>
          <a:p>
            <a:r>
              <a:rPr sz="2300">
                <a:solidFill>
                  <a:srgbClr val="E8E8E8"/>
                </a:solidFill>
                <a:latin typeface="Consolas"/>
              </a:rPr>
              <a:t>brew install --cask docker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Verificar a Instalação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9</a:t>
            </a:r>
          </a:p>
        </p:txBody>
      </p:sp>
      <p:sp>
        <p:nvSpPr>
          <p:cNvPr id="5" name="TextBox 4"/>
          <p:cNvSpPr txBox="1"/>
          <p:nvPr/>
        </p:nvSpPr>
        <p:spPr>
          <a:xfrm>
            <a:off x="1689100" y="4406900"/>
            <a:ext cx="19170650" cy="646331"/>
          </a:xfrm>
          <a:prstGeom prst="rect">
            <a:avLst/>
          </a:prstGeom>
          <a:noFill/>
        </p:spPr>
        <p:txBody>
          <a:bodyPr wrap="square" anchor="t">
            <a:spAutoFit/>
          </a:bodyPr>
          <a:lstStyle/>
          <a:p>
            <a:pPr algn="l">
              <a:spcBef>
                <a:spcPts val="0"/>
              </a:spcBef>
              <a:spcAft>
                <a:spcPts val="600"/>
              </a:spcAft>
            </a:pPr>
            <a:r>
              <a:rPr sz="3600" dirty="0">
                <a:solidFill>
                  <a:srgbClr val="262626"/>
                </a:solidFill>
                <a:latin typeface="Calibri"/>
              </a:rPr>
              <a:t>Rode </a:t>
            </a:r>
            <a:r>
              <a:rPr sz="3600" dirty="0" err="1">
                <a:solidFill>
                  <a:srgbClr val="262626"/>
                </a:solidFill>
                <a:latin typeface="Calibri"/>
              </a:rPr>
              <a:t>os</a:t>
            </a:r>
            <a:r>
              <a:rPr sz="3600" dirty="0">
                <a:solidFill>
                  <a:srgbClr val="262626"/>
                </a:solidFill>
                <a:latin typeface="Calibri"/>
              </a:rPr>
              <a:t> 3 </a:t>
            </a:r>
            <a:r>
              <a:rPr sz="3600" dirty="0" err="1">
                <a:solidFill>
                  <a:srgbClr val="262626"/>
                </a:solidFill>
                <a:latin typeface="Calibri"/>
              </a:rPr>
              <a:t>comandos</a:t>
            </a:r>
            <a:r>
              <a:rPr sz="3600" dirty="0">
                <a:solidFill>
                  <a:srgbClr val="262626"/>
                </a:solidFill>
                <a:latin typeface="Calibri"/>
              </a:rPr>
              <a:t> </a:t>
            </a:r>
            <a:r>
              <a:rPr sz="3600" dirty="0" err="1">
                <a:solidFill>
                  <a:srgbClr val="262626"/>
                </a:solidFill>
                <a:latin typeface="Calibri"/>
              </a:rPr>
              <a:t>abaixo</a:t>
            </a:r>
            <a:r>
              <a:rPr sz="3600" dirty="0">
                <a:solidFill>
                  <a:srgbClr val="262626"/>
                </a:solidFill>
                <a:latin typeface="Calibri"/>
              </a:rPr>
              <a:t> com o Docker Desktop </a:t>
            </a:r>
            <a:r>
              <a:rPr sz="3600" dirty="0" err="1">
                <a:solidFill>
                  <a:srgbClr val="262626"/>
                </a:solidFill>
                <a:latin typeface="Calibri"/>
              </a:rPr>
              <a:t>aberto</a:t>
            </a:r>
            <a:endParaRPr sz="3600" dirty="0">
              <a:solidFill>
                <a:srgbClr val="262626"/>
              </a:solidFill>
              <a:latin typeface="Calibri"/>
            </a:endParaRP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3600" dirty="0">
                <a:solidFill>
                  <a:srgbClr val="E8E8E8"/>
                </a:solidFill>
                <a:latin typeface="Consolas"/>
              </a:rPr>
              <a:t>docker --version</a:t>
            </a:r>
          </a:p>
          <a:p>
            <a:pPr algn="l"/>
            <a:r>
              <a:rPr sz="3600" dirty="0">
                <a:solidFill>
                  <a:srgbClr val="FFFF00"/>
                </a:solidFill>
                <a:latin typeface="Consolas"/>
              </a:rPr>
              <a:t># </a:t>
            </a:r>
            <a:r>
              <a:rPr sz="3600" dirty="0" err="1">
                <a:solidFill>
                  <a:srgbClr val="FFFF00"/>
                </a:solidFill>
                <a:latin typeface="Consolas"/>
              </a:rPr>
              <a:t>resultado</a:t>
            </a:r>
            <a:r>
              <a:rPr sz="3600" dirty="0">
                <a:solidFill>
                  <a:srgbClr val="FFFF00"/>
                </a:solidFill>
                <a:latin typeface="Consolas"/>
              </a:rPr>
              <a:t> </a:t>
            </a:r>
            <a:r>
              <a:rPr sz="3600" dirty="0" err="1">
                <a:solidFill>
                  <a:srgbClr val="FFFF00"/>
                </a:solidFill>
                <a:latin typeface="Consolas"/>
              </a:rPr>
              <a:t>esperado</a:t>
            </a:r>
            <a:r>
              <a:rPr sz="3600" dirty="0">
                <a:solidFill>
                  <a:srgbClr val="FFFF00"/>
                </a:solidFill>
                <a:latin typeface="Consolas"/>
              </a:rPr>
              <a:t>: Docker version 2X.X.X, build ...</a:t>
            </a:r>
          </a:p>
          <a:p>
            <a:pPr algn="l"/>
            <a:r>
              <a:rPr sz="3600" dirty="0">
                <a:solidFill>
                  <a:srgbClr val="E8E8E8"/>
                </a:solidFill>
                <a:latin typeface="Consolas"/>
              </a:rPr>
              <a:t> </a:t>
            </a:r>
          </a:p>
          <a:p>
            <a:pPr algn="l"/>
            <a:r>
              <a:rPr sz="3600" dirty="0">
                <a:solidFill>
                  <a:srgbClr val="E8E8E8"/>
                </a:solidFill>
                <a:latin typeface="Consolas"/>
              </a:rPr>
              <a:t>docker run hello-world</a:t>
            </a:r>
          </a:p>
          <a:p>
            <a:pPr algn="l"/>
            <a:r>
              <a:rPr sz="3600" dirty="0">
                <a:solidFill>
                  <a:srgbClr val="FFFF00"/>
                </a:solidFill>
                <a:latin typeface="Consolas"/>
              </a:rPr>
              <a:t># </a:t>
            </a:r>
            <a:r>
              <a:rPr sz="3600" dirty="0" err="1">
                <a:solidFill>
                  <a:srgbClr val="FFFF00"/>
                </a:solidFill>
                <a:latin typeface="Consolas"/>
              </a:rPr>
              <a:t>resultado</a:t>
            </a:r>
            <a:r>
              <a:rPr sz="3600" dirty="0">
                <a:solidFill>
                  <a:srgbClr val="FFFF00"/>
                </a:solidFill>
                <a:latin typeface="Consolas"/>
              </a:rPr>
              <a:t> </a:t>
            </a:r>
            <a:r>
              <a:rPr sz="3600" dirty="0" err="1">
                <a:solidFill>
                  <a:srgbClr val="FFFF00"/>
                </a:solidFill>
                <a:latin typeface="Consolas"/>
              </a:rPr>
              <a:t>esperado</a:t>
            </a:r>
            <a:r>
              <a:rPr sz="3600" dirty="0">
                <a:solidFill>
                  <a:srgbClr val="FFFF00"/>
                </a:solidFill>
                <a:latin typeface="Consolas"/>
              </a:rPr>
              <a:t>: "Hello from Docker!"</a:t>
            </a:r>
          </a:p>
          <a:p>
            <a:pPr algn="l"/>
            <a:r>
              <a:rPr sz="3600" dirty="0">
                <a:solidFill>
                  <a:srgbClr val="E8E8E8"/>
                </a:solidFill>
                <a:latin typeface="Consolas"/>
              </a:rPr>
              <a:t> </a:t>
            </a:r>
          </a:p>
          <a:p>
            <a:pPr algn="l"/>
            <a:r>
              <a:rPr sz="3600" dirty="0">
                <a:solidFill>
                  <a:srgbClr val="E8E8E8"/>
                </a:solidFill>
                <a:latin typeface="Consolas"/>
              </a:rPr>
              <a:t>docker </a:t>
            </a:r>
            <a:r>
              <a:rPr sz="3600" dirty="0" err="1">
                <a:solidFill>
                  <a:srgbClr val="E8E8E8"/>
                </a:solidFill>
                <a:latin typeface="Consolas"/>
              </a:rPr>
              <a:t>ps</a:t>
            </a:r>
            <a:endParaRPr sz="3600" dirty="0">
              <a:solidFill>
                <a:srgbClr val="E8E8E8"/>
              </a:solidFill>
              <a:latin typeface="Consolas"/>
            </a:endParaRPr>
          </a:p>
          <a:p>
            <a:pPr algn="l"/>
            <a:r>
              <a:rPr sz="3600" dirty="0">
                <a:solidFill>
                  <a:srgbClr val="FFFF00"/>
                </a:solidFill>
                <a:latin typeface="Consolas"/>
              </a:rPr>
              <a:t># </a:t>
            </a:r>
            <a:r>
              <a:rPr sz="3600" dirty="0" err="1">
                <a:solidFill>
                  <a:srgbClr val="FFFF00"/>
                </a:solidFill>
                <a:latin typeface="Consolas"/>
              </a:rPr>
              <a:t>resultado</a:t>
            </a:r>
            <a:r>
              <a:rPr sz="3600" dirty="0">
                <a:solidFill>
                  <a:srgbClr val="FFFF00"/>
                </a:solidFill>
                <a:latin typeface="Consolas"/>
              </a:rPr>
              <a:t> </a:t>
            </a:r>
            <a:r>
              <a:rPr sz="3600" dirty="0" err="1">
                <a:solidFill>
                  <a:srgbClr val="FFFF00"/>
                </a:solidFill>
                <a:latin typeface="Consolas"/>
              </a:rPr>
              <a:t>esperado</a:t>
            </a:r>
            <a:r>
              <a:rPr sz="3600" dirty="0">
                <a:solidFill>
                  <a:srgbClr val="FFFF00"/>
                </a:solidFill>
                <a:latin typeface="Consolas"/>
              </a:rPr>
              <a:t>: </a:t>
            </a:r>
            <a:r>
              <a:rPr sz="3600" dirty="0" err="1">
                <a:solidFill>
                  <a:srgbClr val="FFFF00"/>
                </a:solidFill>
                <a:latin typeface="Consolas"/>
              </a:rPr>
              <a:t>lista</a:t>
            </a:r>
            <a:r>
              <a:rPr sz="3600" dirty="0">
                <a:solidFill>
                  <a:srgbClr val="FFFF00"/>
                </a:solidFill>
                <a:latin typeface="Consolas"/>
              </a:rPr>
              <a:t> de containers </a:t>
            </a:r>
            <a:r>
              <a:rPr sz="3600" dirty="0" err="1">
                <a:solidFill>
                  <a:srgbClr val="FFFF00"/>
                </a:solidFill>
                <a:latin typeface="Consolas"/>
              </a:rPr>
              <a:t>em</a:t>
            </a:r>
            <a:r>
              <a:rPr sz="3600" dirty="0">
                <a:solidFill>
                  <a:srgbClr val="FFFF00"/>
                </a:solidFill>
                <a:latin typeface="Consolas"/>
              </a:rPr>
              <a:t> </a:t>
            </a:r>
            <a:r>
              <a:rPr sz="3600" dirty="0" err="1">
                <a:solidFill>
                  <a:srgbClr val="FFFF00"/>
                </a:solidFill>
                <a:latin typeface="Consolas"/>
              </a:rPr>
              <a:t>execução</a:t>
            </a:r>
            <a:r>
              <a:rPr sz="3600" dirty="0">
                <a:solidFill>
                  <a:srgbClr val="FFFF00"/>
                </a:solidFill>
                <a:latin typeface="Consolas"/>
              </a:rPr>
              <a:t> (</a:t>
            </a:r>
            <a:r>
              <a:rPr sz="3600" dirty="0" err="1">
                <a:solidFill>
                  <a:srgbClr val="FFFF00"/>
                </a:solidFill>
                <a:latin typeface="Consolas"/>
              </a:rPr>
              <a:t>vazia</a:t>
            </a:r>
            <a:r>
              <a:rPr sz="3600" dirty="0">
                <a:solidFill>
                  <a:srgbClr val="FFFF00"/>
                </a:solidFill>
                <a:latin typeface="Consolas"/>
              </a:rPr>
              <a:t> é normal)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Habilitar o Kubernetes Local (Já Deixa Pronto p/ Aulas 04 e 05)</a:t>
            </a:r>
          </a:p>
        </p:txBody>
      </p:sp>
      <p:sp>
        <p:nvSpPr>
          <p:cNvPr id="3" name="Content Placeholder 2"/>
          <p:cNvSpPr>
            <a:spLocks noGrp="1"/>
          </p:cNvSpPr>
          <p:nvPr>
            <p:ph idx="1"/>
          </p:nvPr>
        </p:nvSpPr>
        <p:spPr>
          <a:xfrm>
            <a:off x="1689100" y="3289300"/>
            <a:ext cx="19170650" cy="7823200"/>
          </a:xfrm>
        </p:spPr>
        <p:txBody>
          <a:bodyPr wrap="square" anchor="t">
            <a:normAutofit/>
          </a:bodyPr>
          <a:lstStyle/>
          <a:p>
            <a:pPr algn="l">
              <a:spcBef>
                <a:spcPts val="0"/>
              </a:spcBef>
              <a:spcAft>
                <a:spcPts val="1800"/>
              </a:spcAft>
            </a:pPr>
            <a:r>
              <a:rPr sz="4000" b="1" dirty="0">
                <a:solidFill>
                  <a:srgbClr val="004A8F"/>
                </a:solidFill>
                <a:latin typeface="Calibri"/>
              </a:rPr>
              <a:t>Onde:  </a:t>
            </a:r>
            <a:r>
              <a:rPr sz="4000" dirty="0">
                <a:solidFill>
                  <a:srgbClr val="262626"/>
                </a:solidFill>
                <a:latin typeface="Calibri"/>
              </a:rPr>
              <a:t>Docker Desktop → Settings → Kubernetes → marque "Enable Kubernetes" → Apply &amp; Restart.</a:t>
            </a:r>
          </a:p>
          <a:p>
            <a:pPr algn="l">
              <a:spcBef>
                <a:spcPts val="0"/>
              </a:spcBef>
              <a:spcAft>
                <a:spcPts val="1800"/>
              </a:spcAft>
            </a:pPr>
            <a:r>
              <a:rPr sz="4000" b="1" dirty="0" err="1">
                <a:solidFill>
                  <a:srgbClr val="004A8F"/>
                </a:solidFill>
                <a:latin typeface="Calibri"/>
              </a:rPr>
              <a:t>Quantidade</a:t>
            </a:r>
            <a:r>
              <a:rPr sz="4000" b="1" dirty="0">
                <a:solidFill>
                  <a:srgbClr val="004A8F"/>
                </a:solidFill>
                <a:latin typeface="Calibri"/>
              </a:rPr>
              <a:t> de </a:t>
            </a:r>
            <a:r>
              <a:rPr sz="4000" b="1" dirty="0" err="1">
                <a:solidFill>
                  <a:srgbClr val="004A8F"/>
                </a:solidFill>
                <a:latin typeface="Calibri"/>
              </a:rPr>
              <a:t>nós</a:t>
            </a:r>
            <a:r>
              <a:rPr sz="4000" b="1" dirty="0">
                <a:solidFill>
                  <a:srgbClr val="004A8F"/>
                </a:solidFill>
                <a:latin typeface="Calibri"/>
              </a:rPr>
              <a:t>:  </a:t>
            </a:r>
            <a:r>
              <a:rPr sz="4000" dirty="0" err="1">
                <a:solidFill>
                  <a:srgbClr val="262626"/>
                </a:solidFill>
                <a:latin typeface="Calibri"/>
              </a:rPr>
              <a:t>deixe</a:t>
            </a:r>
            <a:r>
              <a:rPr sz="4000" dirty="0">
                <a:solidFill>
                  <a:srgbClr val="262626"/>
                </a:solidFill>
                <a:latin typeface="Calibri"/>
              </a:rPr>
              <a:t> </a:t>
            </a:r>
            <a:r>
              <a:rPr sz="4000" dirty="0" err="1">
                <a:solidFill>
                  <a:srgbClr val="262626"/>
                </a:solidFill>
                <a:latin typeface="Calibri"/>
              </a:rPr>
              <a:t>em</a:t>
            </a:r>
            <a:r>
              <a:rPr sz="4000" dirty="0">
                <a:solidFill>
                  <a:srgbClr val="262626"/>
                </a:solidFill>
                <a:latin typeface="Calibri"/>
              </a:rPr>
              <a:t> 1 — </a:t>
            </a:r>
            <a:r>
              <a:rPr sz="4000" dirty="0" err="1">
                <a:solidFill>
                  <a:srgbClr val="262626"/>
                </a:solidFill>
                <a:latin typeface="Calibri"/>
              </a:rPr>
              <a:t>suficiente</a:t>
            </a:r>
            <a:r>
              <a:rPr sz="4000" dirty="0">
                <a:solidFill>
                  <a:srgbClr val="262626"/>
                </a:solidFill>
                <a:latin typeface="Calibri"/>
              </a:rPr>
              <a:t> para o Kubeflow Pipelines standalone (Aula 05) e </a:t>
            </a:r>
            <a:r>
              <a:rPr sz="4000" dirty="0" err="1">
                <a:solidFill>
                  <a:srgbClr val="262626"/>
                </a:solidFill>
                <a:latin typeface="Calibri"/>
              </a:rPr>
              <a:t>evita</a:t>
            </a:r>
            <a:r>
              <a:rPr sz="4000" dirty="0">
                <a:solidFill>
                  <a:srgbClr val="262626"/>
                </a:solidFill>
                <a:latin typeface="Calibri"/>
              </a:rPr>
              <a:t> </a:t>
            </a:r>
            <a:r>
              <a:rPr sz="4000" dirty="0" err="1">
                <a:solidFill>
                  <a:srgbClr val="262626"/>
                </a:solidFill>
                <a:latin typeface="Calibri"/>
              </a:rPr>
              <a:t>consumo</a:t>
            </a:r>
            <a:r>
              <a:rPr sz="4000" dirty="0">
                <a:solidFill>
                  <a:srgbClr val="262626"/>
                </a:solidFill>
                <a:latin typeface="Calibri"/>
              </a:rPr>
              <a:t> </a:t>
            </a:r>
            <a:r>
              <a:rPr sz="4000" dirty="0" err="1">
                <a:solidFill>
                  <a:srgbClr val="262626"/>
                </a:solidFill>
                <a:latin typeface="Calibri"/>
              </a:rPr>
              <a:t>desnecessário</a:t>
            </a:r>
            <a:r>
              <a:rPr sz="4000" dirty="0">
                <a:solidFill>
                  <a:srgbClr val="262626"/>
                </a:solidFill>
                <a:latin typeface="Calibri"/>
              </a:rPr>
              <a:t> de CPU/</a:t>
            </a:r>
            <a:r>
              <a:rPr sz="4000" dirty="0" err="1">
                <a:solidFill>
                  <a:srgbClr val="262626"/>
                </a:solidFill>
                <a:latin typeface="Calibri"/>
              </a:rPr>
              <a:t>memória</a:t>
            </a:r>
            <a:r>
              <a:rPr sz="4000" dirty="0">
                <a:solidFill>
                  <a:srgbClr val="262626"/>
                </a:solidFill>
                <a:latin typeface="Calibri"/>
              </a:rPr>
              <a:t>.</a:t>
            </a:r>
          </a:p>
          <a:p>
            <a:pPr algn="l">
              <a:spcBef>
                <a:spcPts val="0"/>
              </a:spcBef>
              <a:spcAft>
                <a:spcPts val="1800"/>
              </a:spcAft>
            </a:pPr>
            <a:r>
              <a:rPr sz="4000" b="1" dirty="0" err="1">
                <a:solidFill>
                  <a:srgbClr val="004A8F"/>
                </a:solidFill>
                <a:latin typeface="Calibri"/>
              </a:rPr>
              <a:t>Versão</a:t>
            </a:r>
            <a:r>
              <a:rPr sz="4000" b="1" dirty="0">
                <a:solidFill>
                  <a:srgbClr val="004A8F"/>
                </a:solidFill>
                <a:latin typeface="Calibri"/>
              </a:rPr>
              <a:t> do Kubernetes:  </a:t>
            </a:r>
            <a:r>
              <a:rPr sz="4000" dirty="0" err="1">
                <a:solidFill>
                  <a:srgbClr val="262626"/>
                </a:solidFill>
                <a:latin typeface="Calibri"/>
              </a:rPr>
              <a:t>pode</a:t>
            </a:r>
            <a:r>
              <a:rPr sz="4000" dirty="0">
                <a:solidFill>
                  <a:srgbClr val="262626"/>
                </a:solidFill>
                <a:latin typeface="Calibri"/>
              </a:rPr>
              <a:t> </a:t>
            </a:r>
            <a:r>
              <a:rPr sz="4000" dirty="0" err="1">
                <a:solidFill>
                  <a:srgbClr val="262626"/>
                </a:solidFill>
                <a:latin typeface="Calibri"/>
              </a:rPr>
              <a:t>manter</a:t>
            </a:r>
            <a:r>
              <a:rPr sz="4000" dirty="0">
                <a:solidFill>
                  <a:srgbClr val="262626"/>
                </a:solidFill>
                <a:latin typeface="Calibri"/>
              </a:rPr>
              <a:t> a </a:t>
            </a:r>
            <a:r>
              <a:rPr sz="4000" dirty="0" err="1">
                <a:solidFill>
                  <a:srgbClr val="262626"/>
                </a:solidFill>
                <a:latin typeface="Calibri"/>
              </a:rPr>
              <a:t>mais</a:t>
            </a:r>
            <a:r>
              <a:rPr sz="4000" dirty="0">
                <a:solidFill>
                  <a:srgbClr val="262626"/>
                </a:solidFill>
                <a:latin typeface="Calibri"/>
              </a:rPr>
              <a:t> </a:t>
            </a:r>
            <a:r>
              <a:rPr sz="4000" dirty="0" err="1">
                <a:solidFill>
                  <a:srgbClr val="262626"/>
                </a:solidFill>
                <a:latin typeface="Calibri"/>
              </a:rPr>
              <a:t>recente</a:t>
            </a:r>
            <a:r>
              <a:rPr sz="4000" dirty="0">
                <a:solidFill>
                  <a:srgbClr val="262626"/>
                </a:solidFill>
                <a:latin typeface="Calibri"/>
              </a:rPr>
              <a:t> </a:t>
            </a:r>
            <a:r>
              <a:rPr sz="4000" dirty="0" err="1">
                <a:solidFill>
                  <a:srgbClr val="262626"/>
                </a:solidFill>
                <a:latin typeface="Calibri"/>
              </a:rPr>
              <a:t>sugerida</a:t>
            </a:r>
            <a:r>
              <a:rPr sz="4000" dirty="0">
                <a:solidFill>
                  <a:srgbClr val="262626"/>
                </a:solidFill>
                <a:latin typeface="Calibri"/>
              </a:rPr>
              <a:t> </a:t>
            </a:r>
            <a:r>
              <a:rPr sz="4000" dirty="0" err="1">
                <a:solidFill>
                  <a:srgbClr val="262626"/>
                </a:solidFill>
                <a:latin typeface="Calibri"/>
              </a:rPr>
              <a:t>pelo</a:t>
            </a:r>
            <a:r>
              <a:rPr sz="4000" dirty="0">
                <a:solidFill>
                  <a:srgbClr val="262626"/>
                </a:solidFill>
                <a:latin typeface="Calibri"/>
              </a:rPr>
              <a:t> dropdown, </a:t>
            </a:r>
            <a:r>
              <a:rPr sz="4000" dirty="0" err="1">
                <a:solidFill>
                  <a:srgbClr val="262626"/>
                </a:solidFill>
                <a:latin typeface="Calibri"/>
              </a:rPr>
              <a:t>sem</a:t>
            </a:r>
            <a:r>
              <a:rPr sz="4000" dirty="0">
                <a:solidFill>
                  <a:srgbClr val="262626"/>
                </a:solidFill>
                <a:latin typeface="Calibri"/>
              </a:rPr>
              <a:t> </a:t>
            </a:r>
            <a:r>
              <a:rPr sz="4000" dirty="0" err="1">
                <a:solidFill>
                  <a:srgbClr val="262626"/>
                </a:solidFill>
                <a:latin typeface="Calibri"/>
              </a:rPr>
              <a:t>necessidade</a:t>
            </a:r>
            <a:r>
              <a:rPr sz="4000" dirty="0">
                <a:solidFill>
                  <a:srgbClr val="262626"/>
                </a:solidFill>
                <a:latin typeface="Calibri"/>
              </a:rPr>
              <a:t> de </a:t>
            </a:r>
            <a:r>
              <a:rPr sz="4000" dirty="0" err="1">
                <a:solidFill>
                  <a:srgbClr val="262626"/>
                </a:solidFill>
                <a:latin typeface="Calibri"/>
              </a:rPr>
              <a:t>fixar</a:t>
            </a:r>
            <a:r>
              <a:rPr sz="4000" dirty="0">
                <a:solidFill>
                  <a:srgbClr val="262626"/>
                </a:solidFill>
                <a:latin typeface="Calibri"/>
              </a:rPr>
              <a:t> </a:t>
            </a:r>
            <a:r>
              <a:rPr sz="4000" dirty="0" err="1">
                <a:solidFill>
                  <a:srgbClr val="262626"/>
                </a:solidFill>
                <a:latin typeface="Calibri"/>
              </a:rPr>
              <a:t>uma</a:t>
            </a:r>
            <a:r>
              <a:rPr sz="4000" dirty="0">
                <a:solidFill>
                  <a:srgbClr val="262626"/>
                </a:solidFill>
                <a:latin typeface="Calibri"/>
              </a:rPr>
              <a:t> </a:t>
            </a:r>
            <a:r>
              <a:rPr sz="4000" dirty="0" err="1">
                <a:solidFill>
                  <a:srgbClr val="262626"/>
                </a:solidFill>
                <a:latin typeface="Calibri"/>
              </a:rPr>
              <a:t>versão</a:t>
            </a:r>
            <a:r>
              <a:rPr sz="4000" dirty="0">
                <a:solidFill>
                  <a:srgbClr val="262626"/>
                </a:solidFill>
                <a:latin typeface="Calibri"/>
              </a:rPr>
              <a:t> </a:t>
            </a:r>
            <a:r>
              <a:rPr sz="4000" dirty="0" err="1">
                <a:solidFill>
                  <a:srgbClr val="262626"/>
                </a:solidFill>
                <a:latin typeface="Calibri"/>
              </a:rPr>
              <a:t>específica</a:t>
            </a:r>
            <a:r>
              <a:rPr sz="4000" dirty="0">
                <a:solidFill>
                  <a:srgbClr val="262626"/>
                </a:solidFill>
                <a:latin typeface="Calibri"/>
              </a:rPr>
              <a:t>.</a:t>
            </a:r>
          </a:p>
          <a:p>
            <a:pPr algn="l">
              <a:spcBef>
                <a:spcPts val="0"/>
              </a:spcBef>
              <a:spcAft>
                <a:spcPts val="1800"/>
              </a:spcAft>
            </a:pPr>
            <a:r>
              <a:rPr sz="4000" b="1" dirty="0">
                <a:solidFill>
                  <a:srgbClr val="004A8F"/>
                </a:solidFill>
                <a:latin typeface="Calibri"/>
              </a:rPr>
              <a:t>Por </a:t>
            </a:r>
            <a:r>
              <a:rPr sz="4000" b="1" dirty="0" err="1">
                <a:solidFill>
                  <a:srgbClr val="004A8F"/>
                </a:solidFill>
                <a:latin typeface="Calibri"/>
              </a:rPr>
              <a:t>trás</a:t>
            </a:r>
            <a:r>
              <a:rPr sz="4000" b="1" dirty="0">
                <a:solidFill>
                  <a:srgbClr val="004A8F"/>
                </a:solidFill>
                <a:latin typeface="Calibri"/>
              </a:rPr>
              <a:t> dos </a:t>
            </a:r>
            <a:r>
              <a:rPr sz="4000" b="1" dirty="0" err="1">
                <a:solidFill>
                  <a:srgbClr val="004A8F"/>
                </a:solidFill>
                <a:latin typeface="Calibri"/>
              </a:rPr>
              <a:t>panos</a:t>
            </a:r>
            <a:r>
              <a:rPr sz="4000" b="1" dirty="0">
                <a:solidFill>
                  <a:srgbClr val="004A8F"/>
                </a:solidFill>
                <a:latin typeface="Calibri"/>
              </a:rPr>
              <a:t>:  </a:t>
            </a:r>
            <a:r>
              <a:rPr sz="4000" dirty="0">
                <a:solidFill>
                  <a:srgbClr val="262626"/>
                </a:solidFill>
                <a:latin typeface="Calibri"/>
              </a:rPr>
              <a:t>o Docker Desktop </a:t>
            </a:r>
            <a:r>
              <a:rPr sz="4000" dirty="0" err="1">
                <a:solidFill>
                  <a:srgbClr val="262626"/>
                </a:solidFill>
                <a:latin typeface="Calibri"/>
              </a:rPr>
              <a:t>usa</a:t>
            </a:r>
            <a:r>
              <a:rPr sz="4000" dirty="0">
                <a:solidFill>
                  <a:srgbClr val="262626"/>
                </a:solidFill>
                <a:latin typeface="Calibri"/>
              </a:rPr>
              <a:t> o kind (Kubernetes-in-Docker) — </a:t>
            </a:r>
            <a:r>
              <a:rPr sz="4000" dirty="0" err="1">
                <a:solidFill>
                  <a:srgbClr val="262626"/>
                </a:solidFill>
                <a:latin typeface="Calibri"/>
              </a:rPr>
              <a:t>cada</a:t>
            </a:r>
            <a:r>
              <a:rPr sz="4000" dirty="0">
                <a:solidFill>
                  <a:srgbClr val="262626"/>
                </a:solidFill>
                <a:latin typeface="Calibri"/>
              </a:rPr>
              <a:t> "</a:t>
            </a:r>
            <a:r>
              <a:rPr sz="4000" dirty="0" err="1">
                <a:solidFill>
                  <a:srgbClr val="262626"/>
                </a:solidFill>
                <a:latin typeface="Calibri"/>
              </a:rPr>
              <a:t>nó</a:t>
            </a:r>
            <a:r>
              <a:rPr sz="4000" dirty="0">
                <a:solidFill>
                  <a:srgbClr val="262626"/>
                </a:solidFill>
                <a:latin typeface="Calibri"/>
              </a:rPr>
              <a:t>" </a:t>
            </a:r>
            <a:r>
              <a:rPr sz="4000" dirty="0" err="1">
                <a:solidFill>
                  <a:srgbClr val="262626"/>
                </a:solidFill>
                <a:latin typeface="Calibri"/>
              </a:rPr>
              <a:t>roda</a:t>
            </a:r>
            <a:r>
              <a:rPr sz="4000" dirty="0">
                <a:solidFill>
                  <a:srgbClr val="262626"/>
                </a:solidFill>
                <a:latin typeface="Calibri"/>
              </a:rPr>
              <a:t> </a:t>
            </a:r>
            <a:r>
              <a:rPr sz="4000" dirty="0" err="1">
                <a:solidFill>
                  <a:srgbClr val="262626"/>
                </a:solidFill>
                <a:latin typeface="Calibri"/>
              </a:rPr>
              <a:t>como</a:t>
            </a:r>
            <a:r>
              <a:rPr sz="4000" dirty="0">
                <a:solidFill>
                  <a:srgbClr val="262626"/>
                </a:solidFill>
                <a:latin typeface="Calibri"/>
              </a:rPr>
              <a:t> um container Docker, </a:t>
            </a:r>
            <a:r>
              <a:rPr sz="4000" dirty="0" err="1">
                <a:solidFill>
                  <a:srgbClr val="262626"/>
                </a:solidFill>
                <a:latin typeface="Calibri"/>
              </a:rPr>
              <a:t>mais</a:t>
            </a:r>
            <a:r>
              <a:rPr sz="4000" dirty="0">
                <a:solidFill>
                  <a:srgbClr val="262626"/>
                </a:solidFill>
                <a:latin typeface="Calibri"/>
              </a:rPr>
              <a:t> </a:t>
            </a:r>
            <a:r>
              <a:rPr sz="4000" dirty="0" err="1">
                <a:solidFill>
                  <a:srgbClr val="262626"/>
                </a:solidFill>
                <a:latin typeface="Calibri"/>
              </a:rPr>
              <a:t>leve</a:t>
            </a:r>
            <a:r>
              <a:rPr sz="4000" dirty="0">
                <a:solidFill>
                  <a:srgbClr val="262626"/>
                </a:solidFill>
                <a:latin typeface="Calibri"/>
              </a:rPr>
              <a:t> </a:t>
            </a:r>
            <a:r>
              <a:rPr sz="4000" dirty="0" err="1">
                <a:solidFill>
                  <a:srgbClr val="262626"/>
                </a:solidFill>
                <a:latin typeface="Calibri"/>
              </a:rPr>
              <a:t>que</a:t>
            </a:r>
            <a:r>
              <a:rPr sz="4000" dirty="0">
                <a:solidFill>
                  <a:srgbClr val="262626"/>
                </a:solidFill>
                <a:latin typeface="Calibri"/>
              </a:rPr>
              <a:t> o </a:t>
            </a:r>
            <a:r>
              <a:rPr sz="4000" dirty="0" err="1">
                <a:solidFill>
                  <a:srgbClr val="262626"/>
                </a:solidFill>
                <a:latin typeface="Calibri"/>
              </a:rPr>
              <a:t>antigo</a:t>
            </a:r>
            <a:r>
              <a:rPr sz="4000" dirty="0">
                <a:solidFill>
                  <a:srgbClr val="262626"/>
                </a:solidFill>
                <a:latin typeface="Calibri"/>
              </a:rPr>
              <a:t> </a:t>
            </a:r>
            <a:r>
              <a:rPr sz="4000" dirty="0" err="1">
                <a:solidFill>
                  <a:srgbClr val="262626"/>
                </a:solidFill>
                <a:latin typeface="Calibri"/>
              </a:rPr>
              <a:t>kubeadm</a:t>
            </a:r>
            <a:r>
              <a:rPr sz="4000" dirty="0">
                <a:solidFill>
                  <a:srgbClr val="262626"/>
                </a:solidFill>
                <a:latin typeface="Calibri"/>
              </a:rPr>
              <a:t>.</a:t>
            </a:r>
          </a:p>
          <a:p>
            <a:pPr algn="l">
              <a:spcBef>
                <a:spcPts val="0"/>
              </a:spcBef>
              <a:spcAft>
                <a:spcPts val="1800"/>
              </a:spcAft>
            </a:pPr>
            <a:r>
              <a:rPr sz="4000" b="1" dirty="0" err="1">
                <a:solidFill>
                  <a:srgbClr val="004A8F"/>
                </a:solidFill>
                <a:latin typeface="Calibri"/>
              </a:rPr>
              <a:t>Resultado</a:t>
            </a:r>
            <a:r>
              <a:rPr sz="4000" b="1" dirty="0">
                <a:solidFill>
                  <a:srgbClr val="004A8F"/>
                </a:solidFill>
                <a:latin typeface="Calibri"/>
              </a:rPr>
              <a:t> </a:t>
            </a:r>
            <a:r>
              <a:rPr sz="4000" b="1" dirty="0" err="1">
                <a:solidFill>
                  <a:srgbClr val="004A8F"/>
                </a:solidFill>
                <a:latin typeface="Calibri"/>
              </a:rPr>
              <a:t>esperado</a:t>
            </a:r>
            <a:r>
              <a:rPr sz="4000" b="1" dirty="0">
                <a:solidFill>
                  <a:srgbClr val="004A8F"/>
                </a:solidFill>
                <a:latin typeface="Calibri"/>
              </a:rPr>
              <a:t>:  </a:t>
            </a:r>
            <a:r>
              <a:rPr sz="4000" dirty="0">
                <a:solidFill>
                  <a:srgbClr val="262626"/>
                </a:solidFill>
                <a:latin typeface="Calibri"/>
              </a:rPr>
              <a:t>o </a:t>
            </a:r>
            <a:r>
              <a:rPr sz="4000" dirty="0" err="1">
                <a:solidFill>
                  <a:srgbClr val="262626"/>
                </a:solidFill>
                <a:latin typeface="Calibri"/>
              </a:rPr>
              <a:t>ícone</a:t>
            </a:r>
            <a:r>
              <a:rPr sz="4000" dirty="0">
                <a:solidFill>
                  <a:srgbClr val="262626"/>
                </a:solidFill>
                <a:latin typeface="Calibri"/>
              </a:rPr>
              <a:t> do Kubernetes </a:t>
            </a:r>
            <a:r>
              <a:rPr sz="4000" dirty="0" err="1">
                <a:solidFill>
                  <a:srgbClr val="262626"/>
                </a:solidFill>
                <a:latin typeface="Calibri"/>
              </a:rPr>
              <a:t>fica</a:t>
            </a:r>
            <a:r>
              <a:rPr sz="4000" dirty="0">
                <a:solidFill>
                  <a:srgbClr val="262626"/>
                </a:solidFill>
                <a:latin typeface="Calibri"/>
              </a:rPr>
              <a:t> </a:t>
            </a:r>
            <a:r>
              <a:rPr sz="4000" dirty="0" err="1">
                <a:solidFill>
                  <a:srgbClr val="262626"/>
                </a:solidFill>
                <a:latin typeface="Calibri"/>
              </a:rPr>
              <a:t>verde</a:t>
            </a:r>
            <a:r>
              <a:rPr sz="4000" dirty="0">
                <a:solidFill>
                  <a:srgbClr val="262626"/>
                </a:solidFill>
                <a:latin typeface="Calibri"/>
              </a:rPr>
              <a:t> no Docker Desktop.</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Criação dos Dados com um Prompt de IA</a:t>
            </a:r>
          </a:p>
        </p:txBody>
      </p:sp>
      <p:sp>
        <p:nvSpPr>
          <p:cNvPr id="3" name="Content Placeholder 2"/>
          <p:cNvSpPr>
            <a:spLocks noGrp="1"/>
          </p:cNvSpPr>
          <p:nvPr>
            <p:ph idx="1"/>
          </p:nvPr>
        </p:nvSpPr>
        <p:spPr>
          <a:xfrm flipH="1">
            <a:off x="1799771" y="7550000"/>
            <a:ext cx="18621829" cy="2000000"/>
          </a:xfrm>
        </p:spPr>
        <p:txBody>
          <a:bodyPr wrap="square" anchor="t">
            <a:normAutofit/>
          </a:bodyPr>
          <a:lstStyle/>
          <a:p>
            <a:pPr algn="l">
              <a:spcBef>
                <a:spcPts val="0"/>
              </a:spcBef>
              <a:spcAft>
                <a:spcPts val="1200"/>
              </a:spcAft>
              <a:buNone/>
            </a:pPr>
            <a:r>
              <a:rPr sz="2600" dirty="0">
                <a:solidFill>
                  <a:srgbClr val="595959"/>
                </a:solidFill>
                <a:latin typeface="Calibri"/>
              </a:rPr>
              <a:t>O Passo A2-4 do Manual da Aula 01 </a:t>
            </a:r>
            <a:r>
              <a:rPr sz="2600" dirty="0" err="1">
                <a:solidFill>
                  <a:srgbClr val="595959"/>
                </a:solidFill>
                <a:latin typeface="Calibri"/>
              </a:rPr>
              <a:t>tinha</a:t>
            </a:r>
            <a:r>
              <a:rPr sz="2600" dirty="0">
                <a:solidFill>
                  <a:srgbClr val="595959"/>
                </a:solidFill>
                <a:latin typeface="Calibri"/>
              </a:rPr>
              <a:t> um prompt pronto — </a:t>
            </a:r>
            <a:r>
              <a:rPr sz="2600" dirty="0" err="1">
                <a:solidFill>
                  <a:srgbClr val="595959"/>
                </a:solidFill>
                <a:latin typeface="Calibri"/>
              </a:rPr>
              <a:t>hoje</a:t>
            </a:r>
            <a:r>
              <a:rPr sz="2600" dirty="0">
                <a:solidFill>
                  <a:srgbClr val="595959"/>
                </a:solidFill>
                <a:latin typeface="Calibri"/>
              </a:rPr>
              <a:t> é a </a:t>
            </a:r>
            <a:r>
              <a:rPr sz="2600" dirty="0" err="1">
                <a:solidFill>
                  <a:srgbClr val="595959"/>
                </a:solidFill>
                <a:latin typeface="Calibri"/>
              </a:rPr>
              <a:t>vez</a:t>
            </a:r>
            <a:r>
              <a:rPr sz="2600" dirty="0">
                <a:solidFill>
                  <a:srgbClr val="595959"/>
                </a:solidFill>
                <a:latin typeface="Calibri"/>
              </a:rPr>
              <a:t> de </a:t>
            </a:r>
            <a:r>
              <a:rPr sz="2600" dirty="0" err="1">
                <a:solidFill>
                  <a:srgbClr val="595959"/>
                </a:solidFill>
                <a:latin typeface="Calibri"/>
              </a:rPr>
              <a:t>rodar</a:t>
            </a:r>
            <a:r>
              <a:rPr sz="2600" dirty="0">
                <a:solidFill>
                  <a:srgbClr val="595959"/>
                </a:solidFill>
                <a:latin typeface="Calibri"/>
              </a:rPr>
              <a:t> </a:t>
            </a:r>
            <a:r>
              <a:rPr sz="2600" dirty="0" err="1">
                <a:solidFill>
                  <a:srgbClr val="595959"/>
                </a:solidFill>
                <a:latin typeface="Calibri"/>
              </a:rPr>
              <a:t>ele</a:t>
            </a:r>
            <a:r>
              <a:rPr sz="2600" dirty="0">
                <a:solidFill>
                  <a:srgbClr val="595959"/>
                </a:solidFill>
                <a:latin typeface="Calibri"/>
              </a:rPr>
              <a:t> de </a:t>
            </a:r>
            <a:r>
              <a:rPr sz="2600" dirty="0" err="1">
                <a:solidFill>
                  <a:srgbClr val="595959"/>
                </a:solidFill>
                <a:latin typeface="Calibri"/>
              </a:rPr>
              <a:t>verdade</a:t>
            </a:r>
            <a:r>
              <a:rPr sz="2600" dirty="0">
                <a:solidFill>
                  <a:srgbClr val="595959"/>
                </a:solidFill>
                <a:latin typeface="Calibri"/>
              </a:rPr>
              <a:t>, para o SEU </a:t>
            </a:r>
            <a:r>
              <a:rPr sz="2600" dirty="0" err="1">
                <a:solidFill>
                  <a:srgbClr val="595959"/>
                </a:solidFill>
                <a:latin typeface="Calibri"/>
              </a:rPr>
              <a:t>projeto</a:t>
            </a:r>
            <a:r>
              <a:rPr sz="2600" dirty="0">
                <a:solidFill>
                  <a:srgbClr val="595959"/>
                </a:solidFill>
                <a:latin typeface="Calibri"/>
              </a:rPr>
              <a:t>.</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PENDÊNCIA 2 DE 4</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Por Que Gerar Dados com IA Generativa</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O problema:  </a:t>
            </a:r>
            <a:r>
              <a:rPr sz="2800">
                <a:solidFill>
                  <a:srgbClr val="262626"/>
                </a:solidFill>
                <a:latin typeface="Calibri"/>
              </a:rPr>
              <a:t>no início do projeto raramente existe uma base de dados real, tratada e pronta para uso.</a:t>
            </a:r>
          </a:p>
          <a:p>
            <a:pPr algn="l">
              <a:spcBef>
                <a:spcPts val="0"/>
              </a:spcBef>
              <a:spcAft>
                <a:spcPts val="2000"/>
              </a:spcAft>
            </a:pPr>
            <a:r>
              <a:rPr sz="2800" b="1">
                <a:solidFill>
                  <a:srgbClr val="004A8F"/>
                </a:solidFill>
                <a:latin typeface="Calibri"/>
              </a:rPr>
              <a:t>A saída rápida:  </a:t>
            </a:r>
            <a:r>
              <a:rPr sz="2800">
                <a:solidFill>
                  <a:srgbClr val="262626"/>
                </a:solidFill>
                <a:latin typeface="Calibri"/>
              </a:rPr>
              <a:t>pedir a uma ferramenta de IA (ChatGPT, Claude, Gemini etc.) para gerar um CSV fictício, só para destravar o desenvolvimento.</a:t>
            </a:r>
          </a:p>
          <a:p>
            <a:pPr algn="l">
              <a:spcBef>
                <a:spcPts val="0"/>
              </a:spcBef>
              <a:spcAft>
                <a:spcPts val="2000"/>
              </a:spcAft>
            </a:pPr>
            <a:r>
              <a:rPr sz="2800" b="1">
                <a:solidFill>
                  <a:srgbClr val="004A8F"/>
                </a:solidFill>
                <a:latin typeface="Calibri"/>
              </a:rPr>
              <a:t>Importante:  </a:t>
            </a:r>
            <a:r>
              <a:rPr sz="2800">
                <a:solidFill>
                  <a:srgbClr val="262626"/>
                </a:solidFill>
                <a:latin typeface="Calibri"/>
              </a:rPr>
              <a:t>dados 100% sintéticos, sem qualquer informação real ou pessoal — nunca use dados reais de terceiros nessa etapa.</a:t>
            </a:r>
          </a:p>
          <a:p>
            <a:pPr algn="l">
              <a:spcBef>
                <a:spcPts val="0"/>
              </a:spcBef>
              <a:spcAft>
                <a:spcPts val="2000"/>
              </a:spcAft>
            </a:pPr>
            <a:r>
              <a:rPr sz="2800" b="1">
                <a:solidFill>
                  <a:srgbClr val="004A8F"/>
                </a:solidFill>
                <a:latin typeface="Calibri"/>
              </a:rPr>
              <a:t>No projeto-guia PCDF:  </a:t>
            </a:r>
            <a:r>
              <a:rPr sz="2800">
                <a:solidFill>
                  <a:srgbClr val="262626"/>
                </a:solidFill>
                <a:latin typeface="Calibri"/>
              </a:rPr>
              <a:t>foi assim que nasceu o bos_sinteticos.csv usado desde a Aula 01.</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400" b="1">
                <a:solidFill>
                  <a:srgbClr val="0070C0"/>
                </a:solidFill>
                <a:latin typeface="Calibri"/>
              </a:rPr>
              <a:t>O Prompt (Copie, Adapte ao Seu Tema, e Cole em uma Ferramenta de IA)</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14</a:t>
            </a:r>
          </a:p>
        </p:txBody>
      </p:sp>
      <p:sp>
        <p:nvSpPr>
          <p:cNvPr id="5" name="TextBox 4"/>
          <p:cNvSpPr txBox="1"/>
          <p:nvPr/>
        </p:nvSpPr>
        <p:spPr>
          <a:xfrm>
            <a:off x="1689100" y="3650191"/>
            <a:ext cx="19170650" cy="1077218"/>
          </a:xfrm>
          <a:prstGeom prst="rect">
            <a:avLst/>
          </a:prstGeom>
          <a:noFill/>
        </p:spPr>
        <p:txBody>
          <a:bodyPr wrap="square" anchor="t">
            <a:spAutoFit/>
          </a:bodyPr>
          <a:lstStyle/>
          <a:p>
            <a:pPr algn="l">
              <a:spcBef>
                <a:spcPts val="0"/>
              </a:spcBef>
              <a:spcAft>
                <a:spcPts val="0"/>
              </a:spcAft>
              <a:buNone/>
            </a:pPr>
            <a:r>
              <a:rPr sz="3200" dirty="0">
                <a:solidFill>
                  <a:srgbClr val="595959"/>
                </a:solidFill>
                <a:latin typeface="Calibri"/>
              </a:rPr>
              <a:t>Este é o prompt </a:t>
            </a:r>
            <a:r>
              <a:rPr sz="3200" dirty="0" err="1">
                <a:solidFill>
                  <a:srgbClr val="595959"/>
                </a:solidFill>
                <a:latin typeface="Calibri"/>
              </a:rPr>
              <a:t>exato</a:t>
            </a:r>
            <a:r>
              <a:rPr sz="3200" dirty="0">
                <a:solidFill>
                  <a:srgbClr val="595959"/>
                </a:solidFill>
                <a:latin typeface="Calibri"/>
              </a:rPr>
              <a:t> do Manual da Aula 01 (Passo A2-4) — para o SEU </a:t>
            </a:r>
            <a:r>
              <a:rPr sz="3200" dirty="0" err="1">
                <a:solidFill>
                  <a:srgbClr val="595959"/>
                </a:solidFill>
                <a:latin typeface="Calibri"/>
              </a:rPr>
              <a:t>projeto</a:t>
            </a:r>
            <a:r>
              <a:rPr sz="3200" dirty="0">
                <a:solidFill>
                  <a:srgbClr val="595959"/>
                </a:solidFill>
                <a:latin typeface="Calibri"/>
              </a:rPr>
              <a:t> individual, </a:t>
            </a:r>
            <a:r>
              <a:rPr sz="3200" dirty="0" err="1">
                <a:solidFill>
                  <a:srgbClr val="595959"/>
                </a:solidFill>
                <a:latin typeface="Calibri"/>
              </a:rPr>
              <a:t>adapte</a:t>
            </a:r>
            <a:r>
              <a:rPr sz="3200" dirty="0">
                <a:solidFill>
                  <a:srgbClr val="595959"/>
                </a:solidFill>
                <a:latin typeface="Calibri"/>
              </a:rPr>
              <a:t> o </a:t>
            </a:r>
            <a:r>
              <a:rPr sz="3200" dirty="0" err="1">
                <a:solidFill>
                  <a:srgbClr val="595959"/>
                </a:solidFill>
                <a:latin typeface="Calibri"/>
              </a:rPr>
              <a:t>tema</a:t>
            </a:r>
            <a:r>
              <a:rPr sz="3200" dirty="0">
                <a:solidFill>
                  <a:srgbClr val="595959"/>
                </a:solidFill>
                <a:latin typeface="Calibri"/>
              </a:rPr>
              <a:t>, as </a:t>
            </a:r>
            <a:r>
              <a:rPr sz="3200" dirty="0" err="1">
                <a:solidFill>
                  <a:srgbClr val="595959"/>
                </a:solidFill>
                <a:latin typeface="Calibri"/>
              </a:rPr>
              <a:t>colunas</a:t>
            </a:r>
            <a:r>
              <a:rPr sz="3200" dirty="0">
                <a:solidFill>
                  <a:srgbClr val="595959"/>
                </a:solidFill>
                <a:latin typeface="Calibri"/>
              </a:rPr>
              <a:t> e o </a:t>
            </a:r>
            <a:r>
              <a:rPr sz="3200" dirty="0" err="1">
                <a:solidFill>
                  <a:srgbClr val="595959"/>
                </a:solidFill>
                <a:latin typeface="Calibri"/>
              </a:rPr>
              <a:t>contexto</a:t>
            </a:r>
            <a:r>
              <a:rPr sz="3200" dirty="0">
                <a:solidFill>
                  <a:srgbClr val="595959"/>
                </a:solidFill>
                <a:latin typeface="Calibri"/>
              </a:rPr>
              <a:t>.</a:t>
            </a:r>
          </a:p>
        </p:txBody>
      </p:sp>
      <p:sp>
        <p:nvSpPr>
          <p:cNvPr id="6" name="Rounded Rectangle 5"/>
          <p:cNvSpPr/>
          <p:nvPr/>
        </p:nvSpPr>
        <p:spPr>
          <a:xfrm>
            <a:off x="1689100" y="5056900"/>
            <a:ext cx="19170650" cy="7173200"/>
          </a:xfrm>
          <a:prstGeom prst="roundRect">
            <a:avLst>
              <a:gd name="adj" fmla="val 5000"/>
            </a:avLst>
          </a:prstGeom>
          <a:solidFill>
            <a:srgbClr val="FDF3DE"/>
          </a:solidFill>
          <a:ln w="19050">
            <a:solidFill>
              <a:srgbClr val="F5AC00"/>
            </a:solidFill>
          </a:ln>
          <a:effectLst/>
        </p:spPr>
        <p:style>
          <a:lnRef idx="1">
            <a:schemeClr val="accent1"/>
          </a:lnRef>
          <a:fillRef idx="3">
            <a:schemeClr val="accent1"/>
          </a:fillRef>
          <a:effectRef idx="2">
            <a:schemeClr val="accent1"/>
          </a:effectRef>
          <a:fontRef idx="minor">
            <a:schemeClr val="lt1"/>
          </a:fontRef>
        </p:style>
        <p:txBody>
          <a:bodyPr wrap="square" lIns="280000" tIns="200000" rIns="280000" bIns="200000" rtlCol="0" anchor="ctr"/>
          <a:lstStyle/>
          <a:p>
            <a:pPr algn="l"/>
            <a:r>
              <a:rPr sz="4000" i="1">
                <a:solidFill>
                  <a:srgbClr val="262626"/>
                </a:solidFill>
                <a:latin typeface="Calibri"/>
              </a:rPr>
              <a:t>“Criar um arquivo de dados com o nome bos_sinteticos.csv com as colunas id,texto_relato, natureza e cerca de 30 registros variados e ficticios. O contexto será uma analise de relatos de vários tipos de crimes que estão acontecendo em uma certa cidade e serão usados para teste de analises de MlOps. Exemplo: id,texto_relato,natureza 1,"Comunicante relata que teve celular subtraido sem uso de violencia na parada de onibus",Furto 2,"Vitima informa que foi abordada por individuo armado que levou sua carteira",Roubo 3,"Comunicante recebeu mensagem falsa de banco e transferiu dinheiro para conta desconhecida",Estelionato”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Resultado Esperado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15</a:t>
            </a:r>
          </a:p>
        </p:txBody>
      </p:sp>
      <p:sp>
        <p:nvSpPr>
          <p:cNvPr id="5" name="TextBox 4"/>
          <p:cNvSpPr txBox="1"/>
          <p:nvPr/>
        </p:nvSpPr>
        <p:spPr>
          <a:xfrm>
            <a:off x="1689100" y="3237180"/>
            <a:ext cx="10706100" cy="2015936"/>
          </a:xfrm>
          <a:prstGeom prst="rect">
            <a:avLst/>
          </a:prstGeom>
          <a:noFill/>
        </p:spPr>
        <p:txBody>
          <a:bodyPr wrap="square" anchor="t">
            <a:spAutoFit/>
          </a:bodyPr>
          <a:lstStyle/>
          <a:p>
            <a:pPr algn="l">
              <a:spcBef>
                <a:spcPts val="0"/>
              </a:spcBef>
              <a:spcAft>
                <a:spcPts val="600"/>
              </a:spcAft>
            </a:pPr>
            <a:r>
              <a:rPr sz="4000" dirty="0">
                <a:solidFill>
                  <a:srgbClr val="262626"/>
                </a:solidFill>
                <a:latin typeface="Calibri"/>
              </a:rPr>
              <a:t>Salve o </a:t>
            </a:r>
            <a:r>
              <a:rPr sz="4000" dirty="0" err="1">
                <a:solidFill>
                  <a:srgbClr val="262626"/>
                </a:solidFill>
                <a:latin typeface="Calibri"/>
              </a:rPr>
              <a:t>arquivo</a:t>
            </a:r>
            <a:r>
              <a:rPr sz="4000" dirty="0">
                <a:solidFill>
                  <a:srgbClr val="262626"/>
                </a:solidFill>
                <a:latin typeface="Calibri"/>
              </a:rPr>
              <a:t> </a:t>
            </a:r>
            <a:r>
              <a:rPr sz="4000" dirty="0" err="1">
                <a:solidFill>
                  <a:srgbClr val="262626"/>
                </a:solidFill>
                <a:latin typeface="Calibri"/>
              </a:rPr>
              <a:t>gerado</a:t>
            </a:r>
            <a:r>
              <a:rPr sz="4000" dirty="0">
                <a:solidFill>
                  <a:srgbClr val="262626"/>
                </a:solidFill>
                <a:latin typeface="Calibri"/>
              </a:rPr>
              <a:t> </a:t>
            </a:r>
            <a:r>
              <a:rPr sz="4000" dirty="0" err="1">
                <a:solidFill>
                  <a:srgbClr val="262626"/>
                </a:solidFill>
                <a:latin typeface="Calibri"/>
              </a:rPr>
              <a:t>em</a:t>
            </a:r>
            <a:r>
              <a:rPr sz="4000" dirty="0">
                <a:solidFill>
                  <a:srgbClr val="262626"/>
                </a:solidFill>
                <a:latin typeface="Calibri"/>
              </a:rPr>
              <a:t> data/bos_sinteticos.csv </a:t>
            </a:r>
            <a:endParaRPr lang="en-US" sz="4000" dirty="0">
              <a:solidFill>
                <a:srgbClr val="262626"/>
              </a:solidFill>
              <a:latin typeface="Calibri"/>
            </a:endParaRPr>
          </a:p>
          <a:p>
            <a:pPr algn="l">
              <a:spcBef>
                <a:spcPts val="0"/>
              </a:spcBef>
              <a:spcAft>
                <a:spcPts val="600"/>
              </a:spcAft>
            </a:pPr>
            <a:r>
              <a:rPr sz="4000" dirty="0">
                <a:solidFill>
                  <a:srgbClr val="262626"/>
                </a:solidFill>
                <a:latin typeface="Calibri"/>
              </a:rPr>
              <a:t>(</a:t>
            </a:r>
            <a:r>
              <a:rPr sz="4000" dirty="0" err="1">
                <a:solidFill>
                  <a:srgbClr val="262626"/>
                </a:solidFill>
                <a:latin typeface="Calibri"/>
              </a:rPr>
              <a:t>ou</a:t>
            </a:r>
            <a:r>
              <a:rPr sz="4000" dirty="0">
                <a:solidFill>
                  <a:srgbClr val="262626"/>
                </a:solidFill>
                <a:latin typeface="Calibri"/>
              </a:rPr>
              <a:t> o </a:t>
            </a:r>
            <a:r>
              <a:rPr sz="4000" dirty="0" err="1">
                <a:solidFill>
                  <a:srgbClr val="262626"/>
                </a:solidFill>
                <a:latin typeface="Calibri"/>
              </a:rPr>
              <a:t>nome</a:t>
            </a:r>
            <a:r>
              <a:rPr sz="4000" dirty="0">
                <a:solidFill>
                  <a:srgbClr val="262626"/>
                </a:solidFill>
                <a:latin typeface="Calibri"/>
              </a:rPr>
              <a:t> </a:t>
            </a:r>
            <a:r>
              <a:rPr sz="4000" dirty="0" err="1">
                <a:solidFill>
                  <a:srgbClr val="262626"/>
                </a:solidFill>
                <a:latin typeface="Calibri"/>
              </a:rPr>
              <a:t>equivalente</a:t>
            </a:r>
            <a:r>
              <a:rPr sz="4000" dirty="0">
                <a:solidFill>
                  <a:srgbClr val="262626"/>
                </a:solidFill>
                <a:latin typeface="Calibri"/>
              </a:rPr>
              <a:t> do </a:t>
            </a:r>
            <a:r>
              <a:rPr sz="4000" dirty="0" err="1">
                <a:solidFill>
                  <a:srgbClr val="262626"/>
                </a:solidFill>
                <a:latin typeface="Calibri"/>
              </a:rPr>
              <a:t>seu</a:t>
            </a:r>
            <a:r>
              <a:rPr sz="4000" dirty="0">
                <a:solidFill>
                  <a:srgbClr val="262626"/>
                </a:solidFill>
                <a:latin typeface="Calibri"/>
              </a:rPr>
              <a:t> </a:t>
            </a:r>
            <a:r>
              <a:rPr sz="4000" dirty="0" err="1">
                <a:solidFill>
                  <a:srgbClr val="262626"/>
                </a:solidFill>
                <a:latin typeface="Calibri"/>
              </a:rPr>
              <a:t>projeto</a:t>
            </a:r>
            <a:r>
              <a:rPr sz="4000" dirty="0">
                <a:solidFill>
                  <a:srgbClr val="262626"/>
                </a:solidFill>
                <a:latin typeface="Calibri"/>
              </a:rPr>
              <a:t>)</a:t>
            </a:r>
          </a:p>
        </p:txBody>
      </p:sp>
      <p:sp>
        <p:nvSpPr>
          <p:cNvPr id="6" name="Rounded Rectangle 5"/>
          <p:cNvSpPr/>
          <p:nvPr/>
        </p:nvSpPr>
        <p:spPr>
          <a:xfrm>
            <a:off x="1689100" y="7228114"/>
            <a:ext cx="19170650" cy="5001986"/>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3200" dirty="0" err="1">
                <a:solidFill>
                  <a:srgbClr val="E8E8E8"/>
                </a:solidFill>
                <a:latin typeface="Consolas"/>
              </a:rPr>
              <a:t>id,texto_relato,natureza</a:t>
            </a:r>
            <a:endParaRPr sz="3200" dirty="0">
              <a:solidFill>
                <a:srgbClr val="E8E8E8"/>
              </a:solidFill>
              <a:latin typeface="Consolas"/>
            </a:endParaRPr>
          </a:p>
          <a:p>
            <a:pPr algn="l"/>
            <a:r>
              <a:rPr sz="3200" dirty="0">
                <a:solidFill>
                  <a:srgbClr val="E8E8E8"/>
                </a:solidFill>
                <a:latin typeface="Consolas"/>
              </a:rPr>
              <a:t>1,"Comunicante relata </a:t>
            </a:r>
            <a:r>
              <a:rPr sz="3200" dirty="0" err="1">
                <a:solidFill>
                  <a:srgbClr val="E8E8E8"/>
                </a:solidFill>
                <a:latin typeface="Consolas"/>
              </a:rPr>
              <a:t>que</a:t>
            </a:r>
            <a:r>
              <a:rPr sz="3200" dirty="0">
                <a:solidFill>
                  <a:srgbClr val="E8E8E8"/>
                </a:solidFill>
                <a:latin typeface="Consolas"/>
              </a:rPr>
              <a:t> </a:t>
            </a:r>
            <a:r>
              <a:rPr sz="3200" dirty="0" err="1">
                <a:solidFill>
                  <a:srgbClr val="E8E8E8"/>
                </a:solidFill>
                <a:latin typeface="Consolas"/>
              </a:rPr>
              <a:t>teve</a:t>
            </a:r>
            <a:r>
              <a:rPr sz="3200" dirty="0">
                <a:solidFill>
                  <a:srgbClr val="E8E8E8"/>
                </a:solidFill>
                <a:latin typeface="Consolas"/>
              </a:rPr>
              <a:t> </a:t>
            </a:r>
            <a:r>
              <a:rPr sz="4000" dirty="0" err="1">
                <a:solidFill>
                  <a:srgbClr val="E8E8E8"/>
                </a:solidFill>
                <a:latin typeface="Consolas"/>
              </a:rPr>
              <a:t>celular</a:t>
            </a:r>
            <a:r>
              <a:rPr sz="3200" dirty="0">
                <a:solidFill>
                  <a:srgbClr val="E8E8E8"/>
                </a:solidFill>
                <a:latin typeface="Consolas"/>
              </a:rPr>
              <a:t> </a:t>
            </a:r>
            <a:r>
              <a:rPr sz="3200" dirty="0" err="1">
                <a:solidFill>
                  <a:srgbClr val="E8E8E8"/>
                </a:solidFill>
                <a:latin typeface="Consolas"/>
              </a:rPr>
              <a:t>subtraido</a:t>
            </a:r>
            <a:r>
              <a:rPr sz="3200" dirty="0">
                <a:solidFill>
                  <a:srgbClr val="E8E8E8"/>
                </a:solidFill>
                <a:latin typeface="Consolas"/>
              </a:rPr>
              <a:t> </a:t>
            </a:r>
            <a:r>
              <a:rPr sz="3200" dirty="0" err="1">
                <a:solidFill>
                  <a:srgbClr val="E8E8E8"/>
                </a:solidFill>
                <a:latin typeface="Consolas"/>
              </a:rPr>
              <a:t>sem</a:t>
            </a:r>
            <a:r>
              <a:rPr sz="3200" dirty="0">
                <a:solidFill>
                  <a:srgbClr val="E8E8E8"/>
                </a:solidFill>
                <a:latin typeface="Consolas"/>
              </a:rPr>
              <a:t> </a:t>
            </a:r>
            <a:r>
              <a:rPr sz="3200" dirty="0" err="1">
                <a:solidFill>
                  <a:srgbClr val="E8E8E8"/>
                </a:solidFill>
                <a:latin typeface="Consolas"/>
              </a:rPr>
              <a:t>uso</a:t>
            </a:r>
            <a:r>
              <a:rPr sz="3200" dirty="0">
                <a:solidFill>
                  <a:srgbClr val="E8E8E8"/>
                </a:solidFill>
                <a:latin typeface="Consolas"/>
              </a:rPr>
              <a:t> de</a:t>
            </a:r>
            <a:r>
              <a:rPr lang="en-US" sz="3200" dirty="0">
                <a:solidFill>
                  <a:srgbClr val="E8E8E8"/>
                </a:solidFill>
                <a:latin typeface="Consolas"/>
              </a:rPr>
              <a:t> </a:t>
            </a:r>
            <a:r>
              <a:rPr sz="3200" dirty="0" err="1">
                <a:solidFill>
                  <a:srgbClr val="E8E8E8"/>
                </a:solidFill>
                <a:latin typeface="Consolas"/>
              </a:rPr>
              <a:t>violencia</a:t>
            </a:r>
            <a:r>
              <a:rPr sz="3200" dirty="0">
                <a:solidFill>
                  <a:srgbClr val="E8E8E8"/>
                </a:solidFill>
                <a:latin typeface="Consolas"/>
              </a:rPr>
              <a:t> </a:t>
            </a:r>
            <a:r>
              <a:rPr sz="3200" dirty="0" err="1">
                <a:solidFill>
                  <a:srgbClr val="E8E8E8"/>
                </a:solidFill>
                <a:latin typeface="Consolas"/>
              </a:rPr>
              <a:t>na</a:t>
            </a:r>
            <a:r>
              <a:rPr sz="3200" dirty="0">
                <a:solidFill>
                  <a:srgbClr val="E8E8E8"/>
                </a:solidFill>
                <a:latin typeface="Consolas"/>
              </a:rPr>
              <a:t> </a:t>
            </a:r>
            <a:r>
              <a:rPr sz="3200" dirty="0" err="1">
                <a:solidFill>
                  <a:srgbClr val="E8E8E8"/>
                </a:solidFill>
                <a:latin typeface="Consolas"/>
              </a:rPr>
              <a:t>parada</a:t>
            </a:r>
            <a:r>
              <a:rPr sz="3200" dirty="0">
                <a:solidFill>
                  <a:srgbClr val="E8E8E8"/>
                </a:solidFill>
                <a:latin typeface="Consolas"/>
              </a:rPr>
              <a:t> de </a:t>
            </a:r>
            <a:r>
              <a:rPr sz="3200" dirty="0" err="1">
                <a:solidFill>
                  <a:srgbClr val="E8E8E8"/>
                </a:solidFill>
                <a:latin typeface="Consolas"/>
              </a:rPr>
              <a:t>onibus</a:t>
            </a:r>
            <a:r>
              <a:rPr sz="3200" dirty="0">
                <a:solidFill>
                  <a:srgbClr val="E8E8E8"/>
                </a:solidFill>
                <a:latin typeface="Consolas"/>
              </a:rPr>
              <a:t>",</a:t>
            </a:r>
            <a:r>
              <a:rPr sz="3200" dirty="0" err="1">
                <a:solidFill>
                  <a:srgbClr val="E8E8E8"/>
                </a:solidFill>
                <a:latin typeface="Consolas"/>
              </a:rPr>
              <a:t>Furto</a:t>
            </a:r>
            <a:endParaRPr sz="3200" dirty="0">
              <a:solidFill>
                <a:srgbClr val="E8E8E8"/>
              </a:solidFill>
              <a:latin typeface="Consolas"/>
            </a:endParaRPr>
          </a:p>
          <a:p>
            <a:pPr algn="l"/>
            <a:r>
              <a:rPr sz="3200" dirty="0">
                <a:solidFill>
                  <a:srgbClr val="E8E8E8"/>
                </a:solidFill>
                <a:latin typeface="Consolas"/>
              </a:rPr>
              <a:t>2,"Vitima </a:t>
            </a:r>
            <a:r>
              <a:rPr sz="3200" dirty="0" err="1">
                <a:solidFill>
                  <a:srgbClr val="E8E8E8"/>
                </a:solidFill>
                <a:latin typeface="Consolas"/>
              </a:rPr>
              <a:t>informa</a:t>
            </a:r>
            <a:r>
              <a:rPr sz="3200" dirty="0">
                <a:solidFill>
                  <a:srgbClr val="E8E8E8"/>
                </a:solidFill>
                <a:latin typeface="Consolas"/>
              </a:rPr>
              <a:t> </a:t>
            </a:r>
            <a:r>
              <a:rPr sz="3200" dirty="0" err="1">
                <a:solidFill>
                  <a:srgbClr val="E8E8E8"/>
                </a:solidFill>
                <a:latin typeface="Consolas"/>
              </a:rPr>
              <a:t>que</a:t>
            </a:r>
            <a:r>
              <a:rPr sz="3200" dirty="0">
                <a:solidFill>
                  <a:srgbClr val="E8E8E8"/>
                </a:solidFill>
                <a:latin typeface="Consolas"/>
              </a:rPr>
              <a:t> </a:t>
            </a:r>
            <a:r>
              <a:rPr sz="3200" dirty="0" err="1">
                <a:solidFill>
                  <a:srgbClr val="E8E8E8"/>
                </a:solidFill>
                <a:latin typeface="Consolas"/>
              </a:rPr>
              <a:t>foi</a:t>
            </a:r>
            <a:r>
              <a:rPr sz="3200" dirty="0">
                <a:solidFill>
                  <a:srgbClr val="E8E8E8"/>
                </a:solidFill>
                <a:latin typeface="Consolas"/>
              </a:rPr>
              <a:t> </a:t>
            </a:r>
            <a:r>
              <a:rPr sz="3200" dirty="0" err="1">
                <a:solidFill>
                  <a:srgbClr val="E8E8E8"/>
                </a:solidFill>
                <a:latin typeface="Consolas"/>
              </a:rPr>
              <a:t>abordada</a:t>
            </a:r>
            <a:r>
              <a:rPr sz="3200" dirty="0">
                <a:solidFill>
                  <a:srgbClr val="E8E8E8"/>
                </a:solidFill>
                <a:latin typeface="Consolas"/>
              </a:rPr>
              <a:t> </a:t>
            </a:r>
            <a:r>
              <a:rPr sz="3200" dirty="0" err="1">
                <a:solidFill>
                  <a:srgbClr val="E8E8E8"/>
                </a:solidFill>
                <a:latin typeface="Consolas"/>
              </a:rPr>
              <a:t>por</a:t>
            </a:r>
            <a:r>
              <a:rPr sz="3200" dirty="0">
                <a:solidFill>
                  <a:srgbClr val="E8E8E8"/>
                </a:solidFill>
                <a:latin typeface="Consolas"/>
              </a:rPr>
              <a:t> </a:t>
            </a:r>
            <a:r>
              <a:rPr sz="3200" dirty="0" err="1">
                <a:solidFill>
                  <a:srgbClr val="E8E8E8"/>
                </a:solidFill>
                <a:latin typeface="Consolas"/>
              </a:rPr>
              <a:t>individuo</a:t>
            </a:r>
            <a:r>
              <a:rPr sz="3200" dirty="0">
                <a:solidFill>
                  <a:srgbClr val="E8E8E8"/>
                </a:solidFill>
                <a:latin typeface="Consolas"/>
              </a:rPr>
              <a:t> </a:t>
            </a:r>
            <a:r>
              <a:rPr sz="3200" dirty="0" err="1">
                <a:solidFill>
                  <a:srgbClr val="E8E8E8"/>
                </a:solidFill>
                <a:latin typeface="Consolas"/>
              </a:rPr>
              <a:t>armado</a:t>
            </a:r>
            <a:r>
              <a:rPr sz="3200" dirty="0">
                <a:solidFill>
                  <a:srgbClr val="E8E8E8"/>
                </a:solidFill>
                <a:latin typeface="Consolas"/>
              </a:rPr>
              <a:t> </a:t>
            </a:r>
            <a:r>
              <a:rPr sz="3200" dirty="0" err="1">
                <a:solidFill>
                  <a:srgbClr val="E8E8E8"/>
                </a:solidFill>
                <a:latin typeface="Consolas"/>
              </a:rPr>
              <a:t>que</a:t>
            </a:r>
            <a:r>
              <a:rPr lang="en-US" sz="3200" dirty="0">
                <a:solidFill>
                  <a:srgbClr val="E8E8E8"/>
                </a:solidFill>
                <a:latin typeface="Consolas"/>
              </a:rPr>
              <a:t> </a:t>
            </a:r>
            <a:r>
              <a:rPr sz="3200" dirty="0" err="1">
                <a:solidFill>
                  <a:srgbClr val="E8E8E8"/>
                </a:solidFill>
                <a:latin typeface="Consolas"/>
              </a:rPr>
              <a:t>levou</a:t>
            </a:r>
            <a:r>
              <a:rPr sz="3200" dirty="0">
                <a:solidFill>
                  <a:srgbClr val="E8E8E8"/>
                </a:solidFill>
                <a:latin typeface="Consolas"/>
              </a:rPr>
              <a:t> </a:t>
            </a:r>
            <a:r>
              <a:rPr sz="3200" dirty="0" err="1">
                <a:solidFill>
                  <a:srgbClr val="E8E8E8"/>
                </a:solidFill>
                <a:latin typeface="Consolas"/>
              </a:rPr>
              <a:t>sua</a:t>
            </a:r>
            <a:r>
              <a:rPr sz="3200" dirty="0">
                <a:solidFill>
                  <a:srgbClr val="E8E8E8"/>
                </a:solidFill>
                <a:latin typeface="Consolas"/>
              </a:rPr>
              <a:t> </a:t>
            </a:r>
            <a:r>
              <a:rPr sz="3200" dirty="0" err="1">
                <a:solidFill>
                  <a:srgbClr val="E8E8E8"/>
                </a:solidFill>
                <a:latin typeface="Consolas"/>
              </a:rPr>
              <a:t>carteira</a:t>
            </a:r>
            <a:r>
              <a:rPr sz="3200" dirty="0">
                <a:solidFill>
                  <a:srgbClr val="E8E8E8"/>
                </a:solidFill>
                <a:latin typeface="Consolas"/>
              </a:rPr>
              <a:t>",</a:t>
            </a:r>
            <a:r>
              <a:rPr sz="3200" dirty="0" err="1">
                <a:solidFill>
                  <a:srgbClr val="E8E8E8"/>
                </a:solidFill>
                <a:latin typeface="Consolas"/>
              </a:rPr>
              <a:t>Roubo</a:t>
            </a:r>
            <a:endParaRPr sz="3200" dirty="0">
              <a:solidFill>
                <a:srgbClr val="E8E8E8"/>
              </a:solidFill>
              <a:latin typeface="Consolas"/>
            </a:endParaRPr>
          </a:p>
          <a:p>
            <a:pPr algn="l"/>
            <a:r>
              <a:rPr sz="3200" dirty="0">
                <a:solidFill>
                  <a:srgbClr val="E8E8E8"/>
                </a:solidFill>
                <a:latin typeface="Consolas"/>
              </a:rPr>
              <a:t>3,"Comunicante </a:t>
            </a:r>
            <a:r>
              <a:rPr sz="3200" dirty="0" err="1">
                <a:solidFill>
                  <a:srgbClr val="E8E8E8"/>
                </a:solidFill>
                <a:latin typeface="Consolas"/>
              </a:rPr>
              <a:t>recebeu</a:t>
            </a:r>
            <a:r>
              <a:rPr sz="3200" dirty="0">
                <a:solidFill>
                  <a:srgbClr val="E8E8E8"/>
                </a:solidFill>
                <a:latin typeface="Consolas"/>
              </a:rPr>
              <a:t> </a:t>
            </a:r>
            <a:r>
              <a:rPr sz="3200" dirty="0" err="1">
                <a:solidFill>
                  <a:srgbClr val="E8E8E8"/>
                </a:solidFill>
                <a:latin typeface="Consolas"/>
              </a:rPr>
              <a:t>mensagem</a:t>
            </a:r>
            <a:r>
              <a:rPr sz="3200" dirty="0">
                <a:solidFill>
                  <a:srgbClr val="E8E8E8"/>
                </a:solidFill>
                <a:latin typeface="Consolas"/>
              </a:rPr>
              <a:t> falsa de banco e </a:t>
            </a:r>
            <a:r>
              <a:rPr sz="3200" dirty="0" err="1">
                <a:solidFill>
                  <a:srgbClr val="E8E8E8"/>
                </a:solidFill>
                <a:latin typeface="Consolas"/>
              </a:rPr>
              <a:t>transferiu</a:t>
            </a:r>
            <a:r>
              <a:rPr lang="en-US" sz="3200" dirty="0">
                <a:solidFill>
                  <a:srgbClr val="E8E8E8"/>
                </a:solidFill>
                <a:latin typeface="Consolas"/>
              </a:rPr>
              <a:t> </a:t>
            </a:r>
            <a:r>
              <a:rPr sz="3200" dirty="0" err="1">
                <a:solidFill>
                  <a:srgbClr val="E8E8E8"/>
                </a:solidFill>
                <a:latin typeface="Consolas"/>
              </a:rPr>
              <a:t>dinheiro</a:t>
            </a:r>
            <a:r>
              <a:rPr sz="3200" dirty="0">
                <a:solidFill>
                  <a:srgbClr val="E8E8E8"/>
                </a:solidFill>
                <a:latin typeface="Consolas"/>
              </a:rPr>
              <a:t> para </a:t>
            </a:r>
            <a:r>
              <a:rPr sz="3200" dirty="0" err="1">
                <a:solidFill>
                  <a:srgbClr val="E8E8E8"/>
                </a:solidFill>
                <a:latin typeface="Consolas"/>
              </a:rPr>
              <a:t>conta</a:t>
            </a:r>
            <a:r>
              <a:rPr sz="3200" dirty="0">
                <a:solidFill>
                  <a:srgbClr val="E8E8E8"/>
                </a:solidFill>
                <a:latin typeface="Consolas"/>
              </a:rPr>
              <a:t> </a:t>
            </a:r>
            <a:r>
              <a:rPr sz="3200" dirty="0" err="1">
                <a:solidFill>
                  <a:srgbClr val="E8E8E8"/>
                </a:solidFill>
                <a:latin typeface="Consolas"/>
              </a:rPr>
              <a:t>desconhecida</a:t>
            </a:r>
            <a:r>
              <a:rPr sz="3200" dirty="0">
                <a:solidFill>
                  <a:srgbClr val="E8E8E8"/>
                </a:solidFill>
                <a:latin typeface="Consolas"/>
              </a:rPr>
              <a:t>",</a:t>
            </a:r>
            <a:r>
              <a:rPr sz="3200" dirty="0" err="1">
                <a:solidFill>
                  <a:srgbClr val="E8E8E8"/>
                </a:solidFill>
                <a:latin typeface="Consolas"/>
              </a:rPr>
              <a:t>Estelionato</a:t>
            </a:r>
            <a:endParaRPr sz="3200" dirty="0">
              <a:solidFill>
                <a:srgbClr val="E8E8E8"/>
              </a:solidFill>
              <a:latin typeface="Consolas"/>
            </a:endParaRPr>
          </a:p>
          <a:p>
            <a:pPr algn="l"/>
            <a:r>
              <a:rPr sz="3200" dirty="0">
                <a:solidFill>
                  <a:srgbClr val="E8E8E8"/>
                </a:solidFill>
                <a:latin typeface="Consolas"/>
              </a:rPr>
              <a:t>...</a:t>
            </a:r>
          </a:p>
        </p:txBody>
      </p:sp>
      <p:pic>
        <p:nvPicPr>
          <p:cNvPr id="3" name="Imagem 2">
            <a:extLst>
              <a:ext uri="{FF2B5EF4-FFF2-40B4-BE49-F238E27FC236}">
                <a16:creationId xmlns:a16="http://schemas.microsoft.com/office/drawing/2014/main" id="{007FA9F4-43E3-48BF-4FA9-D6B06E4255BA}"/>
              </a:ext>
            </a:extLst>
          </p:cNvPr>
          <p:cNvPicPr>
            <a:picLocks noChangeAspect="1"/>
          </p:cNvPicPr>
          <p:nvPr/>
        </p:nvPicPr>
        <p:blipFill>
          <a:blip r:embed="rId2"/>
          <a:srcRect/>
          <a:stretch>
            <a:fillRect/>
          </a:stretch>
        </p:blipFill>
        <p:spPr bwMode="auto">
          <a:xfrm>
            <a:off x="11538857" y="1224641"/>
            <a:ext cx="9344739" cy="5451097"/>
          </a:xfrm>
          <a:prstGeom prst="rect">
            <a:avLst/>
          </a:prstGeom>
        </p:spPr>
      </p:pic>
      <p:cxnSp>
        <p:nvCxnSpPr>
          <p:cNvPr id="8" name="Conector de Seta Reta 7">
            <a:extLst>
              <a:ext uri="{FF2B5EF4-FFF2-40B4-BE49-F238E27FC236}">
                <a16:creationId xmlns:a16="http://schemas.microsoft.com/office/drawing/2014/main" id="{556923EA-79B6-58F5-6E8C-9B8EFD402202}"/>
              </a:ext>
            </a:extLst>
          </p:cNvPr>
          <p:cNvCxnSpPr/>
          <p:nvPr/>
        </p:nvCxnSpPr>
        <p:spPr>
          <a:xfrm flipV="1">
            <a:off x="6908800" y="2220686"/>
            <a:ext cx="6270171" cy="2002971"/>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Relação com o Dataset que Já Usamos em ML (Aula 01)</a:t>
            </a:r>
          </a:p>
        </p:txBody>
      </p:sp>
      <p:sp>
        <p:nvSpPr>
          <p:cNvPr id="3" name="Content Placeholder 2"/>
          <p:cNvSpPr>
            <a:spLocks noGrp="1"/>
          </p:cNvSpPr>
          <p:nvPr>
            <p:ph idx="1"/>
          </p:nvPr>
        </p:nvSpPr>
        <p:spPr/>
        <p:txBody>
          <a:bodyPr wrap="square" anchor="t">
            <a:normAutofit fontScale="92500" lnSpcReduction="10000"/>
          </a:bodyPr>
          <a:lstStyle/>
          <a:p>
            <a:pPr algn="l">
              <a:spcBef>
                <a:spcPts val="0"/>
              </a:spcBef>
              <a:spcAft>
                <a:spcPts val="2200"/>
              </a:spcAft>
            </a:pPr>
            <a:r>
              <a:rPr sz="4800" b="1" dirty="0">
                <a:solidFill>
                  <a:srgbClr val="004A8F"/>
                </a:solidFill>
                <a:latin typeface="Calibri"/>
              </a:rPr>
              <a:t>O dataset da demo:  </a:t>
            </a:r>
            <a:r>
              <a:rPr sz="4800" dirty="0">
                <a:solidFill>
                  <a:srgbClr val="262626"/>
                </a:solidFill>
                <a:latin typeface="Calibri"/>
              </a:rPr>
              <a:t>bos_sinteticos.csv </a:t>
            </a:r>
            <a:r>
              <a:rPr sz="4800" dirty="0" err="1">
                <a:solidFill>
                  <a:srgbClr val="262626"/>
                </a:solidFill>
                <a:latin typeface="Calibri"/>
              </a:rPr>
              <a:t>expandido</a:t>
            </a:r>
            <a:r>
              <a:rPr sz="4800" dirty="0">
                <a:solidFill>
                  <a:srgbClr val="262626"/>
                </a:solidFill>
                <a:latin typeface="Calibri"/>
              </a:rPr>
              <a:t> (com bairro, </a:t>
            </a:r>
            <a:r>
              <a:rPr sz="4800" dirty="0" err="1">
                <a:solidFill>
                  <a:srgbClr val="262626"/>
                </a:solidFill>
                <a:latin typeface="Calibri"/>
              </a:rPr>
              <a:t>turno</a:t>
            </a:r>
            <a:r>
              <a:rPr sz="4800" dirty="0">
                <a:solidFill>
                  <a:srgbClr val="262626"/>
                </a:solidFill>
                <a:latin typeface="Calibri"/>
              </a:rPr>
              <a:t>, valor de </a:t>
            </a:r>
            <a:r>
              <a:rPr sz="4800" dirty="0" err="1">
                <a:solidFill>
                  <a:srgbClr val="262626"/>
                </a:solidFill>
                <a:latin typeface="Calibri"/>
              </a:rPr>
              <a:t>prejuízo</a:t>
            </a:r>
            <a:r>
              <a:rPr sz="4800" dirty="0">
                <a:solidFill>
                  <a:srgbClr val="262626"/>
                </a:solidFill>
                <a:latin typeface="Calibri"/>
              </a:rPr>
              <a:t>, outliers </a:t>
            </a:r>
            <a:r>
              <a:rPr sz="4800" dirty="0" err="1">
                <a:solidFill>
                  <a:srgbClr val="262626"/>
                </a:solidFill>
                <a:latin typeface="Calibri"/>
              </a:rPr>
              <a:t>propositais</a:t>
            </a:r>
            <a:r>
              <a:rPr sz="4800" dirty="0">
                <a:solidFill>
                  <a:srgbClr val="262626"/>
                </a:solidFill>
                <a:latin typeface="Calibri"/>
              </a:rPr>
              <a:t>) </a:t>
            </a:r>
            <a:r>
              <a:rPr sz="4800" dirty="0" err="1">
                <a:solidFill>
                  <a:srgbClr val="262626"/>
                </a:solidFill>
                <a:latin typeface="Calibri"/>
              </a:rPr>
              <a:t>veio</a:t>
            </a:r>
            <a:r>
              <a:rPr sz="4800" dirty="0">
                <a:solidFill>
                  <a:srgbClr val="262626"/>
                </a:solidFill>
                <a:latin typeface="Calibri"/>
              </a:rPr>
              <a:t> </a:t>
            </a:r>
            <a:r>
              <a:rPr sz="4800" dirty="0" err="1">
                <a:solidFill>
                  <a:srgbClr val="262626"/>
                </a:solidFill>
                <a:latin typeface="Calibri"/>
              </a:rPr>
              <a:t>exatamente</a:t>
            </a:r>
            <a:r>
              <a:rPr sz="4800" dirty="0">
                <a:solidFill>
                  <a:srgbClr val="262626"/>
                </a:solidFill>
                <a:latin typeface="Calibri"/>
              </a:rPr>
              <a:t> </a:t>
            </a:r>
            <a:r>
              <a:rPr sz="4800" dirty="0" err="1">
                <a:solidFill>
                  <a:srgbClr val="262626"/>
                </a:solidFill>
                <a:latin typeface="Calibri"/>
              </a:rPr>
              <a:t>desse</a:t>
            </a:r>
            <a:r>
              <a:rPr sz="4800" dirty="0">
                <a:solidFill>
                  <a:srgbClr val="262626"/>
                </a:solidFill>
                <a:latin typeface="Calibri"/>
              </a:rPr>
              <a:t> </a:t>
            </a:r>
            <a:r>
              <a:rPr sz="4800" dirty="0" err="1">
                <a:solidFill>
                  <a:srgbClr val="262626"/>
                </a:solidFill>
                <a:latin typeface="Calibri"/>
              </a:rPr>
              <a:t>tipo</a:t>
            </a:r>
            <a:r>
              <a:rPr sz="4800" dirty="0">
                <a:solidFill>
                  <a:srgbClr val="262626"/>
                </a:solidFill>
                <a:latin typeface="Calibri"/>
              </a:rPr>
              <a:t> de </a:t>
            </a:r>
            <a:r>
              <a:rPr sz="4800" dirty="0" err="1">
                <a:solidFill>
                  <a:srgbClr val="262626"/>
                </a:solidFill>
                <a:latin typeface="Calibri"/>
              </a:rPr>
              <a:t>geração</a:t>
            </a:r>
            <a:r>
              <a:rPr sz="4800" dirty="0">
                <a:solidFill>
                  <a:srgbClr val="262626"/>
                </a:solidFill>
                <a:latin typeface="Calibri"/>
              </a:rPr>
              <a:t> </a:t>
            </a:r>
            <a:r>
              <a:rPr sz="4800" dirty="0" err="1">
                <a:solidFill>
                  <a:srgbClr val="262626"/>
                </a:solidFill>
                <a:latin typeface="Calibri"/>
              </a:rPr>
              <a:t>assistida</a:t>
            </a:r>
            <a:r>
              <a:rPr sz="4800" dirty="0">
                <a:solidFill>
                  <a:srgbClr val="262626"/>
                </a:solidFill>
                <a:latin typeface="Calibri"/>
              </a:rPr>
              <a:t>.</a:t>
            </a:r>
          </a:p>
          <a:p>
            <a:pPr algn="l">
              <a:spcBef>
                <a:spcPts val="0"/>
              </a:spcBef>
              <a:spcAft>
                <a:spcPts val="2200"/>
              </a:spcAft>
            </a:pPr>
            <a:r>
              <a:rPr sz="4800" b="1" dirty="0">
                <a:solidFill>
                  <a:srgbClr val="004A8F"/>
                </a:solidFill>
                <a:latin typeface="Calibri"/>
              </a:rPr>
              <a:t>No SEU </a:t>
            </a:r>
            <a:r>
              <a:rPr sz="4800" b="1" dirty="0" err="1">
                <a:solidFill>
                  <a:srgbClr val="004A8F"/>
                </a:solidFill>
                <a:latin typeface="Calibri"/>
              </a:rPr>
              <a:t>projeto</a:t>
            </a:r>
            <a:r>
              <a:rPr sz="4800" b="1" dirty="0">
                <a:solidFill>
                  <a:srgbClr val="004A8F"/>
                </a:solidFill>
                <a:latin typeface="Calibri"/>
              </a:rPr>
              <a:t>:  </a:t>
            </a:r>
            <a:r>
              <a:rPr sz="4800" dirty="0">
                <a:solidFill>
                  <a:srgbClr val="262626"/>
                </a:solidFill>
                <a:latin typeface="Calibri"/>
              </a:rPr>
              <a:t>o prompt de </a:t>
            </a:r>
            <a:r>
              <a:rPr sz="4800" dirty="0" err="1">
                <a:solidFill>
                  <a:srgbClr val="262626"/>
                </a:solidFill>
                <a:latin typeface="Calibri"/>
              </a:rPr>
              <a:t>hoje</a:t>
            </a:r>
            <a:r>
              <a:rPr sz="4800" dirty="0">
                <a:solidFill>
                  <a:srgbClr val="262626"/>
                </a:solidFill>
                <a:latin typeface="Calibri"/>
              </a:rPr>
              <a:t> </a:t>
            </a:r>
            <a:r>
              <a:rPr sz="4800" dirty="0" err="1">
                <a:solidFill>
                  <a:srgbClr val="262626"/>
                </a:solidFill>
                <a:latin typeface="Calibri"/>
              </a:rPr>
              <a:t>gera</a:t>
            </a:r>
            <a:r>
              <a:rPr sz="4800" dirty="0">
                <a:solidFill>
                  <a:srgbClr val="262626"/>
                </a:solidFill>
                <a:latin typeface="Calibri"/>
              </a:rPr>
              <a:t> a </a:t>
            </a:r>
            <a:r>
              <a:rPr sz="4800" dirty="0" err="1">
                <a:solidFill>
                  <a:srgbClr val="262626"/>
                </a:solidFill>
                <a:latin typeface="Calibri"/>
              </a:rPr>
              <a:t>primeira</a:t>
            </a:r>
            <a:r>
              <a:rPr sz="4800" dirty="0">
                <a:solidFill>
                  <a:srgbClr val="262626"/>
                </a:solidFill>
                <a:latin typeface="Calibri"/>
              </a:rPr>
              <a:t> </a:t>
            </a:r>
            <a:r>
              <a:rPr sz="4800" dirty="0" err="1">
                <a:solidFill>
                  <a:srgbClr val="262626"/>
                </a:solidFill>
                <a:latin typeface="Calibri"/>
              </a:rPr>
              <a:t>versão</a:t>
            </a:r>
            <a:r>
              <a:rPr sz="4800" dirty="0">
                <a:solidFill>
                  <a:srgbClr val="262626"/>
                </a:solidFill>
                <a:latin typeface="Calibri"/>
              </a:rPr>
              <a:t> simples (3 </a:t>
            </a:r>
            <a:r>
              <a:rPr sz="4800" dirty="0" err="1">
                <a:solidFill>
                  <a:srgbClr val="262626"/>
                </a:solidFill>
                <a:latin typeface="Calibri"/>
              </a:rPr>
              <a:t>colunas</a:t>
            </a:r>
            <a:r>
              <a:rPr sz="4800" dirty="0">
                <a:solidFill>
                  <a:srgbClr val="262626"/>
                </a:solidFill>
                <a:latin typeface="Calibri"/>
              </a:rPr>
              <a:t>) — </a:t>
            </a:r>
            <a:r>
              <a:rPr sz="4800" dirty="0" err="1">
                <a:solidFill>
                  <a:srgbClr val="262626"/>
                </a:solidFill>
                <a:latin typeface="Calibri"/>
              </a:rPr>
              <a:t>dá</a:t>
            </a:r>
            <a:r>
              <a:rPr sz="4800" dirty="0">
                <a:solidFill>
                  <a:srgbClr val="262626"/>
                </a:solidFill>
                <a:latin typeface="Calibri"/>
              </a:rPr>
              <a:t> para </a:t>
            </a:r>
            <a:r>
              <a:rPr sz="4800" dirty="0" err="1">
                <a:solidFill>
                  <a:srgbClr val="262626"/>
                </a:solidFill>
                <a:latin typeface="Calibri"/>
              </a:rPr>
              <a:t>pedir</a:t>
            </a:r>
            <a:r>
              <a:rPr sz="4800" dirty="0">
                <a:solidFill>
                  <a:srgbClr val="262626"/>
                </a:solidFill>
                <a:latin typeface="Calibri"/>
              </a:rPr>
              <a:t> à IA </a:t>
            </a:r>
            <a:r>
              <a:rPr sz="4800" dirty="0" err="1">
                <a:solidFill>
                  <a:srgbClr val="262626"/>
                </a:solidFill>
                <a:latin typeface="Calibri"/>
              </a:rPr>
              <a:t>generativa</a:t>
            </a:r>
            <a:r>
              <a:rPr sz="4800" dirty="0">
                <a:solidFill>
                  <a:srgbClr val="262626"/>
                </a:solidFill>
                <a:latin typeface="Calibri"/>
              </a:rPr>
              <a:t> </a:t>
            </a:r>
            <a:r>
              <a:rPr sz="4800" dirty="0" err="1">
                <a:solidFill>
                  <a:srgbClr val="262626"/>
                </a:solidFill>
                <a:latin typeface="Calibri"/>
              </a:rPr>
              <a:t>que</a:t>
            </a:r>
            <a:r>
              <a:rPr sz="4800" dirty="0">
                <a:solidFill>
                  <a:srgbClr val="262626"/>
                </a:solidFill>
                <a:latin typeface="Calibri"/>
              </a:rPr>
              <a:t> </a:t>
            </a:r>
            <a:r>
              <a:rPr sz="4800" dirty="0" err="1">
                <a:solidFill>
                  <a:srgbClr val="262626"/>
                </a:solidFill>
                <a:latin typeface="Calibri"/>
              </a:rPr>
              <a:t>expanda</a:t>
            </a:r>
            <a:r>
              <a:rPr sz="4800" dirty="0">
                <a:solidFill>
                  <a:srgbClr val="262626"/>
                </a:solidFill>
                <a:latin typeface="Calibri"/>
              </a:rPr>
              <a:t> com </a:t>
            </a:r>
            <a:r>
              <a:rPr sz="4800" dirty="0" err="1">
                <a:solidFill>
                  <a:srgbClr val="262626"/>
                </a:solidFill>
                <a:latin typeface="Calibri"/>
              </a:rPr>
              <a:t>mais</a:t>
            </a:r>
            <a:r>
              <a:rPr sz="4800" dirty="0">
                <a:solidFill>
                  <a:srgbClr val="262626"/>
                </a:solidFill>
                <a:latin typeface="Calibri"/>
              </a:rPr>
              <a:t> </a:t>
            </a:r>
            <a:r>
              <a:rPr sz="4800" dirty="0" err="1">
                <a:solidFill>
                  <a:srgbClr val="262626"/>
                </a:solidFill>
                <a:latin typeface="Calibri"/>
              </a:rPr>
              <a:t>colunas</a:t>
            </a:r>
            <a:r>
              <a:rPr sz="4800" dirty="0">
                <a:solidFill>
                  <a:srgbClr val="262626"/>
                </a:solidFill>
                <a:latin typeface="Calibri"/>
              </a:rPr>
              <a:t> </a:t>
            </a:r>
            <a:r>
              <a:rPr sz="4800" dirty="0" err="1">
                <a:solidFill>
                  <a:srgbClr val="262626"/>
                </a:solidFill>
                <a:latin typeface="Calibri"/>
              </a:rPr>
              <a:t>depois</a:t>
            </a:r>
            <a:r>
              <a:rPr sz="4800" dirty="0">
                <a:solidFill>
                  <a:srgbClr val="262626"/>
                </a:solidFill>
                <a:latin typeface="Calibri"/>
              </a:rPr>
              <a:t>, </a:t>
            </a:r>
            <a:r>
              <a:rPr sz="4800" dirty="0" err="1">
                <a:solidFill>
                  <a:srgbClr val="262626"/>
                </a:solidFill>
                <a:latin typeface="Calibri"/>
              </a:rPr>
              <a:t>seguindo</a:t>
            </a:r>
            <a:r>
              <a:rPr sz="4800" dirty="0">
                <a:solidFill>
                  <a:srgbClr val="262626"/>
                </a:solidFill>
                <a:latin typeface="Calibri"/>
              </a:rPr>
              <a:t> o </a:t>
            </a:r>
            <a:r>
              <a:rPr sz="4800" dirty="0" err="1">
                <a:solidFill>
                  <a:srgbClr val="262626"/>
                </a:solidFill>
                <a:latin typeface="Calibri"/>
              </a:rPr>
              <a:t>mesmo</a:t>
            </a:r>
            <a:r>
              <a:rPr sz="4800" dirty="0">
                <a:solidFill>
                  <a:srgbClr val="262626"/>
                </a:solidFill>
                <a:latin typeface="Calibri"/>
              </a:rPr>
              <a:t> </a:t>
            </a:r>
            <a:r>
              <a:rPr sz="4800" dirty="0" err="1">
                <a:solidFill>
                  <a:srgbClr val="262626"/>
                </a:solidFill>
                <a:latin typeface="Calibri"/>
              </a:rPr>
              <a:t>padrão</a:t>
            </a:r>
            <a:r>
              <a:rPr sz="4800" dirty="0">
                <a:solidFill>
                  <a:srgbClr val="262626"/>
                </a:solidFill>
                <a:latin typeface="Calibri"/>
              </a:rPr>
              <a:t>.</a:t>
            </a:r>
          </a:p>
          <a:p>
            <a:pPr algn="l">
              <a:spcBef>
                <a:spcPts val="0"/>
              </a:spcBef>
              <a:spcAft>
                <a:spcPts val="2200"/>
              </a:spcAft>
            </a:pPr>
            <a:r>
              <a:rPr sz="4800" b="1" dirty="0" err="1">
                <a:solidFill>
                  <a:srgbClr val="004A8F"/>
                </a:solidFill>
                <a:latin typeface="Calibri"/>
              </a:rPr>
              <a:t>Entregável</a:t>
            </a:r>
            <a:r>
              <a:rPr sz="4800" b="1" dirty="0">
                <a:solidFill>
                  <a:srgbClr val="004A8F"/>
                </a:solidFill>
                <a:latin typeface="Calibri"/>
              </a:rPr>
              <a:t> </a:t>
            </a:r>
            <a:r>
              <a:rPr sz="4800" b="1" dirty="0" err="1">
                <a:solidFill>
                  <a:srgbClr val="004A8F"/>
                </a:solidFill>
                <a:latin typeface="Calibri"/>
              </a:rPr>
              <a:t>direto</a:t>
            </a:r>
            <a:r>
              <a:rPr sz="4800" b="1" dirty="0">
                <a:solidFill>
                  <a:srgbClr val="004A8F"/>
                </a:solidFill>
                <a:latin typeface="Calibri"/>
              </a:rPr>
              <a:t>:  </a:t>
            </a:r>
            <a:r>
              <a:rPr sz="4800" dirty="0">
                <a:solidFill>
                  <a:srgbClr val="262626"/>
                </a:solidFill>
                <a:latin typeface="Calibri"/>
              </a:rPr>
              <a:t>o prompt </a:t>
            </a:r>
            <a:r>
              <a:rPr sz="4800" dirty="0" err="1">
                <a:solidFill>
                  <a:srgbClr val="262626"/>
                </a:solidFill>
                <a:latin typeface="Calibri"/>
              </a:rPr>
              <a:t>utilizado</a:t>
            </a:r>
            <a:r>
              <a:rPr sz="4800" dirty="0">
                <a:solidFill>
                  <a:srgbClr val="262626"/>
                </a:solidFill>
                <a:latin typeface="Calibri"/>
              </a:rPr>
              <a:t> e a </a:t>
            </a:r>
            <a:r>
              <a:rPr sz="4800" dirty="0" err="1">
                <a:solidFill>
                  <a:srgbClr val="262626"/>
                </a:solidFill>
                <a:latin typeface="Calibri"/>
              </a:rPr>
              <a:t>evidência</a:t>
            </a:r>
            <a:r>
              <a:rPr sz="4800" dirty="0">
                <a:solidFill>
                  <a:srgbClr val="262626"/>
                </a:solidFill>
                <a:latin typeface="Calibri"/>
              </a:rPr>
              <a:t> da </a:t>
            </a:r>
            <a:r>
              <a:rPr sz="4800" dirty="0" err="1">
                <a:solidFill>
                  <a:srgbClr val="262626"/>
                </a:solidFill>
                <a:latin typeface="Calibri"/>
              </a:rPr>
              <a:t>execução</a:t>
            </a:r>
            <a:r>
              <a:rPr sz="4800" dirty="0">
                <a:solidFill>
                  <a:srgbClr val="262626"/>
                </a:solidFill>
                <a:latin typeface="Calibri"/>
              </a:rPr>
              <a:t> </a:t>
            </a:r>
            <a:r>
              <a:rPr sz="4800" dirty="0" err="1">
                <a:solidFill>
                  <a:srgbClr val="262626"/>
                </a:solidFill>
                <a:latin typeface="Calibri"/>
              </a:rPr>
              <a:t>compõem</a:t>
            </a:r>
            <a:r>
              <a:rPr sz="4800" dirty="0">
                <a:solidFill>
                  <a:srgbClr val="262626"/>
                </a:solidFill>
                <a:latin typeface="Calibri"/>
              </a:rPr>
              <a:t> a Entrega 3 (item 1a).</a:t>
            </a:r>
            <a:endParaRPr lang="en-US" sz="4800" dirty="0">
              <a:solidFill>
                <a:srgbClr val="262626"/>
              </a:solidFill>
              <a:latin typeface="Calibri"/>
            </a:endParaRPr>
          </a:p>
          <a:p>
            <a:pPr algn="l">
              <a:spcBef>
                <a:spcPts val="0"/>
              </a:spcBef>
              <a:spcAft>
                <a:spcPts val="2200"/>
              </a:spcAft>
            </a:pPr>
            <a:r>
              <a:rPr lang="pt-BR" sz="4800" dirty="0">
                <a:solidFill>
                  <a:srgbClr val="262626"/>
                </a:solidFill>
                <a:latin typeface="Calibri"/>
              </a:rPr>
              <a:t>Adapte o prompt ao tema do seu projeto e rode em uma ferramenta de IA de sua preferência</a:t>
            </a:r>
          </a:p>
          <a:p>
            <a:pPr algn="l">
              <a:spcBef>
                <a:spcPts val="0"/>
              </a:spcBef>
              <a:spcAft>
                <a:spcPts val="2200"/>
              </a:spcAft>
            </a:pPr>
            <a:r>
              <a:rPr lang="pt-BR" sz="4800" dirty="0">
                <a:solidFill>
                  <a:srgbClr val="262626"/>
                </a:solidFill>
                <a:latin typeface="Calibri"/>
              </a:rPr>
              <a:t>Salve o resultado em data/ dentro do repositório do seu projeto individual</a:t>
            </a:r>
            <a:endParaRPr sz="4800" dirty="0">
              <a:solidFill>
                <a:srgbClr val="262626"/>
              </a:solidFill>
              <a:latin typeface="Calibri"/>
            </a:endParaRP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Terraform Contra o Azure — Repetindo a Parte 11 da Aula 02</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A demonstração que provisiona a infra real do projeto-guia PCDF — hoje vamos rodar até o fim.</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PENDÊNCIA 3 DE 4</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Recapitulando o Que Já Existe</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000" b="1" dirty="0">
                <a:solidFill>
                  <a:srgbClr val="004A8F"/>
                </a:solidFill>
                <a:latin typeface="Calibri"/>
              </a:rPr>
              <a:t>Resource Group </a:t>
            </a:r>
            <a:r>
              <a:rPr sz="4000" b="1" dirty="0" err="1">
                <a:solidFill>
                  <a:srgbClr val="004A8F"/>
                </a:solidFill>
                <a:latin typeface="Calibri"/>
              </a:rPr>
              <a:t>rg</a:t>
            </a:r>
            <a:r>
              <a:rPr sz="4000" b="1" dirty="0">
                <a:solidFill>
                  <a:srgbClr val="004A8F"/>
                </a:solidFill>
                <a:latin typeface="Calibri"/>
              </a:rPr>
              <a:t>-</a:t>
            </a:r>
            <a:r>
              <a:rPr sz="4000" b="1" dirty="0" err="1">
                <a:solidFill>
                  <a:srgbClr val="004A8F"/>
                </a:solidFill>
                <a:latin typeface="Calibri"/>
              </a:rPr>
              <a:t>pcdf</a:t>
            </a:r>
            <a:r>
              <a:rPr sz="4000" b="1" dirty="0">
                <a:solidFill>
                  <a:srgbClr val="004A8F"/>
                </a:solidFill>
                <a:latin typeface="Calibri"/>
              </a:rPr>
              <a:t>-demo:  </a:t>
            </a:r>
            <a:r>
              <a:rPr sz="4000" dirty="0" err="1">
                <a:solidFill>
                  <a:srgbClr val="262626"/>
                </a:solidFill>
                <a:latin typeface="Calibri"/>
              </a:rPr>
              <a:t>já</a:t>
            </a:r>
            <a:r>
              <a:rPr sz="4000" dirty="0">
                <a:solidFill>
                  <a:srgbClr val="262626"/>
                </a:solidFill>
                <a:latin typeface="Calibri"/>
              </a:rPr>
              <a:t> </a:t>
            </a:r>
            <a:r>
              <a:rPr sz="4000" dirty="0" err="1">
                <a:solidFill>
                  <a:srgbClr val="262626"/>
                </a:solidFill>
                <a:latin typeface="Calibri"/>
              </a:rPr>
              <a:t>existe</a:t>
            </a:r>
            <a:r>
              <a:rPr sz="4000" dirty="0">
                <a:solidFill>
                  <a:srgbClr val="262626"/>
                </a:solidFill>
                <a:latin typeface="Calibri"/>
              </a:rPr>
              <a:t> — </a:t>
            </a:r>
            <a:r>
              <a:rPr sz="4000" dirty="0" err="1">
                <a:solidFill>
                  <a:srgbClr val="262626"/>
                </a:solidFill>
                <a:latin typeface="Calibri"/>
              </a:rPr>
              <a:t>criado</a:t>
            </a:r>
            <a:r>
              <a:rPr sz="4000" dirty="0">
                <a:solidFill>
                  <a:srgbClr val="262626"/>
                </a:solidFill>
                <a:latin typeface="Calibri"/>
              </a:rPr>
              <a:t> </a:t>
            </a:r>
            <a:r>
              <a:rPr sz="4000" dirty="0" err="1">
                <a:solidFill>
                  <a:srgbClr val="262626"/>
                </a:solidFill>
                <a:latin typeface="Calibri"/>
              </a:rPr>
              <a:t>manualmente</a:t>
            </a:r>
            <a:r>
              <a:rPr sz="4000" dirty="0">
                <a:solidFill>
                  <a:srgbClr val="262626"/>
                </a:solidFill>
                <a:latin typeface="Calibri"/>
              </a:rPr>
              <a:t> </a:t>
            </a:r>
            <a:r>
              <a:rPr sz="4000" dirty="0" err="1">
                <a:solidFill>
                  <a:srgbClr val="262626"/>
                </a:solidFill>
                <a:latin typeface="Calibri"/>
              </a:rPr>
              <a:t>na</a:t>
            </a:r>
            <a:r>
              <a:rPr sz="4000" dirty="0">
                <a:solidFill>
                  <a:srgbClr val="262626"/>
                </a:solidFill>
                <a:latin typeface="Calibri"/>
              </a:rPr>
              <a:t> Aula 01 via </a:t>
            </a:r>
            <a:endParaRPr lang="en-US" sz="4000" dirty="0">
              <a:solidFill>
                <a:srgbClr val="262626"/>
              </a:solidFill>
              <a:latin typeface="Calibri"/>
            </a:endParaRPr>
          </a:p>
          <a:p>
            <a:pPr algn="l">
              <a:spcBef>
                <a:spcPts val="0"/>
              </a:spcBef>
              <a:spcAft>
                <a:spcPts val="2200"/>
              </a:spcAft>
            </a:pPr>
            <a:r>
              <a:rPr sz="4000" b="1" dirty="0" err="1">
                <a:solidFill>
                  <a:srgbClr val="262626"/>
                </a:solidFill>
                <a:latin typeface="Calibri"/>
              </a:rPr>
              <a:t>az</a:t>
            </a:r>
            <a:r>
              <a:rPr sz="4000" b="1" dirty="0">
                <a:solidFill>
                  <a:srgbClr val="262626"/>
                </a:solidFill>
                <a:latin typeface="Calibri"/>
              </a:rPr>
              <a:t> group create</a:t>
            </a:r>
            <a:r>
              <a:rPr sz="4000" dirty="0">
                <a:solidFill>
                  <a:srgbClr val="262626"/>
                </a:solidFill>
                <a:latin typeface="Calibri"/>
              </a:rPr>
              <a:t>, </a:t>
            </a:r>
            <a:r>
              <a:rPr sz="4000" dirty="0" err="1">
                <a:solidFill>
                  <a:srgbClr val="262626"/>
                </a:solidFill>
                <a:latin typeface="Calibri"/>
              </a:rPr>
              <a:t>não</a:t>
            </a:r>
            <a:r>
              <a:rPr sz="4000" dirty="0">
                <a:solidFill>
                  <a:srgbClr val="262626"/>
                </a:solidFill>
                <a:latin typeface="Calibri"/>
              </a:rPr>
              <a:t> </a:t>
            </a:r>
            <a:r>
              <a:rPr sz="4000" dirty="0" err="1">
                <a:solidFill>
                  <a:srgbClr val="262626"/>
                </a:solidFill>
                <a:latin typeface="Calibri"/>
              </a:rPr>
              <a:t>pelo</a:t>
            </a:r>
            <a:r>
              <a:rPr sz="4000" dirty="0">
                <a:solidFill>
                  <a:srgbClr val="262626"/>
                </a:solidFill>
                <a:latin typeface="Calibri"/>
              </a:rPr>
              <a:t> Terraform.</a:t>
            </a:r>
          </a:p>
          <a:p>
            <a:pPr algn="l">
              <a:spcBef>
                <a:spcPts val="0"/>
              </a:spcBef>
              <a:spcAft>
                <a:spcPts val="2200"/>
              </a:spcAft>
            </a:pPr>
            <a:r>
              <a:rPr sz="4000" b="1" dirty="0" err="1">
                <a:solidFill>
                  <a:srgbClr val="004A8F"/>
                </a:solidFill>
                <a:latin typeface="Calibri"/>
              </a:rPr>
              <a:t>Consequência</a:t>
            </a:r>
            <a:r>
              <a:rPr sz="4000" b="1" dirty="0">
                <a:solidFill>
                  <a:srgbClr val="004A8F"/>
                </a:solidFill>
                <a:latin typeface="Calibri"/>
              </a:rPr>
              <a:t> </a:t>
            </a:r>
            <a:r>
              <a:rPr sz="4000" b="1" dirty="0" err="1">
                <a:solidFill>
                  <a:srgbClr val="004A8F"/>
                </a:solidFill>
                <a:latin typeface="Calibri"/>
              </a:rPr>
              <a:t>direta</a:t>
            </a:r>
            <a:r>
              <a:rPr sz="4000" b="1" dirty="0">
                <a:solidFill>
                  <a:srgbClr val="004A8F"/>
                </a:solidFill>
                <a:latin typeface="Calibri"/>
              </a:rPr>
              <a:t>:  </a:t>
            </a:r>
            <a:r>
              <a:rPr sz="4000" dirty="0">
                <a:solidFill>
                  <a:srgbClr val="262626"/>
                </a:solidFill>
                <a:latin typeface="Calibri"/>
              </a:rPr>
              <a:t>o Terraform de </a:t>
            </a:r>
            <a:r>
              <a:rPr sz="4000" dirty="0" err="1">
                <a:solidFill>
                  <a:srgbClr val="262626"/>
                </a:solidFill>
                <a:latin typeface="Calibri"/>
              </a:rPr>
              <a:t>hoje</a:t>
            </a:r>
            <a:r>
              <a:rPr sz="4000" dirty="0">
                <a:solidFill>
                  <a:srgbClr val="262626"/>
                </a:solidFill>
                <a:latin typeface="Calibri"/>
              </a:rPr>
              <a:t> </a:t>
            </a:r>
            <a:r>
              <a:rPr sz="4000" dirty="0" err="1">
                <a:solidFill>
                  <a:srgbClr val="262626"/>
                </a:solidFill>
                <a:latin typeface="Calibri"/>
              </a:rPr>
              <a:t>vai</a:t>
            </a:r>
            <a:r>
              <a:rPr sz="4000" dirty="0">
                <a:solidFill>
                  <a:srgbClr val="262626"/>
                </a:solidFill>
                <a:latin typeface="Calibri"/>
              </a:rPr>
              <a:t> LER esse </a:t>
            </a:r>
            <a:r>
              <a:rPr sz="4000" dirty="0" err="1">
                <a:solidFill>
                  <a:srgbClr val="262626"/>
                </a:solidFill>
                <a:latin typeface="Calibri"/>
              </a:rPr>
              <a:t>recurso</a:t>
            </a:r>
            <a:r>
              <a:rPr sz="4000" dirty="0">
                <a:solidFill>
                  <a:srgbClr val="262626"/>
                </a:solidFill>
                <a:latin typeface="Calibri"/>
              </a:rPr>
              <a:t> com data, </a:t>
            </a:r>
            <a:r>
              <a:rPr sz="4000" dirty="0" err="1">
                <a:solidFill>
                  <a:srgbClr val="262626"/>
                </a:solidFill>
                <a:latin typeface="Calibri"/>
              </a:rPr>
              <a:t>não</a:t>
            </a:r>
            <a:r>
              <a:rPr sz="4000" dirty="0">
                <a:solidFill>
                  <a:srgbClr val="262626"/>
                </a:solidFill>
                <a:latin typeface="Calibri"/>
              </a:rPr>
              <a:t> CRIAR com resource.</a:t>
            </a:r>
          </a:p>
          <a:p>
            <a:pPr algn="l">
              <a:spcBef>
                <a:spcPts val="0"/>
              </a:spcBef>
              <a:spcAft>
                <a:spcPts val="2200"/>
              </a:spcAft>
            </a:pPr>
            <a:r>
              <a:rPr sz="4000" b="1" dirty="0">
                <a:solidFill>
                  <a:srgbClr val="004A8F"/>
                </a:solidFill>
                <a:latin typeface="Calibri"/>
              </a:rPr>
              <a:t>O </a:t>
            </a:r>
            <a:r>
              <a:rPr sz="4000" b="1" dirty="0" err="1">
                <a:solidFill>
                  <a:srgbClr val="004A8F"/>
                </a:solidFill>
                <a:latin typeface="Calibri"/>
              </a:rPr>
              <a:t>que</a:t>
            </a:r>
            <a:r>
              <a:rPr sz="4000" b="1" dirty="0">
                <a:solidFill>
                  <a:srgbClr val="004A8F"/>
                </a:solidFill>
                <a:latin typeface="Calibri"/>
              </a:rPr>
              <a:t> </a:t>
            </a:r>
            <a:r>
              <a:rPr sz="4000" b="1" dirty="0" err="1">
                <a:solidFill>
                  <a:srgbClr val="004A8F"/>
                </a:solidFill>
                <a:latin typeface="Calibri"/>
              </a:rPr>
              <a:t>vamos</a:t>
            </a:r>
            <a:r>
              <a:rPr sz="4000" b="1" dirty="0">
                <a:solidFill>
                  <a:srgbClr val="004A8F"/>
                </a:solidFill>
                <a:latin typeface="Calibri"/>
              </a:rPr>
              <a:t> </a:t>
            </a:r>
            <a:r>
              <a:rPr sz="4000" b="1" dirty="0" err="1">
                <a:solidFill>
                  <a:srgbClr val="004A8F"/>
                </a:solidFill>
                <a:latin typeface="Calibri"/>
              </a:rPr>
              <a:t>criar</a:t>
            </a:r>
            <a:r>
              <a:rPr sz="4000" b="1" dirty="0">
                <a:solidFill>
                  <a:srgbClr val="004A8F"/>
                </a:solidFill>
                <a:latin typeface="Calibri"/>
              </a:rPr>
              <a:t> de </a:t>
            </a:r>
            <a:r>
              <a:rPr sz="4000" b="1" dirty="0" err="1">
                <a:solidFill>
                  <a:srgbClr val="004A8F"/>
                </a:solidFill>
                <a:latin typeface="Calibri"/>
              </a:rPr>
              <a:t>fato</a:t>
            </a:r>
            <a:r>
              <a:rPr sz="4000" b="1" dirty="0">
                <a:solidFill>
                  <a:srgbClr val="004A8F"/>
                </a:solidFill>
                <a:latin typeface="Calibri"/>
              </a:rPr>
              <a:t>:  </a:t>
            </a:r>
            <a:r>
              <a:rPr sz="4000" dirty="0" err="1">
                <a:solidFill>
                  <a:srgbClr val="262626"/>
                </a:solidFill>
                <a:latin typeface="Calibri"/>
              </a:rPr>
              <a:t>uma</a:t>
            </a:r>
            <a:r>
              <a:rPr sz="4000" dirty="0">
                <a:solidFill>
                  <a:srgbClr val="262626"/>
                </a:solidFill>
                <a:latin typeface="Calibri"/>
              </a:rPr>
              <a:t> Storage Account e um container, para </a:t>
            </a:r>
            <a:r>
              <a:rPr sz="4000" dirty="0" err="1">
                <a:solidFill>
                  <a:srgbClr val="262626"/>
                </a:solidFill>
                <a:latin typeface="Calibri"/>
              </a:rPr>
              <a:t>guardar</a:t>
            </a:r>
            <a:r>
              <a:rPr sz="4000" dirty="0">
                <a:solidFill>
                  <a:srgbClr val="262626"/>
                </a:solidFill>
                <a:latin typeface="Calibri"/>
              </a:rPr>
              <a:t> </a:t>
            </a:r>
            <a:r>
              <a:rPr sz="4000" dirty="0" err="1">
                <a:solidFill>
                  <a:srgbClr val="262626"/>
                </a:solidFill>
                <a:latin typeface="Calibri"/>
              </a:rPr>
              <a:t>os</a:t>
            </a:r>
            <a:r>
              <a:rPr sz="4000" dirty="0">
                <a:solidFill>
                  <a:srgbClr val="262626"/>
                </a:solidFill>
                <a:latin typeface="Calibri"/>
              </a:rPr>
              <a:t> BOs do </a:t>
            </a:r>
            <a:r>
              <a:rPr sz="4000" dirty="0" err="1">
                <a:solidFill>
                  <a:srgbClr val="262626"/>
                </a:solidFill>
                <a:latin typeface="Calibri"/>
              </a:rPr>
              <a:t>projeto-guia</a:t>
            </a:r>
            <a:r>
              <a:rPr sz="4000" dirty="0">
                <a:solidFill>
                  <a:srgbClr val="262626"/>
                </a:solidFill>
                <a:latin typeface="Calibri"/>
              </a:rPr>
              <a:t>.</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0070C0"/>
                </a:solidFill>
                <a:latin typeface="Calibri"/>
              </a:rPr>
              <a:t>main.tf Completo da Demo</a:t>
            </a:r>
          </a:p>
        </p:txBody>
      </p:sp>
      <p:sp>
        <p:nvSpPr>
          <p:cNvPr id="4" name="TextBox 3"/>
          <p:cNvSpPr txBox="1"/>
          <p:nvPr/>
        </p:nvSpPr>
        <p:spPr>
          <a:xfrm>
            <a:off x="1689100" y="12142629"/>
            <a:ext cx="900000" cy="400000"/>
          </a:xfrm>
          <a:prstGeom prst="rect">
            <a:avLst/>
          </a:prstGeom>
          <a:noFill/>
        </p:spPr>
        <p:txBody>
          <a:bodyPr wrap="none">
            <a:spAutoFit/>
          </a:bodyPr>
          <a:lstStyle/>
          <a:p>
            <a:r>
              <a:rPr sz="1400">
                <a:solidFill>
                  <a:srgbClr val="595959"/>
                </a:solidFill>
                <a:latin typeface="Calibri"/>
              </a:rPr>
              <a:t>20</a:t>
            </a:r>
          </a:p>
        </p:txBody>
      </p:sp>
      <p:sp>
        <p:nvSpPr>
          <p:cNvPr id="5" name="TextBox 4"/>
          <p:cNvSpPr txBox="1"/>
          <p:nvPr/>
        </p:nvSpPr>
        <p:spPr>
          <a:xfrm>
            <a:off x="2795982" y="3270206"/>
            <a:ext cx="16956886" cy="584775"/>
          </a:xfrm>
          <a:prstGeom prst="rect">
            <a:avLst/>
          </a:prstGeom>
          <a:noFill/>
        </p:spPr>
        <p:txBody>
          <a:bodyPr wrap="none">
            <a:spAutoFit/>
          </a:bodyPr>
          <a:lstStyle/>
          <a:p>
            <a:r>
              <a:rPr sz="3200" i="1" dirty="0">
                <a:solidFill>
                  <a:srgbClr val="595959"/>
                </a:solidFill>
                <a:latin typeface="Calibri"/>
              </a:rPr>
              <a:t>o </a:t>
            </a:r>
            <a:r>
              <a:rPr sz="3200" i="1" dirty="0" err="1">
                <a:solidFill>
                  <a:srgbClr val="595959"/>
                </a:solidFill>
                <a:latin typeface="Calibri"/>
              </a:rPr>
              <a:t>mesmo</a:t>
            </a:r>
            <a:r>
              <a:rPr sz="3200" i="1" dirty="0">
                <a:solidFill>
                  <a:srgbClr val="595959"/>
                </a:solidFill>
                <a:latin typeface="Calibri"/>
              </a:rPr>
              <a:t> </a:t>
            </a:r>
            <a:r>
              <a:rPr sz="3200" i="1" dirty="0" err="1">
                <a:solidFill>
                  <a:srgbClr val="595959"/>
                </a:solidFill>
                <a:latin typeface="Calibri"/>
              </a:rPr>
              <a:t>arquivo</a:t>
            </a:r>
            <a:r>
              <a:rPr sz="3200" i="1" dirty="0">
                <a:solidFill>
                  <a:srgbClr val="595959"/>
                </a:solidFill>
                <a:latin typeface="Calibri"/>
              </a:rPr>
              <a:t> do Passo A3 do Manual da Aula 02 — terraform{} + provider + data + 2 resources</a:t>
            </a:r>
          </a:p>
        </p:txBody>
      </p:sp>
      <p:sp>
        <p:nvSpPr>
          <p:cNvPr id="6" name="Oval 5"/>
          <p:cNvSpPr/>
          <p:nvPr/>
        </p:nvSpPr>
        <p:spPr>
          <a:xfrm>
            <a:off x="1689100" y="4172629"/>
            <a:ext cx="140000" cy="140000"/>
          </a:xfrm>
          <a:prstGeom prst="ellipse">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 name="TextBox 6"/>
          <p:cNvSpPr txBox="1"/>
          <p:nvPr/>
        </p:nvSpPr>
        <p:spPr>
          <a:xfrm>
            <a:off x="1948924" y="4142629"/>
            <a:ext cx="1938352" cy="338554"/>
          </a:xfrm>
          <a:prstGeom prst="rect">
            <a:avLst/>
          </a:prstGeom>
          <a:noFill/>
        </p:spPr>
        <p:txBody>
          <a:bodyPr wrap="none">
            <a:spAutoFit/>
          </a:bodyPr>
          <a:lstStyle/>
          <a:p>
            <a:r>
              <a:rPr sz="1600" b="1" i="0">
                <a:solidFill>
                  <a:srgbClr val="595959"/>
                </a:solidFill>
                <a:latin typeface="Calibri"/>
              </a:rPr>
              <a:t>núcleo do Terraform</a:t>
            </a:r>
          </a:p>
        </p:txBody>
      </p:sp>
      <p:sp>
        <p:nvSpPr>
          <p:cNvPr id="8" name="Oval 7"/>
          <p:cNvSpPr/>
          <p:nvPr/>
        </p:nvSpPr>
        <p:spPr>
          <a:xfrm>
            <a:off x="4077100" y="4172629"/>
            <a:ext cx="140000" cy="140000"/>
          </a:xfrm>
          <a:prstGeom prst="ellipse">
            <a:avLst/>
          </a:prstGeom>
          <a:solidFill>
            <a:srgbClr val="218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9" name="TextBox 8"/>
          <p:cNvSpPr txBox="1"/>
          <p:nvPr/>
        </p:nvSpPr>
        <p:spPr>
          <a:xfrm>
            <a:off x="4465386" y="4142629"/>
            <a:ext cx="3153428" cy="338554"/>
          </a:xfrm>
          <a:prstGeom prst="rect">
            <a:avLst/>
          </a:prstGeom>
          <a:noFill/>
        </p:spPr>
        <p:txBody>
          <a:bodyPr wrap="none">
            <a:spAutoFit/>
          </a:bodyPr>
          <a:lstStyle/>
          <a:p>
            <a:r>
              <a:rPr sz="1600" b="0" i="1">
                <a:solidFill>
                  <a:srgbClr val="595959"/>
                </a:solidFill>
                <a:latin typeface="Calibri"/>
              </a:rPr>
              <a:t>vocabulário fixo (provider/backend)</a:t>
            </a:r>
          </a:p>
        </p:txBody>
      </p:sp>
      <p:sp>
        <p:nvSpPr>
          <p:cNvPr id="10" name="Oval 9"/>
          <p:cNvSpPr/>
          <p:nvPr/>
        </p:nvSpPr>
        <p:spPr>
          <a:xfrm>
            <a:off x="7937100" y="4172629"/>
            <a:ext cx="140000" cy="140000"/>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1" name="TextBox 10"/>
          <p:cNvSpPr txBox="1"/>
          <p:nvPr/>
        </p:nvSpPr>
        <p:spPr>
          <a:xfrm>
            <a:off x="8273806" y="4142629"/>
            <a:ext cx="2704588" cy="338554"/>
          </a:xfrm>
          <a:prstGeom prst="rect">
            <a:avLst/>
          </a:prstGeom>
          <a:noFill/>
        </p:spPr>
        <p:txBody>
          <a:bodyPr wrap="none">
            <a:spAutoFit/>
          </a:bodyPr>
          <a:lstStyle/>
          <a:p>
            <a:r>
              <a:rPr sz="1600" b="0" i="0">
                <a:solidFill>
                  <a:srgbClr val="595959"/>
                </a:solidFill>
                <a:latin typeface="Calibri"/>
              </a:rPr>
              <a:t>escolhido livremente por você</a:t>
            </a:r>
          </a:p>
        </p:txBody>
      </p:sp>
      <p:sp>
        <p:nvSpPr>
          <p:cNvPr id="12" name="Rounded Rectangle 11"/>
          <p:cNvSpPr/>
          <p:nvPr/>
        </p:nvSpPr>
        <p:spPr>
          <a:xfrm>
            <a:off x="1689100" y="4772629"/>
            <a:ext cx="19170650" cy="708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689100" y="4772629"/>
            <a:ext cx="19170650"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89100" y="4972629"/>
            <a:ext cx="19170650"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869100" y="4902629"/>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09100" y="4902629"/>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349100" y="4902629"/>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89100" y="4847629"/>
            <a:ext cx="19010650" cy="292388"/>
          </a:xfrm>
          <a:prstGeom prst="rect">
            <a:avLst/>
          </a:prstGeom>
          <a:noFill/>
        </p:spPr>
        <p:txBody>
          <a:bodyPr wrap="square">
            <a:spAutoFit/>
          </a:bodyPr>
          <a:lstStyle/>
          <a:p>
            <a:pPr algn="ctr"/>
            <a:r>
              <a:rPr sz="1300">
                <a:solidFill>
                  <a:srgbClr val="595959"/>
                </a:solidFill>
                <a:latin typeface="Consolas"/>
              </a:rPr>
              <a:t>main.tf</a:t>
            </a:r>
          </a:p>
        </p:txBody>
      </p:sp>
      <p:sp>
        <p:nvSpPr>
          <p:cNvPr id="19" name="TextBox 18"/>
          <p:cNvSpPr txBox="1"/>
          <p:nvPr/>
        </p:nvSpPr>
        <p:spPr>
          <a:xfrm>
            <a:off x="1829100" y="5282629"/>
            <a:ext cx="7880957" cy="5827236"/>
          </a:xfrm>
          <a:prstGeom prst="rect">
            <a:avLst/>
          </a:prstGeom>
          <a:noFill/>
        </p:spPr>
        <p:txBody>
          <a:bodyPr wrap="square" anchor="t">
            <a:spAutoFit/>
          </a:bodyPr>
          <a:lstStyle/>
          <a:p>
            <a:pPr algn="l">
              <a:spcBef>
                <a:spcPts val="0"/>
              </a:spcBef>
              <a:spcAft>
                <a:spcPts val="400"/>
              </a:spcAft>
            </a:pPr>
            <a:r>
              <a:rPr sz="2800" b="1" i="0" dirty="0">
                <a:solidFill>
                  <a:srgbClr val="F5AC00"/>
                </a:solidFill>
                <a:latin typeface="Consolas"/>
              </a:rPr>
              <a:t>terraform</a:t>
            </a: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  </a:t>
            </a:r>
            <a:r>
              <a:rPr sz="2800" b="1" i="0" dirty="0" err="1">
                <a:solidFill>
                  <a:srgbClr val="F5AC00"/>
                </a:solidFill>
                <a:latin typeface="Consolas"/>
              </a:rPr>
              <a:t>required_providers</a:t>
            </a: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    </a:t>
            </a:r>
            <a:r>
              <a:rPr sz="2800" b="0" i="0" dirty="0" err="1">
                <a:solidFill>
                  <a:srgbClr val="262626"/>
                </a:solidFill>
                <a:latin typeface="Consolas"/>
              </a:rPr>
              <a:t>azurerm</a:t>
            </a:r>
            <a:r>
              <a:rPr sz="2800" b="0" i="0" dirty="0">
                <a:solidFill>
                  <a:srgbClr val="262626"/>
                </a:solidFill>
                <a:latin typeface="Consolas"/>
              </a:rPr>
              <a:t> = {</a:t>
            </a:r>
          </a:p>
          <a:p>
            <a:pPr algn="l">
              <a:spcBef>
                <a:spcPts val="0"/>
              </a:spcBef>
              <a:spcAft>
                <a:spcPts val="400"/>
              </a:spcAft>
            </a:pPr>
            <a:r>
              <a:rPr sz="2800" b="0" i="0" dirty="0">
                <a:solidFill>
                  <a:srgbClr val="262626"/>
                </a:solidFill>
                <a:latin typeface="Consolas"/>
              </a:rPr>
              <a:t>      </a:t>
            </a:r>
            <a:r>
              <a:rPr sz="2800" b="1" i="0" dirty="0">
                <a:solidFill>
                  <a:srgbClr val="F5AC00"/>
                </a:solidFill>
                <a:latin typeface="Consolas"/>
              </a:rPr>
              <a:t>source</a:t>
            </a:r>
            <a:r>
              <a:rPr sz="2800" b="0" i="0" dirty="0">
                <a:solidFill>
                  <a:srgbClr val="262626"/>
                </a:solidFill>
                <a:latin typeface="Consolas"/>
              </a:rPr>
              <a:t> = "</a:t>
            </a:r>
            <a:r>
              <a:rPr sz="2800" b="0" i="0" dirty="0" err="1">
                <a:solidFill>
                  <a:srgbClr val="262626"/>
                </a:solidFill>
                <a:latin typeface="Consolas"/>
              </a:rPr>
              <a:t>hashicorp</a:t>
            </a:r>
            <a:r>
              <a:rPr sz="2800" b="0" i="0" dirty="0">
                <a:solidFill>
                  <a:srgbClr val="262626"/>
                </a:solidFill>
                <a:latin typeface="Consolas"/>
              </a:rPr>
              <a:t>/</a:t>
            </a:r>
            <a:r>
              <a:rPr sz="2800" b="0" i="0" dirty="0" err="1">
                <a:solidFill>
                  <a:srgbClr val="262626"/>
                </a:solidFill>
                <a:latin typeface="Consolas"/>
              </a:rPr>
              <a:t>azurerm</a:t>
            </a:r>
            <a:r>
              <a:rPr sz="2800" b="0" i="0" dirty="0">
                <a:solidFill>
                  <a:srgbClr val="262626"/>
                </a:solidFill>
                <a:latin typeface="Consolas"/>
              </a:rPr>
              <a:t>"</a:t>
            </a:r>
          </a:p>
          <a:p>
            <a:pPr algn="l">
              <a:spcBef>
                <a:spcPts val="0"/>
              </a:spcBef>
              <a:spcAft>
                <a:spcPts val="400"/>
              </a:spcAft>
            </a:pPr>
            <a:r>
              <a:rPr sz="2800" b="0" i="0" dirty="0">
                <a:solidFill>
                  <a:srgbClr val="262626"/>
                </a:solidFill>
                <a:latin typeface="Consolas"/>
              </a:rPr>
              <a:t>      </a:t>
            </a:r>
            <a:r>
              <a:rPr sz="2800" b="1" i="0" dirty="0">
                <a:solidFill>
                  <a:srgbClr val="F5AC00"/>
                </a:solidFill>
                <a:latin typeface="Consolas"/>
              </a:rPr>
              <a:t>version</a:t>
            </a:r>
            <a:r>
              <a:rPr sz="2800" b="0" i="0" dirty="0">
                <a:solidFill>
                  <a:srgbClr val="262626"/>
                </a:solidFill>
                <a:latin typeface="Consolas"/>
              </a:rPr>
              <a:t> = "~&gt; 3.0"</a:t>
            </a:r>
          </a:p>
          <a:p>
            <a:pPr algn="l">
              <a:spcBef>
                <a:spcPts val="0"/>
              </a:spcBef>
              <a:spcAft>
                <a:spcPts val="400"/>
              </a:spcAft>
            </a:pP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a:t>
            </a:r>
          </a:p>
          <a:p>
            <a:pPr algn="l">
              <a:spcBef>
                <a:spcPts val="0"/>
              </a:spcBef>
              <a:spcAft>
                <a:spcPts val="400"/>
              </a:spcAft>
            </a:pPr>
            <a:endParaRPr sz="2800" b="0" i="0" dirty="0">
              <a:solidFill>
                <a:srgbClr val="262626"/>
              </a:solidFill>
              <a:latin typeface="Consolas"/>
            </a:endParaRPr>
          </a:p>
          <a:p>
            <a:pPr algn="l">
              <a:spcBef>
                <a:spcPts val="0"/>
              </a:spcBef>
              <a:spcAft>
                <a:spcPts val="400"/>
              </a:spcAft>
            </a:pPr>
            <a:r>
              <a:rPr sz="2800" b="1" i="0" dirty="0">
                <a:solidFill>
                  <a:srgbClr val="F5AC00"/>
                </a:solidFill>
                <a:latin typeface="Consolas"/>
              </a:rPr>
              <a:t>provider</a:t>
            </a:r>
            <a:r>
              <a:rPr sz="2800" b="0" i="0" dirty="0">
                <a:solidFill>
                  <a:srgbClr val="262626"/>
                </a:solidFill>
                <a:latin typeface="Consolas"/>
              </a:rPr>
              <a:t> "</a:t>
            </a:r>
            <a:r>
              <a:rPr sz="2800" b="0" i="1" dirty="0" err="1">
                <a:solidFill>
                  <a:srgbClr val="218CD6"/>
                </a:solidFill>
                <a:latin typeface="Consolas"/>
              </a:rPr>
              <a:t>azurerm</a:t>
            </a: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  </a:t>
            </a:r>
            <a:r>
              <a:rPr sz="2800" b="0" i="1" dirty="0">
                <a:solidFill>
                  <a:srgbClr val="218CD6"/>
                </a:solidFill>
                <a:latin typeface="Consolas"/>
              </a:rPr>
              <a:t>features</a:t>
            </a:r>
            <a:r>
              <a:rPr sz="2800" b="0" i="0" dirty="0">
                <a:solidFill>
                  <a:srgbClr val="262626"/>
                </a:solidFill>
                <a:latin typeface="Consolas"/>
              </a:rPr>
              <a:t> {}</a:t>
            </a:r>
          </a:p>
          <a:p>
            <a:pPr algn="l">
              <a:spcBef>
                <a:spcPts val="0"/>
              </a:spcBef>
              <a:spcAft>
                <a:spcPts val="400"/>
              </a:spcAft>
            </a:pPr>
            <a:r>
              <a:rPr sz="2800" b="0" i="0" dirty="0">
                <a:solidFill>
                  <a:srgbClr val="262626"/>
                </a:solidFill>
                <a:latin typeface="Consolas"/>
              </a:rPr>
              <a:t>}</a:t>
            </a:r>
          </a:p>
        </p:txBody>
      </p:sp>
      <p:sp>
        <p:nvSpPr>
          <p:cNvPr id="3" name="TextBox 18">
            <a:extLst>
              <a:ext uri="{FF2B5EF4-FFF2-40B4-BE49-F238E27FC236}">
                <a16:creationId xmlns:a16="http://schemas.microsoft.com/office/drawing/2014/main" id="{121D8A48-50EB-E5BE-0C7A-AFAF83203317}"/>
              </a:ext>
            </a:extLst>
          </p:cNvPr>
          <p:cNvSpPr txBox="1"/>
          <p:nvPr/>
        </p:nvSpPr>
        <p:spPr>
          <a:xfrm>
            <a:off x="8969829" y="5282629"/>
            <a:ext cx="11729921" cy="6986528"/>
          </a:xfrm>
          <a:prstGeom prst="rect">
            <a:avLst/>
          </a:prstGeom>
          <a:noFill/>
        </p:spPr>
        <p:txBody>
          <a:bodyPr wrap="square" anchor="t">
            <a:spAutoFit/>
          </a:bodyPr>
          <a:lstStyle/>
          <a:p>
            <a:pPr algn="l">
              <a:spcBef>
                <a:spcPts val="0"/>
              </a:spcBef>
              <a:spcAft>
                <a:spcPts val="300"/>
              </a:spcAft>
            </a:pPr>
            <a:r>
              <a:rPr sz="2400" b="1" i="0" dirty="0">
                <a:solidFill>
                  <a:srgbClr val="F5AC00"/>
                </a:solidFill>
                <a:latin typeface="Consolas"/>
              </a:rPr>
              <a:t>data</a:t>
            </a:r>
            <a:r>
              <a:rPr sz="2400" b="0" i="0" dirty="0">
                <a:solidFill>
                  <a:srgbClr val="262626"/>
                </a:solidFill>
                <a:latin typeface="Consolas"/>
              </a:rPr>
              <a:t> "</a:t>
            </a:r>
            <a:r>
              <a:rPr sz="2400" b="0" i="1" dirty="0" err="1">
                <a:solidFill>
                  <a:srgbClr val="218CD6"/>
                </a:solidFill>
                <a:latin typeface="Consolas"/>
              </a:rPr>
              <a:t>azurerm_resource_group</a:t>
            </a:r>
            <a:r>
              <a:rPr sz="2400" b="0" i="0" dirty="0">
                <a:solidFill>
                  <a:srgbClr val="262626"/>
                </a:solidFill>
                <a:latin typeface="Consolas"/>
              </a:rPr>
              <a:t>" "</a:t>
            </a:r>
            <a:r>
              <a:rPr sz="2400" b="0" i="0" dirty="0" err="1">
                <a:solidFill>
                  <a:srgbClr val="262626"/>
                </a:solidFill>
                <a:latin typeface="Consolas"/>
              </a:rPr>
              <a:t>rg</a:t>
            </a:r>
            <a:r>
              <a:rPr sz="2400" b="0" i="0" dirty="0">
                <a:solidFill>
                  <a:srgbClr val="262626"/>
                </a:solidFill>
                <a:latin typeface="Consolas"/>
              </a:rPr>
              <a:t>" {</a:t>
            </a:r>
          </a:p>
          <a:p>
            <a:pPr algn="l">
              <a:spcBef>
                <a:spcPts val="0"/>
              </a:spcBef>
              <a:spcAft>
                <a:spcPts val="300"/>
              </a:spcAft>
            </a:pPr>
            <a:r>
              <a:rPr sz="2400" b="0" i="0" dirty="0">
                <a:solidFill>
                  <a:srgbClr val="262626"/>
                </a:solidFill>
                <a:latin typeface="Consolas"/>
              </a:rPr>
              <a:t>  name = "</a:t>
            </a:r>
            <a:r>
              <a:rPr sz="2400" b="0" i="0" dirty="0" err="1">
                <a:solidFill>
                  <a:srgbClr val="262626"/>
                </a:solidFill>
                <a:latin typeface="Consolas"/>
              </a:rPr>
              <a:t>rg</a:t>
            </a:r>
            <a:r>
              <a:rPr sz="2400" b="0" i="0" dirty="0">
                <a:solidFill>
                  <a:srgbClr val="262626"/>
                </a:solidFill>
                <a:latin typeface="Consolas"/>
              </a:rPr>
              <a:t>-</a:t>
            </a:r>
            <a:r>
              <a:rPr sz="2400" b="0" i="0" dirty="0" err="1">
                <a:solidFill>
                  <a:srgbClr val="262626"/>
                </a:solidFill>
                <a:latin typeface="Consolas"/>
              </a:rPr>
              <a:t>pcdf</a:t>
            </a:r>
            <a:r>
              <a:rPr sz="2400" b="0" i="0" dirty="0">
                <a:solidFill>
                  <a:srgbClr val="262626"/>
                </a:solidFill>
                <a:latin typeface="Consolas"/>
              </a:rPr>
              <a:t>-demo"</a:t>
            </a:r>
          </a:p>
          <a:p>
            <a:pPr algn="l">
              <a:spcBef>
                <a:spcPts val="0"/>
              </a:spcBef>
              <a:spcAft>
                <a:spcPts val="300"/>
              </a:spcAft>
            </a:pPr>
            <a:r>
              <a:rPr sz="2400" b="0" i="0" dirty="0">
                <a:solidFill>
                  <a:srgbClr val="262626"/>
                </a:solidFill>
                <a:latin typeface="Consolas"/>
              </a:rPr>
              <a:t>}</a:t>
            </a:r>
          </a:p>
          <a:p>
            <a:pPr algn="l">
              <a:spcBef>
                <a:spcPts val="0"/>
              </a:spcBef>
              <a:spcAft>
                <a:spcPts val="300"/>
              </a:spcAft>
            </a:pPr>
            <a:endParaRPr sz="2400" b="0" i="0" dirty="0">
              <a:solidFill>
                <a:srgbClr val="262626"/>
              </a:solidFill>
              <a:latin typeface="Consolas"/>
            </a:endParaRPr>
          </a:p>
          <a:p>
            <a:pPr algn="l">
              <a:spcBef>
                <a:spcPts val="0"/>
              </a:spcBef>
              <a:spcAft>
                <a:spcPts val="300"/>
              </a:spcAft>
            </a:pPr>
            <a:r>
              <a:rPr sz="2400" b="1" i="0" dirty="0">
                <a:solidFill>
                  <a:srgbClr val="F5AC00"/>
                </a:solidFill>
                <a:latin typeface="Consolas"/>
              </a:rPr>
              <a:t>resource</a:t>
            </a:r>
            <a:r>
              <a:rPr sz="2400" b="0" i="0" dirty="0">
                <a:solidFill>
                  <a:srgbClr val="262626"/>
                </a:solidFill>
                <a:latin typeface="Consolas"/>
              </a:rPr>
              <a:t> "</a:t>
            </a:r>
            <a:r>
              <a:rPr sz="2400" b="0" i="1" dirty="0" err="1">
                <a:solidFill>
                  <a:srgbClr val="218CD6"/>
                </a:solidFill>
                <a:latin typeface="Consolas"/>
              </a:rPr>
              <a:t>azurerm_storage_account</a:t>
            </a:r>
            <a:r>
              <a:rPr sz="2400" b="0" i="0" dirty="0">
                <a:solidFill>
                  <a:srgbClr val="262626"/>
                </a:solidFill>
                <a:latin typeface="Consolas"/>
              </a:rPr>
              <a:t>" "st" {</a:t>
            </a:r>
          </a:p>
          <a:p>
            <a:pPr algn="l">
              <a:spcBef>
                <a:spcPts val="0"/>
              </a:spcBef>
              <a:spcAft>
                <a:spcPts val="300"/>
              </a:spcAft>
            </a:pPr>
            <a:r>
              <a:rPr sz="2400" b="0" i="0" dirty="0">
                <a:solidFill>
                  <a:srgbClr val="262626"/>
                </a:solidFill>
                <a:latin typeface="Consolas"/>
              </a:rPr>
              <a:t>  name = "</a:t>
            </a:r>
            <a:r>
              <a:rPr sz="2400" b="0" i="0" dirty="0" err="1">
                <a:solidFill>
                  <a:srgbClr val="262626"/>
                </a:solidFill>
                <a:latin typeface="Consolas"/>
              </a:rPr>
              <a:t>stpcdfbodemo</a:t>
            </a:r>
            <a:r>
              <a:rPr sz="2400" b="0" i="0" dirty="0">
                <a:solidFill>
                  <a:srgbClr val="262626"/>
                </a:solidFill>
                <a:latin typeface="Consolas"/>
              </a:rPr>
              <a:t>"</a:t>
            </a:r>
          </a:p>
          <a:p>
            <a:pPr algn="l">
              <a:spcBef>
                <a:spcPts val="0"/>
              </a:spcBef>
              <a:spcAft>
                <a:spcPts val="300"/>
              </a:spcAft>
            </a:pPr>
            <a:r>
              <a:rPr sz="2400" b="0" i="0" dirty="0">
                <a:solidFill>
                  <a:srgbClr val="262626"/>
                </a:solidFill>
                <a:latin typeface="Consolas"/>
              </a:rPr>
              <a:t>  </a:t>
            </a:r>
            <a:r>
              <a:rPr sz="2400" b="0" i="0" dirty="0" err="1">
                <a:solidFill>
                  <a:srgbClr val="262626"/>
                </a:solidFill>
                <a:latin typeface="Consolas"/>
              </a:rPr>
              <a:t>resource_group_name</a:t>
            </a:r>
            <a:r>
              <a:rPr sz="2400" b="0" i="0" dirty="0">
                <a:solidFill>
                  <a:srgbClr val="262626"/>
                </a:solidFill>
                <a:latin typeface="Consolas"/>
              </a:rPr>
              <a:t> = </a:t>
            </a:r>
            <a:r>
              <a:rPr sz="2400" b="1" i="0" dirty="0">
                <a:solidFill>
                  <a:srgbClr val="F5AC00"/>
                </a:solidFill>
                <a:latin typeface="Consolas"/>
              </a:rPr>
              <a:t>data.azurerm_resource_group.rg.name</a:t>
            </a:r>
          </a:p>
          <a:p>
            <a:pPr algn="l">
              <a:spcBef>
                <a:spcPts val="0"/>
              </a:spcBef>
              <a:spcAft>
                <a:spcPts val="300"/>
              </a:spcAft>
            </a:pPr>
            <a:r>
              <a:rPr sz="2400" b="0" i="0" dirty="0">
                <a:solidFill>
                  <a:srgbClr val="262626"/>
                </a:solidFill>
                <a:latin typeface="Consolas"/>
              </a:rPr>
              <a:t>  location = </a:t>
            </a:r>
            <a:r>
              <a:rPr sz="2400" b="1" i="0" dirty="0" err="1">
                <a:solidFill>
                  <a:srgbClr val="F5AC00"/>
                </a:solidFill>
                <a:latin typeface="Consolas"/>
              </a:rPr>
              <a:t>data.azurerm_resource_group.rg.location</a:t>
            </a:r>
            <a:endParaRPr sz="2400" b="1" i="0" dirty="0">
              <a:solidFill>
                <a:srgbClr val="F5AC00"/>
              </a:solidFill>
              <a:latin typeface="Consolas"/>
            </a:endParaRPr>
          </a:p>
          <a:p>
            <a:pPr algn="l">
              <a:spcBef>
                <a:spcPts val="0"/>
              </a:spcBef>
              <a:spcAft>
                <a:spcPts val="300"/>
              </a:spcAft>
            </a:pPr>
            <a:r>
              <a:rPr sz="2400" b="0" i="0" dirty="0">
                <a:solidFill>
                  <a:srgbClr val="262626"/>
                </a:solidFill>
                <a:latin typeface="Consolas"/>
              </a:rPr>
              <a:t>  </a:t>
            </a:r>
            <a:r>
              <a:rPr sz="2400" b="0" i="0" dirty="0" err="1">
                <a:solidFill>
                  <a:srgbClr val="262626"/>
                </a:solidFill>
                <a:latin typeface="Consolas"/>
              </a:rPr>
              <a:t>account_tier</a:t>
            </a:r>
            <a:r>
              <a:rPr sz="2400" b="0" i="0" dirty="0">
                <a:solidFill>
                  <a:srgbClr val="262626"/>
                </a:solidFill>
                <a:latin typeface="Consolas"/>
              </a:rPr>
              <a:t> = "Standard"</a:t>
            </a:r>
          </a:p>
          <a:p>
            <a:pPr algn="l">
              <a:spcBef>
                <a:spcPts val="0"/>
              </a:spcBef>
              <a:spcAft>
                <a:spcPts val="300"/>
              </a:spcAft>
            </a:pPr>
            <a:r>
              <a:rPr sz="2400" b="0" i="0" dirty="0">
                <a:solidFill>
                  <a:srgbClr val="262626"/>
                </a:solidFill>
                <a:latin typeface="Consolas"/>
              </a:rPr>
              <a:t>  </a:t>
            </a:r>
            <a:r>
              <a:rPr sz="2400" b="0" i="0" dirty="0" err="1">
                <a:solidFill>
                  <a:srgbClr val="262626"/>
                </a:solidFill>
                <a:latin typeface="Consolas"/>
              </a:rPr>
              <a:t>account_replication_type</a:t>
            </a:r>
            <a:r>
              <a:rPr sz="2400" b="0" i="0" dirty="0">
                <a:solidFill>
                  <a:srgbClr val="262626"/>
                </a:solidFill>
                <a:latin typeface="Consolas"/>
              </a:rPr>
              <a:t> = "LRS"</a:t>
            </a:r>
          </a:p>
          <a:p>
            <a:pPr algn="l">
              <a:spcBef>
                <a:spcPts val="0"/>
              </a:spcBef>
              <a:spcAft>
                <a:spcPts val="300"/>
              </a:spcAft>
            </a:pPr>
            <a:r>
              <a:rPr sz="2400" b="0" i="0" dirty="0">
                <a:solidFill>
                  <a:srgbClr val="262626"/>
                </a:solidFill>
                <a:latin typeface="Consolas"/>
              </a:rPr>
              <a:t>}</a:t>
            </a:r>
          </a:p>
          <a:p>
            <a:pPr algn="l">
              <a:spcBef>
                <a:spcPts val="0"/>
              </a:spcBef>
              <a:spcAft>
                <a:spcPts val="300"/>
              </a:spcAft>
            </a:pPr>
            <a:endParaRPr sz="2400" b="0" i="0" dirty="0">
              <a:solidFill>
                <a:srgbClr val="262626"/>
              </a:solidFill>
              <a:latin typeface="Consolas"/>
            </a:endParaRPr>
          </a:p>
          <a:p>
            <a:pPr algn="l">
              <a:spcBef>
                <a:spcPts val="0"/>
              </a:spcBef>
              <a:spcAft>
                <a:spcPts val="300"/>
              </a:spcAft>
            </a:pPr>
            <a:r>
              <a:rPr sz="2400" b="1" i="0" dirty="0">
                <a:solidFill>
                  <a:srgbClr val="F5AC00"/>
                </a:solidFill>
                <a:latin typeface="Consolas"/>
              </a:rPr>
              <a:t>resource</a:t>
            </a:r>
            <a:r>
              <a:rPr sz="2400" b="0" i="0" dirty="0">
                <a:solidFill>
                  <a:srgbClr val="262626"/>
                </a:solidFill>
                <a:latin typeface="Consolas"/>
              </a:rPr>
              <a:t> "</a:t>
            </a:r>
            <a:r>
              <a:rPr sz="2400" b="0" i="1" dirty="0" err="1">
                <a:solidFill>
                  <a:srgbClr val="218CD6"/>
                </a:solidFill>
                <a:latin typeface="Consolas"/>
              </a:rPr>
              <a:t>azurerm_storage_container</a:t>
            </a:r>
            <a:r>
              <a:rPr sz="2400" b="0" i="0" dirty="0">
                <a:solidFill>
                  <a:srgbClr val="262626"/>
                </a:solidFill>
                <a:latin typeface="Consolas"/>
              </a:rPr>
              <a:t>" "raw" {</a:t>
            </a:r>
          </a:p>
          <a:p>
            <a:pPr algn="l">
              <a:spcBef>
                <a:spcPts val="0"/>
              </a:spcBef>
              <a:spcAft>
                <a:spcPts val="300"/>
              </a:spcAft>
            </a:pPr>
            <a:r>
              <a:rPr sz="2400" b="0" i="0" dirty="0">
                <a:solidFill>
                  <a:srgbClr val="262626"/>
                </a:solidFill>
                <a:latin typeface="Consolas"/>
              </a:rPr>
              <a:t>  name = "</a:t>
            </a:r>
            <a:r>
              <a:rPr sz="2400" b="0" i="0" dirty="0" err="1">
                <a:solidFill>
                  <a:srgbClr val="262626"/>
                </a:solidFill>
                <a:latin typeface="Consolas"/>
              </a:rPr>
              <a:t>bos</a:t>
            </a:r>
            <a:r>
              <a:rPr sz="2400" b="0" i="0" dirty="0">
                <a:solidFill>
                  <a:srgbClr val="262626"/>
                </a:solidFill>
                <a:latin typeface="Consolas"/>
              </a:rPr>
              <a:t>-raw"</a:t>
            </a:r>
          </a:p>
          <a:p>
            <a:pPr algn="l">
              <a:spcBef>
                <a:spcPts val="0"/>
              </a:spcBef>
              <a:spcAft>
                <a:spcPts val="300"/>
              </a:spcAft>
            </a:pPr>
            <a:r>
              <a:rPr sz="2400" b="0" i="0" dirty="0">
                <a:solidFill>
                  <a:srgbClr val="262626"/>
                </a:solidFill>
                <a:latin typeface="Consolas"/>
              </a:rPr>
              <a:t>  </a:t>
            </a:r>
            <a:r>
              <a:rPr sz="2400" b="0" i="0" dirty="0" err="1">
                <a:solidFill>
                  <a:srgbClr val="262626"/>
                </a:solidFill>
                <a:latin typeface="Consolas"/>
              </a:rPr>
              <a:t>storage_account_name</a:t>
            </a:r>
            <a:r>
              <a:rPr sz="2400" b="0" i="0" dirty="0">
                <a:solidFill>
                  <a:srgbClr val="262626"/>
                </a:solidFill>
                <a:latin typeface="Consolas"/>
              </a:rPr>
              <a:t> = azurerm_storage_account.st.name</a:t>
            </a:r>
          </a:p>
          <a:p>
            <a:pPr algn="l">
              <a:spcBef>
                <a:spcPts val="0"/>
              </a:spcBef>
              <a:spcAft>
                <a:spcPts val="300"/>
              </a:spcAft>
            </a:pPr>
            <a:r>
              <a:rPr sz="2400" b="0" i="0" dirty="0">
                <a:solidFill>
                  <a:srgbClr val="262626"/>
                </a:solidFill>
                <a:latin typeface="Consolas"/>
              </a:rPr>
              <a:t>  </a:t>
            </a:r>
            <a:r>
              <a:rPr sz="2400" b="0" i="0" dirty="0" err="1">
                <a:solidFill>
                  <a:srgbClr val="262626"/>
                </a:solidFill>
                <a:latin typeface="Consolas"/>
              </a:rPr>
              <a:t>container_access_type</a:t>
            </a:r>
            <a:r>
              <a:rPr sz="2400" b="0" i="0" dirty="0">
                <a:solidFill>
                  <a:srgbClr val="262626"/>
                </a:solidFill>
                <a:latin typeface="Consolas"/>
              </a:rPr>
              <a:t> = "private"</a:t>
            </a:r>
          </a:p>
          <a:p>
            <a:pPr algn="l">
              <a:spcBef>
                <a:spcPts val="0"/>
              </a:spcBef>
              <a:spcAft>
                <a:spcPts val="300"/>
              </a:spcAft>
            </a:pPr>
            <a:r>
              <a:rPr sz="2400" b="0" i="0" dirty="0">
                <a:solidFill>
                  <a:srgbClr val="262626"/>
                </a:solidFill>
                <a:latin typeface="Consolas"/>
              </a:rPr>
              <a:t>}</a:t>
            </a:r>
          </a:p>
        </p:txBody>
      </p:sp>
      <p:cxnSp>
        <p:nvCxnSpPr>
          <p:cNvPr id="21" name="Conector reto 20">
            <a:extLst>
              <a:ext uri="{FF2B5EF4-FFF2-40B4-BE49-F238E27FC236}">
                <a16:creationId xmlns:a16="http://schemas.microsoft.com/office/drawing/2014/main" id="{3E7558F5-5597-DE53-FF1E-05430636A637}"/>
              </a:ext>
            </a:extLst>
          </p:cNvPr>
          <p:cNvCxnSpPr/>
          <p:nvPr/>
        </p:nvCxnSpPr>
        <p:spPr>
          <a:xfrm>
            <a:off x="8621486" y="5428343"/>
            <a:ext cx="0" cy="6714286"/>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200" b="1">
                <a:solidFill>
                  <a:srgbClr val="0070C0"/>
                </a:solidFill>
                <a:latin typeface="Calibri"/>
              </a:rPr>
              <a:t>main.tf Completo da Demo (Continuação)</a:t>
            </a:r>
          </a:p>
        </p:txBody>
      </p:sp>
      <p:pic>
        <p:nvPicPr>
          <p:cNvPr id="20" name="Imagem 19">
            <a:extLst>
              <a:ext uri="{FF2B5EF4-FFF2-40B4-BE49-F238E27FC236}">
                <a16:creationId xmlns:a16="http://schemas.microsoft.com/office/drawing/2014/main" id="{45CE19A6-1F05-4560-80E5-7F0D2D511261}"/>
              </a:ext>
            </a:extLst>
          </p:cNvPr>
          <p:cNvPicPr>
            <a:picLocks noChangeAspect="1"/>
          </p:cNvPicPr>
          <p:nvPr/>
        </p:nvPicPr>
        <p:blipFill>
          <a:blip r:embed="rId2"/>
          <a:stretch>
            <a:fillRect/>
          </a:stretch>
        </p:blipFill>
        <p:spPr>
          <a:xfrm>
            <a:off x="2070907" y="4427425"/>
            <a:ext cx="10121093" cy="5152004"/>
          </a:xfrm>
          <a:prstGeom prst="rect">
            <a:avLst/>
          </a:prstGeom>
        </p:spPr>
      </p:pic>
      <p:pic>
        <p:nvPicPr>
          <p:cNvPr id="21" name="Picture 4" descr="aula02-demo-anotado.png"/>
          <p:cNvPicPr>
            <a:picLocks noChangeAspect="1"/>
          </p:cNvPicPr>
          <p:nvPr/>
        </p:nvPicPr>
        <p:blipFill>
          <a:blip r:embed="rId3"/>
          <a:stretch>
            <a:fillRect/>
          </a:stretch>
        </p:blipFill>
        <p:spPr>
          <a:xfrm>
            <a:off x="12380686" y="2099128"/>
            <a:ext cx="8479064" cy="9879497"/>
          </a:xfrm>
          <a:prstGeom prst="rect">
            <a:avLst/>
          </a:prstGeom>
        </p:spPr>
      </p:pic>
      <p:cxnSp>
        <p:nvCxnSpPr>
          <p:cNvPr id="23" name="Conector de Seta Reta 22">
            <a:extLst>
              <a:ext uri="{FF2B5EF4-FFF2-40B4-BE49-F238E27FC236}">
                <a16:creationId xmlns:a16="http://schemas.microsoft.com/office/drawing/2014/main" id="{FBC7D234-5761-725B-88B1-54FB940FE22D}"/>
              </a:ext>
            </a:extLst>
          </p:cNvPr>
          <p:cNvCxnSpPr/>
          <p:nvPr/>
        </p:nvCxnSpPr>
        <p:spPr>
          <a:xfrm flipH="1">
            <a:off x="11495314" y="3686629"/>
            <a:ext cx="2220686" cy="14949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Passo a Passo, Com Resultado Esperado</a:t>
            </a:r>
          </a:p>
        </p:txBody>
      </p:sp>
      <p:sp>
        <p:nvSpPr>
          <p:cNvPr id="3" name="Content Placeholder 2"/>
          <p:cNvSpPr>
            <a:spLocks noGrp="1"/>
          </p:cNvSpPr>
          <p:nvPr>
            <p:ph idx="1"/>
          </p:nvPr>
        </p:nvSpPr>
        <p:spPr/>
        <p:txBody>
          <a:bodyPr wrap="square" anchor="t"/>
          <a:lstStyle/>
          <a:p>
            <a:pPr algn="l">
              <a:spcBef>
                <a:spcPts val="0"/>
              </a:spcBef>
              <a:spcAft>
                <a:spcPts val="1800"/>
              </a:spcAft>
            </a:pPr>
            <a:r>
              <a:rPr sz="2600" b="1">
                <a:solidFill>
                  <a:srgbClr val="004A8F"/>
                </a:solidFill>
                <a:latin typeface="Calibri"/>
              </a:rPr>
              <a:t>terraform init:  </a:t>
            </a:r>
            <a:r>
              <a:rPr sz="2600">
                <a:solidFill>
                  <a:srgbClr val="262626"/>
                </a:solidFill>
                <a:latin typeface="Calibri"/>
              </a:rPr>
              <a:t>"Terraform has been successfully initialized!"</a:t>
            </a:r>
          </a:p>
          <a:p>
            <a:pPr algn="l">
              <a:spcBef>
                <a:spcPts val="0"/>
              </a:spcBef>
              <a:spcAft>
                <a:spcPts val="1800"/>
              </a:spcAft>
            </a:pPr>
            <a:r>
              <a:rPr sz="2600" b="1">
                <a:solidFill>
                  <a:srgbClr val="004A8F"/>
                </a:solidFill>
                <a:latin typeface="Calibri"/>
              </a:rPr>
              <a:t>terraform plan:  </a:t>
            </a:r>
            <a:r>
              <a:rPr sz="2600">
                <a:solidFill>
                  <a:srgbClr val="262626"/>
                </a:solidFill>
                <a:latin typeface="Calibri"/>
              </a:rPr>
              <a:t>"Plan: 2 to add, 0 to change, 0 to destroy." — só a Storage Account e o container contam; o data nunca aparece no plano.</a:t>
            </a:r>
          </a:p>
          <a:p>
            <a:pPr algn="l">
              <a:spcBef>
                <a:spcPts val="0"/>
              </a:spcBef>
              <a:spcAft>
                <a:spcPts val="1800"/>
              </a:spcAft>
            </a:pPr>
            <a:r>
              <a:rPr sz="2600" b="1">
                <a:solidFill>
                  <a:srgbClr val="004A8F"/>
                </a:solidFill>
                <a:latin typeface="Calibri"/>
              </a:rPr>
              <a:t>terraform apply -auto-approve:  </a:t>
            </a:r>
            <a:r>
              <a:rPr sz="2600">
                <a:solidFill>
                  <a:srgbClr val="262626"/>
                </a:solidFill>
                <a:latin typeface="Calibri"/>
              </a:rPr>
              <a:t>recursos criados; outputs exibidos no terminal.</a:t>
            </a:r>
          </a:p>
          <a:p>
            <a:pPr algn="l">
              <a:spcBef>
                <a:spcPts val="0"/>
              </a:spcBef>
              <a:spcAft>
                <a:spcPts val="1800"/>
              </a:spcAft>
            </a:pPr>
            <a:r>
              <a:rPr sz="2600" b="1">
                <a:solidFill>
                  <a:srgbClr val="004A8F"/>
                </a:solidFill>
                <a:latin typeface="Calibri"/>
              </a:rPr>
              <a:t>Conferir no Portal Azure:  </a:t>
            </a:r>
            <a:r>
              <a:rPr sz="2600">
                <a:solidFill>
                  <a:srgbClr val="262626"/>
                </a:solidFill>
                <a:latin typeface="Calibri"/>
              </a:rPr>
              <a:t>portal.azure.com → Resource Groups → rg-pcdf-demo → Storage Account "stpcdfbodemo" e container "bos-raw" visíveis.</a:t>
            </a:r>
          </a:p>
          <a:p>
            <a:pPr algn="l">
              <a:spcBef>
                <a:spcPts val="0"/>
              </a:spcBef>
              <a:spcAft>
                <a:spcPts val="1800"/>
              </a:spcAft>
            </a:pPr>
            <a:r>
              <a:rPr sz="2600" b="1">
                <a:solidFill>
                  <a:srgbClr val="004A8F"/>
                </a:solidFill>
                <a:latin typeface="Calibri"/>
              </a:rPr>
              <a:t>Commit:  </a:t>
            </a:r>
            <a:r>
              <a:rPr sz="2600">
                <a:solidFill>
                  <a:srgbClr val="262626"/>
                </a:solidFill>
                <a:latin typeface="Calibri"/>
              </a:rPr>
              <a:t>git add terraform/ → git commit -m "infra: storage account via terraform" → git push.</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1612900"/>
            <a:ext cx="19170650" cy="898071"/>
          </a:xfrm>
        </p:spPr>
        <p:txBody>
          <a:bodyPr/>
          <a:lstStyle/>
          <a:p>
            <a:pPr algn="l"/>
            <a:r>
              <a:rPr sz="3600" b="1" dirty="0">
                <a:solidFill>
                  <a:srgbClr val="0070C0"/>
                </a:solidFill>
                <a:latin typeface="Calibri"/>
              </a:rPr>
              <a:t>Aula 02 — </a:t>
            </a:r>
            <a:r>
              <a:rPr sz="3600" b="1" dirty="0" err="1">
                <a:solidFill>
                  <a:srgbClr val="0070C0"/>
                </a:solidFill>
                <a:latin typeface="Calibri"/>
              </a:rPr>
              <a:t>Demonstração</a:t>
            </a:r>
            <a:r>
              <a:rPr sz="3600" b="1" dirty="0">
                <a:solidFill>
                  <a:srgbClr val="0070C0"/>
                </a:solidFill>
                <a:latin typeface="Calibri"/>
              </a:rPr>
              <a:t> Ao Vivo (</a:t>
            </a:r>
            <a:r>
              <a:rPr sz="3600" b="1" dirty="0" err="1">
                <a:solidFill>
                  <a:srgbClr val="0070C0"/>
                </a:solidFill>
                <a:latin typeface="Calibri"/>
              </a:rPr>
              <a:t>Referência</a:t>
            </a:r>
            <a:r>
              <a:rPr sz="3600" b="1" dirty="0">
                <a:solidFill>
                  <a:srgbClr val="0070C0"/>
                </a:solidFill>
                <a:latin typeface="Calibri"/>
              </a:rPr>
              <a:t>)</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22</a:t>
            </a:r>
          </a:p>
        </p:txBody>
      </p:sp>
      <p:pic>
        <p:nvPicPr>
          <p:cNvPr id="8" name="Imagem 7">
            <a:extLst>
              <a:ext uri="{FF2B5EF4-FFF2-40B4-BE49-F238E27FC236}">
                <a16:creationId xmlns:a16="http://schemas.microsoft.com/office/drawing/2014/main" id="{78419EB2-7B6E-56BE-2301-F9E04F45661B}"/>
              </a:ext>
            </a:extLst>
          </p:cNvPr>
          <p:cNvPicPr>
            <a:picLocks noChangeAspect="1"/>
          </p:cNvPicPr>
          <p:nvPr/>
        </p:nvPicPr>
        <p:blipFill>
          <a:blip r:embed="rId2"/>
          <a:stretch>
            <a:fillRect/>
          </a:stretch>
        </p:blipFill>
        <p:spPr>
          <a:xfrm>
            <a:off x="1558527" y="3422650"/>
            <a:ext cx="18429491" cy="6870700"/>
          </a:xfrm>
          <a:prstGeom prst="rect">
            <a:avLst/>
          </a:prstGeom>
        </p:spPr>
      </p:pic>
      <p:cxnSp>
        <p:nvCxnSpPr>
          <p:cNvPr id="10" name="Conector de Seta Reta 9">
            <a:extLst>
              <a:ext uri="{FF2B5EF4-FFF2-40B4-BE49-F238E27FC236}">
                <a16:creationId xmlns:a16="http://schemas.microsoft.com/office/drawing/2014/main" id="{2EA13986-E3A0-51B7-B3C7-82EADFAF2629}"/>
              </a:ext>
            </a:extLst>
          </p:cNvPr>
          <p:cNvCxnSpPr/>
          <p:nvPr/>
        </p:nvCxnSpPr>
        <p:spPr>
          <a:xfrm flipV="1">
            <a:off x="4354286" y="5399314"/>
            <a:ext cx="4441371" cy="314960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1" name="Conector de Seta Reta 10">
            <a:extLst>
              <a:ext uri="{FF2B5EF4-FFF2-40B4-BE49-F238E27FC236}">
                <a16:creationId xmlns:a16="http://schemas.microsoft.com/office/drawing/2014/main" id="{D07268F1-F06A-BEE7-DEBB-AE1CA52CF58F}"/>
              </a:ext>
            </a:extLst>
          </p:cNvPr>
          <p:cNvCxnSpPr>
            <a:cxnSpLocks/>
          </p:cNvCxnSpPr>
          <p:nvPr/>
        </p:nvCxnSpPr>
        <p:spPr>
          <a:xfrm>
            <a:off x="4579257" y="8686800"/>
            <a:ext cx="4811486" cy="773793"/>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Reforço: Estrutura de Diretórios do Projeto</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O Passo A2-3 do Manual da Aula 01 — hoje a pasta pulumi/ finalmente vai ser usada.</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PENDÊNCIA 4 DE 4</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Estrutura de Pastas do Projeto (Referência da Aula 01)</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26</a:t>
            </a:r>
          </a:p>
        </p:txBody>
      </p:sp>
      <p:sp>
        <p:nvSpPr>
          <p:cNvPr id="5" name="TextBox 4"/>
          <p:cNvSpPr txBox="1"/>
          <p:nvPr/>
        </p:nvSpPr>
        <p:spPr>
          <a:xfrm>
            <a:off x="1689100" y="3376386"/>
            <a:ext cx="19170650" cy="1056700"/>
          </a:xfrm>
          <a:prstGeom prst="rect">
            <a:avLst/>
          </a:prstGeom>
          <a:noFill/>
        </p:spPr>
        <p:txBody>
          <a:bodyPr wrap="square" anchor="t">
            <a:spAutoFit/>
          </a:bodyPr>
          <a:lstStyle/>
          <a:p>
            <a:pPr marL="457200" indent="-457200" algn="l">
              <a:spcBef>
                <a:spcPts val="0"/>
              </a:spcBef>
              <a:spcAft>
                <a:spcPts val="800"/>
              </a:spcAft>
              <a:buFont typeface="Arial" panose="020B0604020202020204" pitchFamily="34" charset="0"/>
              <a:buChar char="•"/>
            </a:pPr>
            <a:r>
              <a:rPr sz="2800" dirty="0" err="1">
                <a:solidFill>
                  <a:srgbClr val="262626"/>
                </a:solidFill>
                <a:latin typeface="Calibri"/>
              </a:rPr>
              <a:t>Comando</a:t>
            </a:r>
            <a:r>
              <a:rPr sz="2800" dirty="0">
                <a:solidFill>
                  <a:srgbClr val="262626"/>
                </a:solidFill>
                <a:latin typeface="Calibri"/>
              </a:rPr>
              <a:t>: </a:t>
            </a:r>
            <a:r>
              <a:rPr sz="2800" dirty="0" err="1">
                <a:solidFill>
                  <a:srgbClr val="262626"/>
                </a:solidFill>
                <a:latin typeface="Calibri"/>
              </a:rPr>
              <a:t>mkdir</a:t>
            </a:r>
            <a:r>
              <a:rPr sz="2800" dirty="0">
                <a:solidFill>
                  <a:srgbClr val="262626"/>
                </a:solidFill>
                <a:latin typeface="Calibri"/>
              </a:rPr>
              <a:t> -p data scripts terraform </a:t>
            </a:r>
            <a:r>
              <a:rPr sz="2800" dirty="0" err="1">
                <a:solidFill>
                  <a:srgbClr val="262626"/>
                </a:solidFill>
                <a:latin typeface="Calibri"/>
              </a:rPr>
              <a:t>pulumi</a:t>
            </a:r>
            <a:r>
              <a:rPr sz="2800" dirty="0">
                <a:solidFill>
                  <a:srgbClr val="262626"/>
                </a:solidFill>
                <a:latin typeface="Calibri"/>
              </a:rPr>
              <a:t> airflow/</a:t>
            </a:r>
            <a:r>
              <a:rPr sz="2800" dirty="0" err="1">
                <a:solidFill>
                  <a:srgbClr val="262626"/>
                </a:solidFill>
                <a:latin typeface="Calibri"/>
              </a:rPr>
              <a:t>dags</a:t>
            </a:r>
            <a:r>
              <a:rPr sz="2800" dirty="0">
                <a:solidFill>
                  <a:srgbClr val="262626"/>
                </a:solidFill>
                <a:latin typeface="Calibri"/>
              </a:rPr>
              <a:t> </a:t>
            </a:r>
            <a:r>
              <a:rPr sz="2800" dirty="0" err="1">
                <a:solidFill>
                  <a:srgbClr val="262626"/>
                </a:solidFill>
                <a:latin typeface="Calibri"/>
              </a:rPr>
              <a:t>kubeflow</a:t>
            </a:r>
            <a:r>
              <a:rPr sz="2800" dirty="0">
                <a:solidFill>
                  <a:srgbClr val="262626"/>
                </a:solidFill>
                <a:latin typeface="Calibri"/>
              </a:rPr>
              <a:t> app k8s .</a:t>
            </a:r>
            <a:r>
              <a:rPr sz="2800" dirty="0" err="1">
                <a:solidFill>
                  <a:srgbClr val="262626"/>
                </a:solidFill>
                <a:latin typeface="Calibri"/>
              </a:rPr>
              <a:t>github</a:t>
            </a:r>
            <a:r>
              <a:rPr sz="2800" dirty="0">
                <a:solidFill>
                  <a:srgbClr val="262626"/>
                </a:solidFill>
                <a:latin typeface="Calibri"/>
              </a:rPr>
              <a:t>/workflows</a:t>
            </a:r>
            <a:endParaRPr lang="en-US" sz="2800" dirty="0">
              <a:solidFill>
                <a:srgbClr val="262626"/>
              </a:solidFill>
              <a:latin typeface="Calibri"/>
            </a:endParaRPr>
          </a:p>
          <a:p>
            <a:pPr marL="457200" indent="-457200" algn="l">
              <a:spcBef>
                <a:spcPts val="0"/>
              </a:spcBef>
              <a:spcAft>
                <a:spcPts val="800"/>
              </a:spcAft>
              <a:buFont typeface="Arial" panose="020B0604020202020204" pitchFamily="34" charset="0"/>
              <a:buChar char="•"/>
            </a:pPr>
            <a:r>
              <a:rPr sz="2800" dirty="0">
                <a:solidFill>
                  <a:srgbClr val="262626"/>
                </a:solidFill>
                <a:latin typeface="Calibri"/>
              </a:rPr>
              <a:t>No Windows/PowerShell, </a:t>
            </a:r>
            <a:r>
              <a:rPr sz="2800" dirty="0" err="1">
                <a:solidFill>
                  <a:srgbClr val="262626"/>
                </a:solidFill>
                <a:latin typeface="Calibri"/>
              </a:rPr>
              <a:t>prefira</a:t>
            </a:r>
            <a:r>
              <a:rPr sz="2800" dirty="0">
                <a:solidFill>
                  <a:srgbClr val="262626"/>
                </a:solidFill>
                <a:latin typeface="Calibri"/>
              </a:rPr>
              <a:t> o Git Bash para </a:t>
            </a:r>
            <a:r>
              <a:rPr sz="2800" dirty="0" err="1">
                <a:solidFill>
                  <a:srgbClr val="262626"/>
                </a:solidFill>
                <a:latin typeface="Calibri"/>
              </a:rPr>
              <a:t>comandos</a:t>
            </a:r>
            <a:r>
              <a:rPr sz="2800" dirty="0">
                <a:solidFill>
                  <a:srgbClr val="262626"/>
                </a:solidFill>
                <a:latin typeface="Calibri"/>
              </a:rPr>
              <a:t> no </a:t>
            </a:r>
            <a:r>
              <a:rPr sz="2800" dirty="0" err="1">
                <a:solidFill>
                  <a:srgbClr val="262626"/>
                </a:solidFill>
                <a:latin typeface="Calibri"/>
              </a:rPr>
              <a:t>padrão</a:t>
            </a:r>
            <a:r>
              <a:rPr sz="2800" dirty="0">
                <a:solidFill>
                  <a:srgbClr val="262626"/>
                </a:solidFill>
                <a:latin typeface="Calibri"/>
              </a:rPr>
              <a:t> Unix </a:t>
            </a:r>
            <a:r>
              <a:rPr sz="2800" dirty="0" err="1">
                <a:solidFill>
                  <a:srgbClr val="262626"/>
                </a:solidFill>
                <a:latin typeface="Calibri"/>
              </a:rPr>
              <a:t>usados</a:t>
            </a:r>
            <a:r>
              <a:rPr sz="2800" dirty="0">
                <a:solidFill>
                  <a:srgbClr val="262626"/>
                </a:solidFill>
                <a:latin typeface="Calibri"/>
              </a:rPr>
              <a:t> no </a:t>
            </a:r>
            <a:r>
              <a:rPr sz="2800" dirty="0" err="1">
                <a:solidFill>
                  <a:srgbClr val="262626"/>
                </a:solidFill>
                <a:latin typeface="Calibri"/>
              </a:rPr>
              <a:t>curso</a:t>
            </a:r>
            <a:endParaRPr sz="2800" dirty="0">
              <a:solidFill>
                <a:srgbClr val="262626"/>
              </a:solidFill>
              <a:latin typeface="Calibri"/>
            </a:endParaRPr>
          </a:p>
        </p:txBody>
      </p:sp>
      <p:pic>
        <p:nvPicPr>
          <p:cNvPr id="6" name="Picture 5" descr="img_estrutura_pastas.png"/>
          <p:cNvPicPr>
            <a:picLocks noChangeAspect="1"/>
          </p:cNvPicPr>
          <p:nvPr/>
        </p:nvPicPr>
        <p:blipFill>
          <a:blip r:embed="rId2"/>
          <a:stretch>
            <a:fillRect/>
          </a:stretch>
        </p:blipFill>
        <p:spPr>
          <a:xfrm>
            <a:off x="9239197" y="4748042"/>
            <a:ext cx="10887420" cy="7355057"/>
          </a:xfrm>
          <a:prstGeom prst="rect">
            <a:avLst/>
          </a:prstGeom>
        </p:spPr>
      </p:pic>
      <p:pic>
        <p:nvPicPr>
          <p:cNvPr id="7" name="Imagem 6">
            <a:extLst>
              <a:ext uri="{FF2B5EF4-FFF2-40B4-BE49-F238E27FC236}">
                <a16:creationId xmlns:a16="http://schemas.microsoft.com/office/drawing/2014/main" id="{9F3DA493-3E45-AAD3-7749-3346B0D9C2DC}"/>
              </a:ext>
            </a:extLst>
          </p:cNvPr>
          <p:cNvPicPr>
            <a:picLocks noChangeAspect="1"/>
          </p:cNvPicPr>
          <p:nvPr/>
        </p:nvPicPr>
        <p:blipFill>
          <a:blip r:embed="rId3"/>
          <a:srcRect l="48724" t="32760"/>
          <a:stretch>
            <a:fillRect/>
          </a:stretch>
        </p:blipFill>
        <p:spPr>
          <a:xfrm>
            <a:off x="2401367" y="4748042"/>
            <a:ext cx="5421833" cy="75763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Por Que Isso Importa de Novo, Hoje</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800" b="1" dirty="0" err="1">
                <a:solidFill>
                  <a:srgbClr val="004A8F"/>
                </a:solidFill>
                <a:latin typeface="Calibri"/>
              </a:rPr>
              <a:t>pulumi</a:t>
            </a:r>
            <a:r>
              <a:rPr sz="4800" b="1" dirty="0">
                <a:solidFill>
                  <a:srgbClr val="004A8F"/>
                </a:solidFill>
                <a:latin typeface="Calibri"/>
              </a:rPr>
              <a:t>/:  </a:t>
            </a:r>
            <a:r>
              <a:rPr sz="4800" dirty="0">
                <a:solidFill>
                  <a:srgbClr val="262626"/>
                </a:solidFill>
                <a:latin typeface="Calibri"/>
              </a:rPr>
              <a:t>é a pasta </a:t>
            </a:r>
            <a:r>
              <a:rPr sz="4800" dirty="0" err="1">
                <a:solidFill>
                  <a:srgbClr val="262626"/>
                </a:solidFill>
                <a:latin typeface="Calibri"/>
              </a:rPr>
              <a:t>que</a:t>
            </a:r>
            <a:r>
              <a:rPr sz="4800" dirty="0">
                <a:solidFill>
                  <a:srgbClr val="262626"/>
                </a:solidFill>
                <a:latin typeface="Calibri"/>
              </a:rPr>
              <a:t> </a:t>
            </a:r>
            <a:r>
              <a:rPr sz="4800" dirty="0" err="1">
                <a:solidFill>
                  <a:srgbClr val="262626"/>
                </a:solidFill>
                <a:latin typeface="Calibri"/>
              </a:rPr>
              <a:t>vamos</a:t>
            </a:r>
            <a:r>
              <a:rPr sz="4800" dirty="0">
                <a:solidFill>
                  <a:srgbClr val="262626"/>
                </a:solidFill>
                <a:latin typeface="Calibri"/>
              </a:rPr>
              <a:t> usar a </a:t>
            </a:r>
            <a:r>
              <a:rPr sz="4800" dirty="0" err="1">
                <a:solidFill>
                  <a:srgbClr val="262626"/>
                </a:solidFill>
                <a:latin typeface="Calibri"/>
              </a:rPr>
              <a:t>partir</a:t>
            </a:r>
            <a:r>
              <a:rPr sz="4800" dirty="0">
                <a:solidFill>
                  <a:srgbClr val="262626"/>
                </a:solidFill>
                <a:latin typeface="Calibri"/>
              </a:rPr>
              <a:t> de agora — se </a:t>
            </a:r>
            <a:r>
              <a:rPr sz="4800" dirty="0" err="1">
                <a:solidFill>
                  <a:srgbClr val="262626"/>
                </a:solidFill>
                <a:latin typeface="Calibri"/>
              </a:rPr>
              <a:t>ela</a:t>
            </a:r>
            <a:r>
              <a:rPr sz="4800" dirty="0">
                <a:solidFill>
                  <a:srgbClr val="262626"/>
                </a:solidFill>
                <a:latin typeface="Calibri"/>
              </a:rPr>
              <a:t> </a:t>
            </a:r>
            <a:r>
              <a:rPr sz="4800" dirty="0" err="1">
                <a:solidFill>
                  <a:srgbClr val="262626"/>
                </a:solidFill>
                <a:latin typeface="Calibri"/>
              </a:rPr>
              <a:t>não</a:t>
            </a:r>
            <a:r>
              <a:rPr sz="4800" dirty="0">
                <a:solidFill>
                  <a:srgbClr val="262626"/>
                </a:solidFill>
                <a:latin typeface="Calibri"/>
              </a:rPr>
              <a:t> </a:t>
            </a:r>
            <a:r>
              <a:rPr sz="4800" dirty="0" err="1">
                <a:solidFill>
                  <a:srgbClr val="262626"/>
                </a:solidFill>
                <a:latin typeface="Calibri"/>
              </a:rPr>
              <a:t>existir</a:t>
            </a:r>
            <a:r>
              <a:rPr sz="4800" dirty="0">
                <a:solidFill>
                  <a:srgbClr val="262626"/>
                </a:solidFill>
                <a:latin typeface="Calibri"/>
              </a:rPr>
              <a:t>, é o </a:t>
            </a:r>
            <a:r>
              <a:rPr sz="4800" dirty="0" err="1">
                <a:solidFill>
                  <a:srgbClr val="262626"/>
                </a:solidFill>
                <a:latin typeface="Calibri"/>
              </a:rPr>
              <a:t>primeiro</a:t>
            </a:r>
            <a:r>
              <a:rPr sz="4800" dirty="0">
                <a:solidFill>
                  <a:srgbClr val="262626"/>
                </a:solidFill>
                <a:latin typeface="Calibri"/>
              </a:rPr>
              <a:t> </a:t>
            </a:r>
            <a:r>
              <a:rPr sz="4800" dirty="0" err="1">
                <a:solidFill>
                  <a:srgbClr val="262626"/>
                </a:solidFill>
                <a:latin typeface="Calibri"/>
              </a:rPr>
              <a:t>passo</a:t>
            </a:r>
            <a:r>
              <a:rPr sz="4800" dirty="0">
                <a:solidFill>
                  <a:srgbClr val="262626"/>
                </a:solidFill>
                <a:latin typeface="Calibri"/>
              </a:rPr>
              <a:t> antes de </a:t>
            </a:r>
            <a:r>
              <a:rPr sz="4800" dirty="0" err="1">
                <a:solidFill>
                  <a:srgbClr val="262626"/>
                </a:solidFill>
                <a:latin typeface="Calibri"/>
              </a:rPr>
              <a:t>pulumi</a:t>
            </a:r>
            <a:r>
              <a:rPr sz="4800" dirty="0">
                <a:solidFill>
                  <a:srgbClr val="262626"/>
                </a:solidFill>
                <a:latin typeface="Calibri"/>
              </a:rPr>
              <a:t> new.</a:t>
            </a:r>
          </a:p>
          <a:p>
            <a:pPr algn="l">
              <a:spcBef>
                <a:spcPts val="0"/>
              </a:spcBef>
              <a:spcAft>
                <a:spcPts val="2200"/>
              </a:spcAft>
            </a:pPr>
            <a:r>
              <a:rPr sz="4800" b="1" dirty="0">
                <a:solidFill>
                  <a:srgbClr val="004A8F"/>
                </a:solidFill>
                <a:latin typeface="Calibri"/>
              </a:rPr>
              <a:t>Uma pasta </a:t>
            </a:r>
            <a:r>
              <a:rPr sz="4800" b="1" dirty="0" err="1">
                <a:solidFill>
                  <a:srgbClr val="004A8F"/>
                </a:solidFill>
                <a:latin typeface="Calibri"/>
              </a:rPr>
              <a:t>por</a:t>
            </a:r>
            <a:r>
              <a:rPr sz="4800" b="1" dirty="0">
                <a:solidFill>
                  <a:srgbClr val="004A8F"/>
                </a:solidFill>
                <a:latin typeface="Calibri"/>
              </a:rPr>
              <a:t> ferramenta:  </a:t>
            </a:r>
            <a:r>
              <a:rPr sz="4800" dirty="0" err="1">
                <a:solidFill>
                  <a:srgbClr val="262626"/>
                </a:solidFill>
                <a:latin typeface="Calibri"/>
              </a:rPr>
              <a:t>cada</a:t>
            </a:r>
            <a:r>
              <a:rPr sz="4800" dirty="0">
                <a:solidFill>
                  <a:srgbClr val="262626"/>
                </a:solidFill>
                <a:latin typeface="Calibri"/>
              </a:rPr>
              <a:t> aula do </a:t>
            </a:r>
            <a:r>
              <a:rPr sz="4800" dirty="0" err="1">
                <a:solidFill>
                  <a:srgbClr val="262626"/>
                </a:solidFill>
                <a:latin typeface="Calibri"/>
              </a:rPr>
              <a:t>curso</a:t>
            </a:r>
            <a:r>
              <a:rPr sz="4800" dirty="0">
                <a:solidFill>
                  <a:srgbClr val="262626"/>
                </a:solidFill>
                <a:latin typeface="Calibri"/>
              </a:rPr>
              <a:t> </a:t>
            </a:r>
            <a:r>
              <a:rPr sz="4800" dirty="0" err="1">
                <a:solidFill>
                  <a:srgbClr val="262626"/>
                </a:solidFill>
                <a:latin typeface="Calibri"/>
              </a:rPr>
              <a:t>ocupa</a:t>
            </a:r>
            <a:r>
              <a:rPr sz="4800" dirty="0">
                <a:solidFill>
                  <a:srgbClr val="262626"/>
                </a:solidFill>
                <a:latin typeface="Calibri"/>
              </a:rPr>
              <a:t> a </a:t>
            </a:r>
            <a:r>
              <a:rPr sz="4800" dirty="0" err="1">
                <a:solidFill>
                  <a:srgbClr val="262626"/>
                </a:solidFill>
                <a:latin typeface="Calibri"/>
              </a:rPr>
              <a:t>sua</a:t>
            </a:r>
            <a:r>
              <a:rPr sz="4800" dirty="0">
                <a:solidFill>
                  <a:srgbClr val="262626"/>
                </a:solidFill>
                <a:latin typeface="Calibri"/>
              </a:rPr>
              <a:t> </a:t>
            </a:r>
            <a:r>
              <a:rPr sz="4800" dirty="0" err="1">
                <a:solidFill>
                  <a:srgbClr val="262626"/>
                </a:solidFill>
                <a:latin typeface="Calibri"/>
              </a:rPr>
              <a:t>própria</a:t>
            </a:r>
            <a:r>
              <a:rPr sz="4800" dirty="0">
                <a:solidFill>
                  <a:srgbClr val="262626"/>
                </a:solidFill>
                <a:latin typeface="Calibri"/>
              </a:rPr>
              <a:t> pasta — </a:t>
            </a:r>
            <a:r>
              <a:rPr sz="4800" dirty="0" err="1">
                <a:solidFill>
                  <a:srgbClr val="262626"/>
                </a:solidFill>
                <a:latin typeface="Calibri"/>
              </a:rPr>
              <a:t>nunca</a:t>
            </a:r>
            <a:r>
              <a:rPr sz="4800" dirty="0">
                <a:solidFill>
                  <a:srgbClr val="262626"/>
                </a:solidFill>
                <a:latin typeface="Calibri"/>
              </a:rPr>
              <a:t> </a:t>
            </a:r>
            <a:r>
              <a:rPr sz="4800" dirty="0" err="1">
                <a:solidFill>
                  <a:srgbClr val="262626"/>
                </a:solidFill>
                <a:latin typeface="Calibri"/>
              </a:rPr>
              <a:t>misture</a:t>
            </a:r>
            <a:r>
              <a:rPr sz="4800" dirty="0">
                <a:solidFill>
                  <a:srgbClr val="262626"/>
                </a:solidFill>
                <a:latin typeface="Calibri"/>
              </a:rPr>
              <a:t> Terraform e </a:t>
            </a:r>
            <a:r>
              <a:rPr sz="4800" dirty="0" err="1">
                <a:solidFill>
                  <a:srgbClr val="262626"/>
                </a:solidFill>
                <a:latin typeface="Calibri"/>
              </a:rPr>
              <a:t>Pulumi</a:t>
            </a:r>
            <a:r>
              <a:rPr sz="4800" dirty="0">
                <a:solidFill>
                  <a:srgbClr val="262626"/>
                </a:solidFill>
                <a:latin typeface="Calibri"/>
              </a:rPr>
              <a:t> no </a:t>
            </a:r>
            <a:r>
              <a:rPr sz="4800" dirty="0" err="1">
                <a:solidFill>
                  <a:srgbClr val="262626"/>
                </a:solidFill>
                <a:latin typeface="Calibri"/>
              </a:rPr>
              <a:t>mesmo</a:t>
            </a:r>
            <a:r>
              <a:rPr sz="4800" dirty="0">
                <a:solidFill>
                  <a:srgbClr val="262626"/>
                </a:solidFill>
                <a:latin typeface="Calibri"/>
              </a:rPr>
              <a:t> </a:t>
            </a:r>
            <a:r>
              <a:rPr sz="4800" dirty="0" err="1">
                <a:solidFill>
                  <a:srgbClr val="262626"/>
                </a:solidFill>
                <a:latin typeface="Calibri"/>
              </a:rPr>
              <a:t>diretório</a:t>
            </a:r>
            <a:r>
              <a:rPr sz="4800" dirty="0">
                <a:solidFill>
                  <a:srgbClr val="262626"/>
                </a:solidFill>
                <a:latin typeface="Calibri"/>
              </a:rPr>
              <a:t> (</a:t>
            </a:r>
            <a:r>
              <a:rPr sz="4800" dirty="0" err="1">
                <a:solidFill>
                  <a:srgbClr val="262626"/>
                </a:solidFill>
                <a:latin typeface="Calibri"/>
              </a:rPr>
              <a:t>cada</a:t>
            </a:r>
            <a:r>
              <a:rPr sz="4800" dirty="0">
                <a:solidFill>
                  <a:srgbClr val="262626"/>
                </a:solidFill>
                <a:latin typeface="Calibri"/>
              </a:rPr>
              <a:t> um </a:t>
            </a:r>
            <a:r>
              <a:rPr sz="4800" dirty="0" err="1">
                <a:solidFill>
                  <a:srgbClr val="262626"/>
                </a:solidFill>
                <a:latin typeface="Calibri"/>
              </a:rPr>
              <a:t>tem</a:t>
            </a:r>
            <a:r>
              <a:rPr sz="4800" dirty="0">
                <a:solidFill>
                  <a:srgbClr val="262626"/>
                </a:solidFill>
                <a:latin typeface="Calibri"/>
              </a:rPr>
              <a:t> </a:t>
            </a:r>
            <a:r>
              <a:rPr sz="4800" dirty="0" err="1">
                <a:solidFill>
                  <a:srgbClr val="262626"/>
                </a:solidFill>
                <a:latin typeface="Calibri"/>
              </a:rPr>
              <a:t>seu</a:t>
            </a:r>
            <a:r>
              <a:rPr sz="4800" dirty="0">
                <a:solidFill>
                  <a:srgbClr val="262626"/>
                </a:solidFill>
                <a:latin typeface="Calibri"/>
              </a:rPr>
              <a:t> </a:t>
            </a:r>
            <a:r>
              <a:rPr sz="4800" dirty="0" err="1">
                <a:solidFill>
                  <a:srgbClr val="262626"/>
                </a:solidFill>
                <a:latin typeface="Calibri"/>
              </a:rPr>
              <a:t>próprio</a:t>
            </a:r>
            <a:r>
              <a:rPr sz="4800" dirty="0">
                <a:solidFill>
                  <a:srgbClr val="262626"/>
                </a:solidFill>
                <a:latin typeface="Calibri"/>
              </a:rPr>
              <a:t> state).</a:t>
            </a:r>
          </a:p>
          <a:p>
            <a:pPr algn="l">
              <a:spcBef>
                <a:spcPts val="0"/>
              </a:spcBef>
              <a:spcAft>
                <a:spcPts val="2200"/>
              </a:spcAft>
            </a:pPr>
            <a:r>
              <a:rPr sz="4800" b="1" dirty="0">
                <a:solidFill>
                  <a:srgbClr val="004A8F"/>
                </a:solidFill>
                <a:latin typeface="Calibri"/>
              </a:rPr>
              <a:t>Se a </a:t>
            </a:r>
            <a:r>
              <a:rPr sz="4800" b="1" dirty="0" err="1">
                <a:solidFill>
                  <a:srgbClr val="004A8F"/>
                </a:solidFill>
                <a:latin typeface="Calibri"/>
              </a:rPr>
              <a:t>estrutura</a:t>
            </a:r>
            <a:r>
              <a:rPr sz="4800" b="1" dirty="0">
                <a:solidFill>
                  <a:srgbClr val="004A8F"/>
                </a:solidFill>
                <a:latin typeface="Calibri"/>
              </a:rPr>
              <a:t> </a:t>
            </a:r>
            <a:r>
              <a:rPr sz="4800" b="1" dirty="0" err="1">
                <a:solidFill>
                  <a:srgbClr val="004A8F"/>
                </a:solidFill>
                <a:latin typeface="Calibri"/>
              </a:rPr>
              <a:t>ainda</a:t>
            </a:r>
            <a:r>
              <a:rPr sz="4800" b="1" dirty="0">
                <a:solidFill>
                  <a:srgbClr val="004A8F"/>
                </a:solidFill>
                <a:latin typeface="Calibri"/>
              </a:rPr>
              <a:t> </a:t>
            </a:r>
            <a:r>
              <a:rPr sz="4800" b="1" dirty="0" err="1">
                <a:solidFill>
                  <a:srgbClr val="004A8F"/>
                </a:solidFill>
                <a:latin typeface="Calibri"/>
              </a:rPr>
              <a:t>não</a:t>
            </a:r>
            <a:r>
              <a:rPr sz="4800" b="1" dirty="0">
                <a:solidFill>
                  <a:srgbClr val="004A8F"/>
                </a:solidFill>
                <a:latin typeface="Calibri"/>
              </a:rPr>
              <a:t> </a:t>
            </a:r>
            <a:r>
              <a:rPr sz="4800" b="1" dirty="0" err="1">
                <a:solidFill>
                  <a:srgbClr val="004A8F"/>
                </a:solidFill>
                <a:latin typeface="Calibri"/>
              </a:rPr>
              <a:t>existe</a:t>
            </a:r>
            <a:r>
              <a:rPr sz="4800" b="1" dirty="0">
                <a:solidFill>
                  <a:srgbClr val="004A8F"/>
                </a:solidFill>
                <a:latin typeface="Calibri"/>
              </a:rPr>
              <a:t>:  </a:t>
            </a:r>
            <a:r>
              <a:rPr sz="4800" dirty="0">
                <a:solidFill>
                  <a:srgbClr val="262626"/>
                </a:solidFill>
                <a:latin typeface="Calibri"/>
              </a:rPr>
              <a:t>volte </a:t>
            </a:r>
            <a:r>
              <a:rPr sz="4800" dirty="0" err="1">
                <a:solidFill>
                  <a:srgbClr val="262626"/>
                </a:solidFill>
                <a:latin typeface="Calibri"/>
              </a:rPr>
              <a:t>ao</a:t>
            </a:r>
            <a:r>
              <a:rPr sz="4800" dirty="0">
                <a:solidFill>
                  <a:srgbClr val="262626"/>
                </a:solidFill>
                <a:latin typeface="Calibri"/>
              </a:rPr>
              <a:t> Passo A2-3 do Manual da Aula 01 antes de </a:t>
            </a:r>
            <a:r>
              <a:rPr sz="4800" dirty="0" err="1">
                <a:solidFill>
                  <a:srgbClr val="262626"/>
                </a:solidFill>
                <a:latin typeface="Calibri"/>
              </a:rPr>
              <a:t>continuar</a:t>
            </a:r>
            <a:r>
              <a:rPr sz="4800" dirty="0">
                <a:solidFill>
                  <a:srgbClr val="262626"/>
                </a:solidFill>
                <a:latin typeface="Calibri"/>
              </a:rPr>
              <a:t> — é </a:t>
            </a:r>
            <a:r>
              <a:rPr sz="4800" dirty="0" err="1">
                <a:solidFill>
                  <a:srgbClr val="262626"/>
                </a:solidFill>
                <a:latin typeface="Calibri"/>
              </a:rPr>
              <a:t>pré-requisito</a:t>
            </a:r>
            <a:r>
              <a:rPr sz="4800" dirty="0">
                <a:solidFill>
                  <a:srgbClr val="262626"/>
                </a:solidFill>
                <a:latin typeface="Calibri"/>
              </a:rPr>
              <a:t> da Entrega 3.</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normAutofit/>
          </a:bodyPr>
          <a:lstStyle/>
          <a:p>
            <a:pPr algn="l"/>
            <a:r>
              <a:rPr sz="6000" b="1" dirty="0" err="1">
                <a:solidFill>
                  <a:srgbClr val="004A8F"/>
                </a:solidFill>
                <a:latin typeface="Calibri"/>
              </a:rPr>
              <a:t>Pulumi</a:t>
            </a:r>
            <a:r>
              <a:rPr sz="6000" b="1" dirty="0">
                <a:solidFill>
                  <a:srgbClr val="004A8F"/>
                </a:solidFill>
                <a:latin typeface="Calibri"/>
              </a:rPr>
              <a:t>: </a:t>
            </a:r>
            <a:r>
              <a:rPr sz="6000" b="1" dirty="0" err="1">
                <a:solidFill>
                  <a:srgbClr val="004A8F"/>
                </a:solidFill>
                <a:latin typeface="Calibri"/>
              </a:rPr>
              <a:t>Infraestrutura</a:t>
            </a:r>
            <a:r>
              <a:rPr sz="6000" b="1" dirty="0">
                <a:solidFill>
                  <a:srgbClr val="004A8F"/>
                </a:solidFill>
                <a:latin typeface="Calibri"/>
              </a:rPr>
              <a:t> </a:t>
            </a:r>
            <a:r>
              <a:rPr sz="6000" b="1" dirty="0" err="1">
                <a:solidFill>
                  <a:srgbClr val="004A8F"/>
                </a:solidFill>
                <a:latin typeface="Calibri"/>
              </a:rPr>
              <a:t>como</a:t>
            </a:r>
            <a:r>
              <a:rPr sz="6000" b="1" dirty="0">
                <a:solidFill>
                  <a:srgbClr val="004A8F"/>
                </a:solidFill>
                <a:latin typeface="Calibri"/>
              </a:rPr>
              <a:t> Código com </a:t>
            </a:r>
            <a:r>
              <a:rPr sz="6000" b="1" dirty="0" err="1">
                <a:solidFill>
                  <a:srgbClr val="004A8F"/>
                </a:solidFill>
                <a:latin typeface="Calibri"/>
              </a:rPr>
              <a:t>Linguagens</a:t>
            </a:r>
            <a:r>
              <a:rPr sz="6000" b="1" dirty="0">
                <a:solidFill>
                  <a:srgbClr val="004A8F"/>
                </a:solidFill>
                <a:latin typeface="Calibri"/>
              </a:rPr>
              <a:t> Reais</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Mesma categoria de ferramenta do Terraform — motor de execução + providers + state — só que o "HCL" vira Python de verdade.</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1</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29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400" b="1" dirty="0">
                <a:solidFill>
                  <a:srgbClr val="0070C0"/>
                </a:solidFill>
                <a:latin typeface="Calibri"/>
              </a:rPr>
              <a:t>O </a:t>
            </a:r>
            <a:r>
              <a:rPr sz="4400" b="1" dirty="0" err="1">
                <a:solidFill>
                  <a:srgbClr val="0070C0"/>
                </a:solidFill>
                <a:latin typeface="Calibri"/>
              </a:rPr>
              <a:t>Que</a:t>
            </a:r>
            <a:r>
              <a:rPr sz="4400" b="1" dirty="0">
                <a:solidFill>
                  <a:srgbClr val="0070C0"/>
                </a:solidFill>
                <a:latin typeface="Calibri"/>
              </a:rPr>
              <a:t> É o </a:t>
            </a:r>
            <a:r>
              <a:rPr sz="4400" b="1" dirty="0" err="1">
                <a:solidFill>
                  <a:srgbClr val="0070C0"/>
                </a:solidFill>
                <a:latin typeface="Calibri"/>
              </a:rPr>
              <a:t>Pulumi</a:t>
            </a:r>
            <a:endParaRPr sz="4400" b="1" dirty="0">
              <a:solidFill>
                <a:srgbClr val="0070C0"/>
              </a:solidFill>
              <a:latin typeface="Calibri"/>
            </a:endParaRP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3600" b="1" dirty="0" err="1">
                <a:solidFill>
                  <a:srgbClr val="004A8F"/>
                </a:solidFill>
                <a:latin typeface="Calibri"/>
              </a:rPr>
              <a:t>Definição</a:t>
            </a:r>
            <a:r>
              <a:rPr sz="3600" b="1" dirty="0">
                <a:solidFill>
                  <a:srgbClr val="004A8F"/>
                </a:solidFill>
                <a:latin typeface="Calibri"/>
              </a:rPr>
              <a:t>:  </a:t>
            </a:r>
            <a:r>
              <a:rPr sz="3600" dirty="0" err="1">
                <a:solidFill>
                  <a:srgbClr val="262626"/>
                </a:solidFill>
                <a:latin typeface="Calibri"/>
              </a:rPr>
              <a:t>uma</a:t>
            </a:r>
            <a:r>
              <a:rPr sz="3600" dirty="0">
                <a:solidFill>
                  <a:srgbClr val="262626"/>
                </a:solidFill>
                <a:latin typeface="Calibri"/>
              </a:rPr>
              <a:t> ferramenta de </a:t>
            </a:r>
            <a:r>
              <a:rPr sz="3600" dirty="0" err="1">
                <a:solidFill>
                  <a:srgbClr val="262626"/>
                </a:solidFill>
                <a:latin typeface="Calibri"/>
              </a:rPr>
              <a:t>Infraestrutura</a:t>
            </a:r>
            <a:r>
              <a:rPr sz="3600" dirty="0">
                <a:solidFill>
                  <a:srgbClr val="262626"/>
                </a:solidFill>
                <a:latin typeface="Calibri"/>
              </a:rPr>
              <a:t> </a:t>
            </a:r>
            <a:r>
              <a:rPr sz="3600" dirty="0" err="1">
                <a:solidFill>
                  <a:srgbClr val="262626"/>
                </a:solidFill>
                <a:latin typeface="Calibri"/>
              </a:rPr>
              <a:t>como</a:t>
            </a:r>
            <a:r>
              <a:rPr sz="3600" dirty="0">
                <a:solidFill>
                  <a:srgbClr val="262626"/>
                </a:solidFill>
                <a:latin typeface="Calibri"/>
              </a:rPr>
              <a:t> Código (</a:t>
            </a:r>
            <a:r>
              <a:rPr sz="3600" dirty="0" err="1">
                <a:solidFill>
                  <a:srgbClr val="262626"/>
                </a:solidFill>
                <a:latin typeface="Calibri"/>
              </a:rPr>
              <a:t>IaC</a:t>
            </a:r>
            <a:r>
              <a:rPr sz="3600" dirty="0">
                <a:solidFill>
                  <a:srgbClr val="262626"/>
                </a:solidFill>
                <a:latin typeface="Calibri"/>
              </a:rPr>
              <a:t>) </a:t>
            </a:r>
            <a:r>
              <a:rPr sz="3600" dirty="0" err="1">
                <a:solidFill>
                  <a:srgbClr val="262626"/>
                </a:solidFill>
                <a:latin typeface="Calibri"/>
              </a:rPr>
              <a:t>que</a:t>
            </a:r>
            <a:r>
              <a:rPr sz="3600" dirty="0">
                <a:solidFill>
                  <a:srgbClr val="262626"/>
                </a:solidFill>
                <a:latin typeface="Calibri"/>
              </a:rPr>
              <a:t> </a:t>
            </a:r>
            <a:r>
              <a:rPr sz="3600" dirty="0" err="1">
                <a:solidFill>
                  <a:srgbClr val="262626"/>
                </a:solidFill>
                <a:latin typeface="Calibri"/>
              </a:rPr>
              <a:t>usa</a:t>
            </a:r>
            <a:r>
              <a:rPr sz="3600" dirty="0">
                <a:solidFill>
                  <a:srgbClr val="262626"/>
                </a:solidFill>
                <a:latin typeface="Calibri"/>
              </a:rPr>
              <a:t> </a:t>
            </a:r>
            <a:r>
              <a:rPr sz="3600" dirty="0" err="1">
                <a:solidFill>
                  <a:srgbClr val="262626"/>
                </a:solidFill>
                <a:latin typeface="Calibri"/>
              </a:rPr>
              <a:t>linguagens</a:t>
            </a:r>
            <a:r>
              <a:rPr sz="3600" dirty="0">
                <a:solidFill>
                  <a:srgbClr val="262626"/>
                </a:solidFill>
                <a:latin typeface="Calibri"/>
              </a:rPr>
              <a:t> de </a:t>
            </a:r>
            <a:r>
              <a:rPr sz="3600" dirty="0" err="1">
                <a:solidFill>
                  <a:srgbClr val="262626"/>
                </a:solidFill>
                <a:latin typeface="Calibri"/>
              </a:rPr>
              <a:t>programação</a:t>
            </a:r>
            <a:r>
              <a:rPr sz="3600" dirty="0">
                <a:solidFill>
                  <a:srgbClr val="262626"/>
                </a:solidFill>
                <a:latin typeface="Calibri"/>
              </a:rPr>
              <a:t> de </a:t>
            </a:r>
            <a:r>
              <a:rPr sz="3600" dirty="0" err="1">
                <a:solidFill>
                  <a:srgbClr val="262626"/>
                </a:solidFill>
                <a:latin typeface="Calibri"/>
              </a:rPr>
              <a:t>propósito</a:t>
            </a:r>
            <a:r>
              <a:rPr sz="3600" dirty="0">
                <a:solidFill>
                  <a:srgbClr val="262626"/>
                </a:solidFill>
                <a:latin typeface="Calibri"/>
              </a:rPr>
              <a:t> </a:t>
            </a:r>
            <a:r>
              <a:rPr sz="3600" dirty="0" err="1">
                <a:solidFill>
                  <a:srgbClr val="262626"/>
                </a:solidFill>
                <a:latin typeface="Calibri"/>
              </a:rPr>
              <a:t>geral</a:t>
            </a:r>
            <a:r>
              <a:rPr sz="3600" dirty="0">
                <a:solidFill>
                  <a:srgbClr val="262626"/>
                </a:solidFill>
                <a:latin typeface="Calibri"/>
              </a:rPr>
              <a:t> — Python, TypeScript, Go, C#, Java — </a:t>
            </a:r>
            <a:r>
              <a:rPr sz="3600" dirty="0" err="1">
                <a:solidFill>
                  <a:srgbClr val="262626"/>
                </a:solidFill>
                <a:latin typeface="Calibri"/>
              </a:rPr>
              <a:t>em</a:t>
            </a:r>
            <a:r>
              <a:rPr sz="3600" dirty="0">
                <a:solidFill>
                  <a:srgbClr val="262626"/>
                </a:solidFill>
                <a:latin typeface="Calibri"/>
              </a:rPr>
              <a:t> </a:t>
            </a:r>
            <a:r>
              <a:rPr sz="3600" dirty="0" err="1">
                <a:solidFill>
                  <a:srgbClr val="262626"/>
                </a:solidFill>
                <a:latin typeface="Calibri"/>
              </a:rPr>
              <a:t>vez</a:t>
            </a:r>
            <a:r>
              <a:rPr sz="3600" dirty="0">
                <a:solidFill>
                  <a:srgbClr val="262626"/>
                </a:solidFill>
                <a:latin typeface="Calibri"/>
              </a:rPr>
              <a:t> de </a:t>
            </a:r>
            <a:r>
              <a:rPr sz="3600" dirty="0" err="1">
                <a:solidFill>
                  <a:srgbClr val="262626"/>
                </a:solidFill>
                <a:latin typeface="Calibri"/>
              </a:rPr>
              <a:t>uma</a:t>
            </a:r>
            <a:r>
              <a:rPr sz="3600" dirty="0">
                <a:solidFill>
                  <a:srgbClr val="262626"/>
                </a:solidFill>
                <a:latin typeface="Calibri"/>
              </a:rPr>
              <a:t> DSL </a:t>
            </a:r>
            <a:r>
              <a:rPr sz="3600" dirty="0" err="1">
                <a:solidFill>
                  <a:srgbClr val="262626"/>
                </a:solidFill>
                <a:latin typeface="Calibri"/>
              </a:rPr>
              <a:t>declarativa</a:t>
            </a:r>
            <a:r>
              <a:rPr sz="3600" dirty="0">
                <a:solidFill>
                  <a:srgbClr val="262626"/>
                </a:solidFill>
                <a:latin typeface="Calibri"/>
              </a:rPr>
              <a:t> </a:t>
            </a:r>
            <a:r>
              <a:rPr sz="3600" dirty="0" err="1">
                <a:solidFill>
                  <a:srgbClr val="262626"/>
                </a:solidFill>
                <a:latin typeface="Calibri"/>
              </a:rPr>
              <a:t>como</a:t>
            </a:r>
            <a:r>
              <a:rPr sz="3600" dirty="0">
                <a:solidFill>
                  <a:srgbClr val="262626"/>
                </a:solidFill>
                <a:latin typeface="Calibri"/>
              </a:rPr>
              <a:t> o HCL.</a:t>
            </a:r>
          </a:p>
          <a:p>
            <a:pPr algn="l">
              <a:spcBef>
                <a:spcPts val="0"/>
              </a:spcBef>
              <a:spcAft>
                <a:spcPts val="2200"/>
              </a:spcAft>
            </a:pPr>
            <a:r>
              <a:rPr sz="3600" b="1" dirty="0" err="1">
                <a:solidFill>
                  <a:srgbClr val="004A8F"/>
                </a:solidFill>
                <a:latin typeface="Calibri"/>
              </a:rPr>
              <a:t>Mesma</a:t>
            </a:r>
            <a:r>
              <a:rPr sz="3600" b="1" dirty="0">
                <a:solidFill>
                  <a:srgbClr val="004A8F"/>
                </a:solidFill>
                <a:latin typeface="Calibri"/>
              </a:rPr>
              <a:t> </a:t>
            </a:r>
            <a:r>
              <a:rPr sz="3600" b="1" dirty="0" err="1">
                <a:solidFill>
                  <a:srgbClr val="004A8F"/>
                </a:solidFill>
                <a:latin typeface="Calibri"/>
              </a:rPr>
              <a:t>categoria</a:t>
            </a:r>
            <a:r>
              <a:rPr sz="3600" b="1" dirty="0">
                <a:solidFill>
                  <a:srgbClr val="004A8F"/>
                </a:solidFill>
                <a:latin typeface="Calibri"/>
              </a:rPr>
              <a:t> do Terraform:  </a:t>
            </a:r>
            <a:r>
              <a:rPr sz="3600" dirty="0">
                <a:solidFill>
                  <a:srgbClr val="262626"/>
                </a:solidFill>
                <a:latin typeface="Calibri"/>
              </a:rPr>
              <a:t>motor de </a:t>
            </a:r>
            <a:r>
              <a:rPr sz="3600" dirty="0" err="1">
                <a:solidFill>
                  <a:srgbClr val="262626"/>
                </a:solidFill>
                <a:latin typeface="Calibri"/>
              </a:rPr>
              <a:t>execução</a:t>
            </a:r>
            <a:r>
              <a:rPr sz="3600" dirty="0">
                <a:solidFill>
                  <a:srgbClr val="262626"/>
                </a:solidFill>
                <a:latin typeface="Calibri"/>
              </a:rPr>
              <a:t> (</a:t>
            </a:r>
            <a:r>
              <a:rPr sz="3600" dirty="0" err="1">
                <a:solidFill>
                  <a:srgbClr val="262626"/>
                </a:solidFill>
                <a:latin typeface="Calibri"/>
              </a:rPr>
              <a:t>Pulumi</a:t>
            </a:r>
            <a:r>
              <a:rPr sz="3600" dirty="0">
                <a:solidFill>
                  <a:srgbClr val="262626"/>
                </a:solidFill>
                <a:latin typeface="Calibri"/>
              </a:rPr>
              <a:t> Engine) + plugins de provider + </a:t>
            </a:r>
            <a:r>
              <a:rPr sz="3600" dirty="0" err="1">
                <a:solidFill>
                  <a:srgbClr val="262626"/>
                </a:solidFill>
                <a:latin typeface="Calibri"/>
              </a:rPr>
              <a:t>arquivo</a:t>
            </a:r>
            <a:r>
              <a:rPr sz="3600" dirty="0">
                <a:solidFill>
                  <a:srgbClr val="262626"/>
                </a:solidFill>
                <a:latin typeface="Calibri"/>
              </a:rPr>
              <a:t> de state — a </a:t>
            </a:r>
            <a:r>
              <a:rPr sz="3600" dirty="0" err="1">
                <a:solidFill>
                  <a:srgbClr val="262626"/>
                </a:solidFill>
                <a:latin typeface="Calibri"/>
              </a:rPr>
              <a:t>arquitetura</a:t>
            </a:r>
            <a:r>
              <a:rPr sz="3600" dirty="0">
                <a:solidFill>
                  <a:srgbClr val="262626"/>
                </a:solidFill>
                <a:latin typeface="Calibri"/>
              </a:rPr>
              <a:t> de </a:t>
            </a:r>
            <a:r>
              <a:rPr sz="3600" dirty="0" err="1">
                <a:solidFill>
                  <a:srgbClr val="262626"/>
                </a:solidFill>
                <a:latin typeface="Calibri"/>
              </a:rPr>
              <a:t>fundo</a:t>
            </a:r>
            <a:r>
              <a:rPr sz="3600" dirty="0">
                <a:solidFill>
                  <a:srgbClr val="262626"/>
                </a:solidFill>
                <a:latin typeface="Calibri"/>
              </a:rPr>
              <a:t> é </a:t>
            </a:r>
            <a:r>
              <a:rPr sz="3600" dirty="0" err="1">
                <a:solidFill>
                  <a:srgbClr val="262626"/>
                </a:solidFill>
                <a:latin typeface="Calibri"/>
              </a:rPr>
              <a:t>conceitualmente</a:t>
            </a:r>
            <a:r>
              <a:rPr sz="3600" dirty="0">
                <a:solidFill>
                  <a:srgbClr val="262626"/>
                </a:solidFill>
                <a:latin typeface="Calibri"/>
              </a:rPr>
              <a:t> a </a:t>
            </a:r>
            <a:r>
              <a:rPr sz="3600" dirty="0" err="1">
                <a:solidFill>
                  <a:srgbClr val="262626"/>
                </a:solidFill>
                <a:latin typeface="Calibri"/>
              </a:rPr>
              <a:t>mesma</a:t>
            </a:r>
            <a:r>
              <a:rPr sz="3600" dirty="0">
                <a:solidFill>
                  <a:srgbClr val="262626"/>
                </a:solidFill>
                <a:latin typeface="Calibri"/>
              </a:rPr>
              <a:t>.</a:t>
            </a:r>
          </a:p>
          <a:p>
            <a:pPr algn="l">
              <a:spcBef>
                <a:spcPts val="0"/>
              </a:spcBef>
              <a:spcAft>
                <a:spcPts val="2200"/>
              </a:spcAft>
            </a:pPr>
            <a:r>
              <a:rPr sz="3600" b="1" dirty="0">
                <a:solidFill>
                  <a:srgbClr val="004A8F"/>
                </a:solidFill>
                <a:latin typeface="Calibri"/>
              </a:rPr>
              <a:t>A </a:t>
            </a:r>
            <a:r>
              <a:rPr sz="3600" b="1" dirty="0" err="1">
                <a:solidFill>
                  <a:srgbClr val="004A8F"/>
                </a:solidFill>
                <a:latin typeface="Calibri"/>
              </a:rPr>
              <a:t>diferença</a:t>
            </a:r>
            <a:r>
              <a:rPr sz="3600" b="1" dirty="0">
                <a:solidFill>
                  <a:srgbClr val="004A8F"/>
                </a:solidFill>
                <a:latin typeface="Calibri"/>
              </a:rPr>
              <a:t> </a:t>
            </a:r>
            <a:r>
              <a:rPr sz="3600" b="1" dirty="0" err="1">
                <a:solidFill>
                  <a:srgbClr val="004A8F"/>
                </a:solidFill>
                <a:latin typeface="Calibri"/>
              </a:rPr>
              <a:t>está</a:t>
            </a:r>
            <a:r>
              <a:rPr sz="3600" b="1" dirty="0">
                <a:solidFill>
                  <a:srgbClr val="004A8F"/>
                </a:solidFill>
                <a:latin typeface="Calibri"/>
              </a:rPr>
              <a:t> </a:t>
            </a:r>
            <a:r>
              <a:rPr sz="3600" b="1" dirty="0" err="1">
                <a:solidFill>
                  <a:srgbClr val="004A8F"/>
                </a:solidFill>
                <a:latin typeface="Calibri"/>
              </a:rPr>
              <a:t>na</a:t>
            </a:r>
            <a:r>
              <a:rPr sz="3600" b="1" dirty="0">
                <a:solidFill>
                  <a:srgbClr val="004A8F"/>
                </a:solidFill>
                <a:latin typeface="Calibri"/>
              </a:rPr>
              <a:t> </a:t>
            </a:r>
            <a:r>
              <a:rPr sz="3600" b="1" dirty="0" err="1">
                <a:solidFill>
                  <a:srgbClr val="004A8F"/>
                </a:solidFill>
                <a:latin typeface="Calibri"/>
              </a:rPr>
              <a:t>camada</a:t>
            </a:r>
            <a:r>
              <a:rPr sz="3600" b="1" dirty="0">
                <a:solidFill>
                  <a:srgbClr val="004A8F"/>
                </a:solidFill>
                <a:latin typeface="Calibri"/>
              </a:rPr>
              <a:t> de </a:t>
            </a:r>
            <a:r>
              <a:rPr sz="3600" b="1" dirty="0" err="1">
                <a:solidFill>
                  <a:srgbClr val="004A8F"/>
                </a:solidFill>
                <a:latin typeface="Calibri"/>
              </a:rPr>
              <a:t>configuração</a:t>
            </a:r>
            <a:r>
              <a:rPr sz="3600" b="1" dirty="0">
                <a:solidFill>
                  <a:srgbClr val="004A8F"/>
                </a:solidFill>
                <a:latin typeface="Calibri"/>
              </a:rPr>
              <a:t>:  </a:t>
            </a:r>
            <a:r>
              <a:rPr sz="3600" dirty="0" err="1">
                <a:solidFill>
                  <a:srgbClr val="262626"/>
                </a:solidFill>
                <a:latin typeface="Calibri"/>
              </a:rPr>
              <a:t>onde</a:t>
            </a:r>
            <a:r>
              <a:rPr sz="3600" dirty="0">
                <a:solidFill>
                  <a:srgbClr val="262626"/>
                </a:solidFill>
                <a:latin typeface="Calibri"/>
              </a:rPr>
              <a:t> o Terraform </a:t>
            </a:r>
            <a:r>
              <a:rPr sz="3600" dirty="0" err="1">
                <a:solidFill>
                  <a:srgbClr val="262626"/>
                </a:solidFill>
                <a:latin typeface="Calibri"/>
              </a:rPr>
              <a:t>exige</a:t>
            </a:r>
            <a:r>
              <a:rPr sz="3600" dirty="0">
                <a:solidFill>
                  <a:srgbClr val="262626"/>
                </a:solidFill>
                <a:latin typeface="Calibri"/>
              </a:rPr>
              <a:t> HCL, o </a:t>
            </a:r>
            <a:r>
              <a:rPr sz="3600" dirty="0" err="1">
                <a:solidFill>
                  <a:srgbClr val="262626"/>
                </a:solidFill>
                <a:latin typeface="Calibri"/>
              </a:rPr>
              <a:t>Pulumi</a:t>
            </a:r>
            <a:r>
              <a:rPr sz="3600" dirty="0">
                <a:solidFill>
                  <a:srgbClr val="262626"/>
                </a:solidFill>
                <a:latin typeface="Calibri"/>
              </a:rPr>
              <a:t> </a:t>
            </a:r>
            <a:r>
              <a:rPr sz="3600" dirty="0" err="1">
                <a:solidFill>
                  <a:srgbClr val="262626"/>
                </a:solidFill>
                <a:latin typeface="Calibri"/>
              </a:rPr>
              <a:t>aceita</a:t>
            </a:r>
            <a:r>
              <a:rPr sz="3600" dirty="0">
                <a:solidFill>
                  <a:srgbClr val="262626"/>
                </a:solidFill>
                <a:latin typeface="Calibri"/>
              </a:rPr>
              <a:t> o </a:t>
            </a:r>
            <a:r>
              <a:rPr sz="3600" dirty="0" err="1">
                <a:solidFill>
                  <a:srgbClr val="262626"/>
                </a:solidFill>
                <a:latin typeface="Calibri"/>
              </a:rPr>
              <a:t>código</a:t>
            </a:r>
            <a:r>
              <a:rPr sz="3600" dirty="0">
                <a:solidFill>
                  <a:srgbClr val="262626"/>
                </a:solidFill>
                <a:latin typeface="Calibri"/>
              </a:rPr>
              <a:t> </a:t>
            </a:r>
            <a:r>
              <a:rPr sz="3600" dirty="0" err="1">
                <a:solidFill>
                  <a:srgbClr val="262626"/>
                </a:solidFill>
                <a:latin typeface="Calibri"/>
              </a:rPr>
              <a:t>que</a:t>
            </a:r>
            <a:r>
              <a:rPr sz="3600" dirty="0">
                <a:solidFill>
                  <a:srgbClr val="262626"/>
                </a:solidFill>
                <a:latin typeface="Calibri"/>
              </a:rPr>
              <a:t> </a:t>
            </a:r>
            <a:r>
              <a:rPr sz="3600" dirty="0" err="1">
                <a:solidFill>
                  <a:srgbClr val="262626"/>
                </a:solidFill>
                <a:latin typeface="Calibri"/>
              </a:rPr>
              <a:t>você</a:t>
            </a:r>
            <a:r>
              <a:rPr sz="3600" dirty="0">
                <a:solidFill>
                  <a:srgbClr val="262626"/>
                </a:solidFill>
                <a:latin typeface="Calibri"/>
              </a:rPr>
              <a:t> </a:t>
            </a:r>
            <a:r>
              <a:rPr sz="3600" dirty="0" err="1">
                <a:solidFill>
                  <a:srgbClr val="262626"/>
                </a:solidFill>
                <a:latin typeface="Calibri"/>
              </a:rPr>
              <a:t>já</a:t>
            </a:r>
            <a:r>
              <a:rPr sz="3600" dirty="0">
                <a:solidFill>
                  <a:srgbClr val="262626"/>
                </a:solidFill>
                <a:latin typeface="Calibri"/>
              </a:rPr>
              <a:t> sabe </a:t>
            </a:r>
            <a:r>
              <a:rPr sz="3600" dirty="0" err="1">
                <a:solidFill>
                  <a:srgbClr val="262626"/>
                </a:solidFill>
                <a:latin typeface="Calibri"/>
              </a:rPr>
              <a:t>escrever</a:t>
            </a:r>
            <a:r>
              <a:rPr sz="3600" dirty="0">
                <a:solidFill>
                  <a:srgbClr val="262626"/>
                </a:solidFill>
                <a:latin typeface="Calibri"/>
              </a:rPr>
              <a:t>.</a:t>
            </a:r>
          </a:p>
        </p:txBody>
      </p:sp>
      <p:sp>
        <p:nvSpPr>
          <p:cNvPr id="4" name="TextBox 3"/>
          <p:cNvSpPr txBox="1"/>
          <p:nvPr/>
        </p:nvSpPr>
        <p:spPr>
          <a:xfrm>
            <a:off x="1929748" y="12520000"/>
            <a:ext cx="418705" cy="369332"/>
          </a:xfrm>
          <a:prstGeom prst="rect">
            <a:avLst/>
          </a:prstGeom>
          <a:noFill/>
        </p:spPr>
        <p:txBody>
          <a:bodyPr wrap="none">
            <a:spAutoFit/>
          </a:bodyPr>
          <a:lstStyle/>
          <a:p>
            <a:r>
              <a:rPr sz="1800">
                <a:solidFill>
                  <a:srgbClr val="595959"/>
                </a:solidFill>
                <a:latin typeface="Calibri"/>
              </a:rPr>
              <a:t>30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800" b="1">
                <a:solidFill>
                  <a:srgbClr val="0070C0"/>
                </a:solidFill>
                <a:latin typeface="Calibri"/>
              </a:rPr>
              <a:t>Por Que Python, Especificamente, Neste Curso</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000" b="1">
                <a:solidFill>
                  <a:srgbClr val="004A8F"/>
                </a:solidFill>
                <a:latin typeface="Calibri"/>
              </a:rPr>
              <a:t>Reaproveitamento direto:  </a:t>
            </a:r>
            <a:r>
              <a:rPr sz="4000">
                <a:solidFill>
                  <a:srgbClr val="262626"/>
                </a:solidFill>
                <a:latin typeface="Calibri"/>
              </a:rPr>
              <a:t>a mesma linguagem usada nos exemplos de Machine Learning da Aula 01 — sem trocar de contexto mental.</a:t>
            </a:r>
          </a:p>
          <a:p>
            <a:pPr algn="l">
              <a:spcBef>
                <a:spcPts val="0"/>
              </a:spcBef>
              <a:spcAft>
                <a:spcPts val="2200"/>
              </a:spcAft>
            </a:pPr>
            <a:r>
              <a:rPr sz="4000" b="1">
                <a:solidFill>
                  <a:srgbClr val="004A8F"/>
                </a:solidFill>
                <a:latin typeface="Calibri"/>
              </a:rPr>
              <a:t>Ferramental que você já conhece:  </a:t>
            </a:r>
            <a:r>
              <a:rPr sz="4000">
                <a:solidFill>
                  <a:srgbClr val="262626"/>
                </a:solidFill>
                <a:latin typeface="Calibri"/>
              </a:rPr>
              <a:t>loops, funções, classes, testes com pytest, ambientes virtuais — tudo já familiar de outras disciplinas do curso.</a:t>
            </a:r>
          </a:p>
          <a:p>
            <a:pPr algn="l">
              <a:spcBef>
                <a:spcPts val="0"/>
              </a:spcBef>
              <a:spcAft>
                <a:spcPts val="2200"/>
              </a:spcAft>
            </a:pPr>
            <a:r>
              <a:rPr sz="4000" b="1">
                <a:solidFill>
                  <a:srgbClr val="004A8F"/>
                </a:solidFill>
                <a:latin typeface="Calibri"/>
              </a:rPr>
              <a:t>Realidade de mercado:  </a:t>
            </a:r>
            <a:r>
              <a:rPr sz="4000">
                <a:solidFill>
                  <a:srgbClr val="262626"/>
                </a:solidFill>
                <a:latin typeface="Calibri"/>
              </a:rPr>
              <a:t>times de MLOps e Data Science, em geral, já são fortes em Python — Pulumi reduz a barreira de entrada para esse perfil específico.</a:t>
            </a:r>
          </a:p>
        </p:txBody>
      </p:sp>
      <p:sp>
        <p:nvSpPr>
          <p:cNvPr id="4" name="TextBox 3"/>
          <p:cNvSpPr txBox="1"/>
          <p:nvPr/>
        </p:nvSpPr>
        <p:spPr>
          <a:xfrm>
            <a:off x="1916924" y="12520000"/>
            <a:ext cx="444353" cy="400110"/>
          </a:xfrm>
          <a:prstGeom prst="rect">
            <a:avLst/>
          </a:prstGeom>
          <a:noFill/>
        </p:spPr>
        <p:txBody>
          <a:bodyPr wrap="none">
            <a:spAutoFit/>
          </a:bodyPr>
          <a:lstStyle/>
          <a:p>
            <a:r>
              <a:rPr sz="2000">
                <a:solidFill>
                  <a:srgbClr val="595959"/>
                </a:solidFill>
                <a:latin typeface="Calibri"/>
              </a:rPr>
              <a:t>31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800" b="1">
                <a:solidFill>
                  <a:srgbClr val="0070C0"/>
                </a:solidFill>
                <a:latin typeface="Calibri"/>
              </a:rPr>
              <a:t>A Diferença Filosófica Central</a:t>
            </a:r>
          </a:p>
        </p:txBody>
      </p:sp>
      <p:sp>
        <p:nvSpPr>
          <p:cNvPr id="3" name="Content Placeholder 2"/>
          <p:cNvSpPr>
            <a:spLocks noGrp="1"/>
          </p:cNvSpPr>
          <p:nvPr>
            <p:ph idx="1"/>
          </p:nvPr>
        </p:nvSpPr>
        <p:spPr/>
        <p:txBody>
          <a:bodyPr wrap="square" anchor="t">
            <a:normAutofit/>
          </a:bodyPr>
          <a:lstStyle/>
          <a:p>
            <a:pPr algn="l">
              <a:spcBef>
                <a:spcPts val="0"/>
              </a:spcBef>
              <a:spcAft>
                <a:spcPts val="2000"/>
              </a:spcAft>
            </a:pPr>
            <a:r>
              <a:rPr sz="4000" b="1">
                <a:solidFill>
                  <a:srgbClr val="004A8F"/>
                </a:solidFill>
                <a:latin typeface="Calibri"/>
              </a:rPr>
              <a:t>Terraform:  </a:t>
            </a:r>
            <a:r>
              <a:rPr sz="4000">
                <a:solidFill>
                  <a:srgbClr val="262626"/>
                </a:solidFill>
                <a:latin typeface="Calibri"/>
              </a:rPr>
              <a:t>HCL é puramente declarativo — o arquivo é dado, não código executável. O Terraform Core interpreta esse dado e decide o que fazer.</a:t>
            </a:r>
          </a:p>
          <a:p>
            <a:pPr algn="l">
              <a:spcBef>
                <a:spcPts val="0"/>
              </a:spcBef>
              <a:spcAft>
                <a:spcPts val="2000"/>
              </a:spcAft>
            </a:pPr>
            <a:r>
              <a:rPr sz="4000" b="1">
                <a:solidFill>
                  <a:srgbClr val="004A8F"/>
                </a:solidFill>
                <a:latin typeface="Calibri"/>
              </a:rPr>
              <a:t>Pulumi:  </a:t>
            </a:r>
            <a:r>
              <a:rPr sz="4000">
                <a:solidFill>
                  <a:srgbClr val="262626"/>
                </a:solidFill>
                <a:latin typeface="Calibri"/>
              </a:rPr>
              <a:t>o "código" é um programa Python de verdade, rodando em um interpretador Python de verdade — mas o RESULTADO da execução ainda é declarativo.</a:t>
            </a:r>
          </a:p>
          <a:p>
            <a:pPr algn="l">
              <a:spcBef>
                <a:spcPts val="0"/>
              </a:spcBef>
              <a:spcAft>
                <a:spcPts val="2000"/>
              </a:spcAft>
            </a:pPr>
            <a:r>
              <a:rPr sz="4000" b="1">
                <a:solidFill>
                  <a:srgbClr val="004A8F"/>
                </a:solidFill>
                <a:latin typeface="Calibri"/>
              </a:rPr>
              <a:t>Como assim:  </a:t>
            </a:r>
            <a:r>
              <a:rPr sz="4000">
                <a:solidFill>
                  <a:srgbClr val="262626"/>
                </a:solidFill>
                <a:latin typeface="Calibri"/>
              </a:rPr>
              <a:t>ao rodar o programa, o Pulumi observa quais recursos foram declarados e monta um grafo de dependências — exatamente como o Terraform monta o dele a partir do HCL.</a:t>
            </a:r>
          </a:p>
          <a:p>
            <a:pPr algn="l">
              <a:spcBef>
                <a:spcPts val="0"/>
              </a:spcBef>
              <a:spcAft>
                <a:spcPts val="2000"/>
              </a:spcAft>
            </a:pPr>
            <a:r>
              <a:rPr sz="4000" b="1">
                <a:solidFill>
                  <a:srgbClr val="004A8F"/>
                </a:solidFill>
                <a:latin typeface="Calibri"/>
              </a:rPr>
              <a:t>Nome técnico:  </a:t>
            </a:r>
            <a:r>
              <a:rPr sz="4000">
                <a:solidFill>
                  <a:srgbClr val="262626"/>
                </a:solidFill>
                <a:latin typeface="Calibri"/>
              </a:rPr>
              <a:t>"infraestrutura imperativa com execução declarativa" — você escreve como programador, mas o Pulumi ainda calcula um diff antes de agir, igual ao terraform plan.</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32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Terraform x Pulumi — Fluxo e Estrutura</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33</a:t>
            </a:r>
          </a:p>
        </p:txBody>
      </p:sp>
      <p:graphicFrame>
        <p:nvGraphicFramePr>
          <p:cNvPr id="5" name="Table 4"/>
          <p:cNvGraphicFramePr>
            <a:graphicFrameLocks noGrp="1"/>
          </p:cNvGraphicFramePr>
          <p:nvPr/>
        </p:nvGraphicFramePr>
        <p:xfrm>
          <a:off x="1689100" y="4406900"/>
          <a:ext cx="19170650" cy="5580000"/>
        </p:xfrm>
        <a:graphic>
          <a:graphicData uri="http://schemas.openxmlformats.org/drawingml/2006/table">
            <a:tbl>
              <a:tblPr firstRow="1" bandRow="1">
                <a:tableStyleId>{5C22544A-7EE6-4342-B048-85BDC9FD1C3A}</a:tableStyleId>
              </a:tblPr>
              <a:tblGrid>
                <a:gridCol w="4200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gridCol w="7770650">
                  <a:extLst>
                    <a:ext uri="{9D8B030D-6E8A-4147-A177-3AD203B41FA5}">
                      <a16:colId xmlns:a16="http://schemas.microsoft.com/office/drawing/2014/main" val="20002"/>
                    </a:ext>
                  </a:extLst>
                </a:gridCol>
              </a:tblGrid>
              <a:tr h="697500">
                <a:tc>
                  <a:txBody>
                    <a:bodyPr/>
                    <a:lstStyle/>
                    <a:p>
                      <a:r>
                        <a:rPr sz="2000" b="1">
                          <a:solidFill>
                            <a:srgbClr val="FFFFFF"/>
                          </a:solidFill>
                          <a:latin typeface="Calibri"/>
                        </a:rPr>
                        <a:t>Conceito</a:t>
                      </a:r>
                    </a:p>
                  </a:txBody>
                  <a:tcPr anchor="ctr">
                    <a:solidFill>
                      <a:srgbClr val="004A8F"/>
                    </a:solidFill>
                  </a:tcPr>
                </a:tc>
                <a:tc>
                  <a:txBody>
                    <a:bodyPr/>
                    <a:lstStyle/>
                    <a:p>
                      <a:r>
                        <a:rPr sz="2000" b="1">
                          <a:solidFill>
                            <a:srgbClr val="FFFFFF"/>
                          </a:solidFill>
                          <a:latin typeface="Calibri"/>
                        </a:rPr>
                        <a:t>Terraform</a:t>
                      </a:r>
                    </a:p>
                  </a:txBody>
                  <a:tcPr anchor="ctr">
                    <a:solidFill>
                      <a:srgbClr val="004A8F"/>
                    </a:solidFill>
                  </a:tcPr>
                </a:tc>
                <a:tc>
                  <a:txBody>
                    <a:bodyPr/>
                    <a:lstStyle/>
                    <a:p>
                      <a:r>
                        <a:rPr sz="2000" b="1">
                          <a:solidFill>
                            <a:srgbClr val="FFFFFF"/>
                          </a:solidFill>
                          <a:latin typeface="Calibri"/>
                        </a:rPr>
                        <a:t>Pulumi</a:t>
                      </a:r>
                    </a:p>
                  </a:txBody>
                  <a:tcPr anchor="ctr">
                    <a:solidFill>
                      <a:srgbClr val="004A8F"/>
                    </a:solidFill>
                  </a:tcPr>
                </a:tc>
                <a:extLst>
                  <a:ext uri="{0D108BD9-81ED-4DB2-BD59-A6C34878D82A}">
                    <a16:rowId xmlns:a16="http://schemas.microsoft.com/office/drawing/2014/main" val="10000"/>
                  </a:ext>
                </a:extLst>
              </a:tr>
              <a:tr h="697500">
                <a:tc>
                  <a:txBody>
                    <a:bodyPr/>
                    <a:lstStyle/>
                    <a:p>
                      <a:r>
                        <a:rPr sz="1900">
                          <a:solidFill>
                            <a:srgbClr val="262626"/>
                          </a:solidFill>
                          <a:latin typeface="Consolas"/>
                        </a:rPr>
                        <a:t>Linguagem</a:t>
                      </a:r>
                    </a:p>
                  </a:txBody>
                  <a:tcPr anchor="ctr">
                    <a:solidFill>
                      <a:srgbClr val="FFFFFF"/>
                    </a:solidFill>
                  </a:tcPr>
                </a:tc>
                <a:tc>
                  <a:txBody>
                    <a:bodyPr/>
                    <a:lstStyle/>
                    <a:p>
                      <a:r>
                        <a:rPr sz="1900">
                          <a:solidFill>
                            <a:srgbClr val="262626"/>
                          </a:solidFill>
                          <a:latin typeface="Calibri"/>
                        </a:rPr>
                        <a:t>HCL (DSL declarativa)</a:t>
                      </a:r>
                    </a:p>
                  </a:txBody>
                  <a:tcPr anchor="ctr">
                    <a:solidFill>
                      <a:srgbClr val="FFFFFF"/>
                    </a:solidFill>
                  </a:tcPr>
                </a:tc>
                <a:tc>
                  <a:txBody>
                    <a:bodyPr/>
                    <a:lstStyle/>
                    <a:p>
                      <a:r>
                        <a:rPr sz="1900">
                          <a:solidFill>
                            <a:srgbClr val="262626"/>
                          </a:solidFill>
                          <a:latin typeface="Calibri"/>
                        </a:rPr>
                        <a:t>Python (linguagem de propósito geral)</a:t>
                      </a:r>
                    </a:p>
                  </a:txBody>
                  <a:tcPr anchor="ctr">
                    <a:solidFill>
                      <a:srgbClr val="FFFFFF"/>
                    </a:solidFill>
                  </a:tcPr>
                </a:tc>
                <a:extLst>
                  <a:ext uri="{0D108BD9-81ED-4DB2-BD59-A6C34878D82A}">
                    <a16:rowId xmlns:a16="http://schemas.microsoft.com/office/drawing/2014/main" val="10001"/>
                  </a:ext>
                </a:extLst>
              </a:tr>
              <a:tr h="697500">
                <a:tc>
                  <a:txBody>
                    <a:bodyPr/>
                    <a:lstStyle/>
                    <a:p>
                      <a:r>
                        <a:rPr sz="1900">
                          <a:solidFill>
                            <a:srgbClr val="262626"/>
                          </a:solidFill>
                          <a:latin typeface="Consolas"/>
                        </a:rPr>
                        <a:t>Motor de execução</a:t>
                      </a:r>
                    </a:p>
                  </a:txBody>
                  <a:tcPr anchor="ctr">
                    <a:solidFill>
                      <a:srgbClr val="F2F2F2"/>
                    </a:solidFill>
                  </a:tcPr>
                </a:tc>
                <a:tc>
                  <a:txBody>
                    <a:bodyPr/>
                    <a:lstStyle/>
                    <a:p>
                      <a:r>
                        <a:rPr sz="1900">
                          <a:solidFill>
                            <a:srgbClr val="262626"/>
                          </a:solidFill>
                          <a:latin typeface="Calibri"/>
                        </a:rPr>
                        <a:t>Terraform Core (Go)</a:t>
                      </a:r>
                    </a:p>
                  </a:txBody>
                  <a:tcPr anchor="ctr">
                    <a:solidFill>
                      <a:srgbClr val="F2F2F2"/>
                    </a:solidFill>
                  </a:tcPr>
                </a:tc>
                <a:tc>
                  <a:txBody>
                    <a:bodyPr/>
                    <a:lstStyle/>
                    <a:p>
                      <a:r>
                        <a:rPr sz="1900">
                          <a:solidFill>
                            <a:srgbClr val="262626"/>
                          </a:solidFill>
                          <a:latin typeface="Calibri"/>
                        </a:rPr>
                        <a:t>Pulumi Engine (Go) — mesma função</a:t>
                      </a:r>
                    </a:p>
                  </a:txBody>
                  <a:tcPr anchor="ctr">
                    <a:solidFill>
                      <a:srgbClr val="F2F2F2"/>
                    </a:solidFill>
                  </a:tcPr>
                </a:tc>
                <a:extLst>
                  <a:ext uri="{0D108BD9-81ED-4DB2-BD59-A6C34878D82A}">
                    <a16:rowId xmlns:a16="http://schemas.microsoft.com/office/drawing/2014/main" val="10002"/>
                  </a:ext>
                </a:extLst>
              </a:tr>
              <a:tr h="697500">
                <a:tc>
                  <a:txBody>
                    <a:bodyPr/>
                    <a:lstStyle/>
                    <a:p>
                      <a:r>
                        <a:rPr sz="1900">
                          <a:solidFill>
                            <a:srgbClr val="262626"/>
                          </a:solidFill>
                          <a:latin typeface="Consolas"/>
                        </a:rPr>
                        <a:t>Unidade de ambiente</a:t>
                      </a:r>
                    </a:p>
                  </a:txBody>
                  <a:tcPr anchor="ctr">
                    <a:solidFill>
                      <a:srgbClr val="FFFFFF"/>
                    </a:solidFill>
                  </a:tcPr>
                </a:tc>
                <a:tc>
                  <a:txBody>
                    <a:bodyPr/>
                    <a:lstStyle/>
                    <a:p>
                      <a:r>
                        <a:rPr sz="1900">
                          <a:solidFill>
                            <a:srgbClr val="262626"/>
                          </a:solidFill>
                          <a:latin typeface="Calibri"/>
                        </a:rPr>
                        <a:t>Workspace</a:t>
                      </a:r>
                    </a:p>
                  </a:txBody>
                  <a:tcPr anchor="ctr">
                    <a:solidFill>
                      <a:srgbClr val="FFFFFF"/>
                    </a:solidFill>
                  </a:tcPr>
                </a:tc>
                <a:tc>
                  <a:txBody>
                    <a:bodyPr/>
                    <a:lstStyle/>
                    <a:p>
                      <a:r>
                        <a:rPr sz="1900">
                          <a:solidFill>
                            <a:srgbClr val="262626"/>
                          </a:solidFill>
                          <a:latin typeface="Calibri"/>
                        </a:rPr>
                        <a:t>Stack (dev, staging, prod)</a:t>
                      </a:r>
                    </a:p>
                  </a:txBody>
                  <a:tcPr anchor="ctr">
                    <a:solidFill>
                      <a:srgbClr val="FFFFFF"/>
                    </a:solidFill>
                  </a:tcPr>
                </a:tc>
                <a:extLst>
                  <a:ext uri="{0D108BD9-81ED-4DB2-BD59-A6C34878D82A}">
                    <a16:rowId xmlns:a16="http://schemas.microsoft.com/office/drawing/2014/main" val="10003"/>
                  </a:ext>
                </a:extLst>
              </a:tr>
              <a:tr h="697500">
                <a:tc>
                  <a:txBody>
                    <a:bodyPr/>
                    <a:lstStyle/>
                    <a:p>
                      <a:r>
                        <a:rPr sz="1900">
                          <a:solidFill>
                            <a:srgbClr val="262626"/>
                          </a:solidFill>
                          <a:latin typeface="Consolas"/>
                        </a:rPr>
                        <a:t>State</a:t>
                      </a:r>
                    </a:p>
                  </a:txBody>
                  <a:tcPr anchor="ctr">
                    <a:solidFill>
                      <a:srgbClr val="F2F2F2"/>
                    </a:solidFill>
                  </a:tcPr>
                </a:tc>
                <a:tc>
                  <a:txBody>
                    <a:bodyPr/>
                    <a:lstStyle/>
                    <a:p>
                      <a:r>
                        <a:rPr sz="1900">
                          <a:solidFill>
                            <a:srgbClr val="262626"/>
                          </a:solidFill>
                          <a:latin typeface="Calibri"/>
                        </a:rPr>
                        <a:t>terraform.tfstate — local ou remoto</a:t>
                      </a:r>
                    </a:p>
                  </a:txBody>
                  <a:tcPr anchor="ctr">
                    <a:solidFill>
                      <a:srgbClr val="F2F2F2"/>
                    </a:solidFill>
                  </a:tcPr>
                </a:tc>
                <a:tc>
                  <a:txBody>
                    <a:bodyPr/>
                    <a:lstStyle/>
                    <a:p>
                      <a:r>
                        <a:rPr sz="1900">
                          <a:solidFill>
                            <a:srgbClr val="262626"/>
                          </a:solidFill>
                          <a:latin typeface="Calibri"/>
                        </a:rPr>
                        <a:t>Também um state — local (--local), Pulumi Cloud ou self-managed</a:t>
                      </a:r>
                    </a:p>
                  </a:txBody>
                  <a:tcPr anchor="ctr">
                    <a:solidFill>
                      <a:srgbClr val="F2F2F2"/>
                    </a:solidFill>
                  </a:tcPr>
                </a:tc>
                <a:extLst>
                  <a:ext uri="{0D108BD9-81ED-4DB2-BD59-A6C34878D82A}">
                    <a16:rowId xmlns:a16="http://schemas.microsoft.com/office/drawing/2014/main" val="10004"/>
                  </a:ext>
                </a:extLst>
              </a:tr>
              <a:tr h="697500">
                <a:tc>
                  <a:txBody>
                    <a:bodyPr/>
                    <a:lstStyle/>
                    <a:p>
                      <a:r>
                        <a:rPr sz="1900">
                          <a:solidFill>
                            <a:srgbClr val="262626"/>
                          </a:solidFill>
                          <a:latin typeface="Consolas"/>
                        </a:rPr>
                        <a:t>Ver o diff antes de agir</a:t>
                      </a:r>
                    </a:p>
                  </a:txBody>
                  <a:tcPr anchor="ctr">
                    <a:solidFill>
                      <a:srgbClr val="FFFFFF"/>
                    </a:solidFill>
                  </a:tcPr>
                </a:tc>
                <a:tc>
                  <a:txBody>
                    <a:bodyPr/>
                    <a:lstStyle/>
                    <a:p>
                      <a:r>
                        <a:rPr sz="1900">
                          <a:solidFill>
                            <a:srgbClr val="262626"/>
                          </a:solidFill>
                          <a:latin typeface="Calibri"/>
                        </a:rPr>
                        <a:t>terraform plan</a:t>
                      </a:r>
                    </a:p>
                  </a:txBody>
                  <a:tcPr anchor="ctr">
                    <a:solidFill>
                      <a:srgbClr val="FFFFFF"/>
                    </a:solidFill>
                  </a:tcPr>
                </a:tc>
                <a:tc>
                  <a:txBody>
                    <a:bodyPr/>
                    <a:lstStyle/>
                    <a:p>
                      <a:r>
                        <a:rPr sz="1900">
                          <a:solidFill>
                            <a:srgbClr val="262626"/>
                          </a:solidFill>
                          <a:latin typeface="Calibri"/>
                        </a:rPr>
                        <a:t>pulumi preview</a:t>
                      </a:r>
                    </a:p>
                  </a:txBody>
                  <a:tcPr anchor="ctr">
                    <a:solidFill>
                      <a:srgbClr val="FFFFFF"/>
                    </a:solidFill>
                  </a:tcPr>
                </a:tc>
                <a:extLst>
                  <a:ext uri="{0D108BD9-81ED-4DB2-BD59-A6C34878D82A}">
                    <a16:rowId xmlns:a16="http://schemas.microsoft.com/office/drawing/2014/main" val="10005"/>
                  </a:ext>
                </a:extLst>
              </a:tr>
              <a:tr h="697500">
                <a:tc>
                  <a:txBody>
                    <a:bodyPr/>
                    <a:lstStyle/>
                    <a:p>
                      <a:r>
                        <a:rPr sz="1900">
                          <a:solidFill>
                            <a:srgbClr val="262626"/>
                          </a:solidFill>
                          <a:latin typeface="Consolas"/>
                        </a:rPr>
                        <a:t>Aplicar</a:t>
                      </a:r>
                    </a:p>
                  </a:txBody>
                  <a:tcPr anchor="ctr">
                    <a:solidFill>
                      <a:srgbClr val="F2F2F2"/>
                    </a:solidFill>
                  </a:tcPr>
                </a:tc>
                <a:tc>
                  <a:txBody>
                    <a:bodyPr/>
                    <a:lstStyle/>
                    <a:p>
                      <a:r>
                        <a:rPr sz="1900">
                          <a:solidFill>
                            <a:srgbClr val="262626"/>
                          </a:solidFill>
                          <a:latin typeface="Calibri"/>
                        </a:rPr>
                        <a:t>terraform apply</a:t>
                      </a:r>
                    </a:p>
                  </a:txBody>
                  <a:tcPr anchor="ctr">
                    <a:solidFill>
                      <a:srgbClr val="F2F2F2"/>
                    </a:solidFill>
                  </a:tcPr>
                </a:tc>
                <a:tc>
                  <a:txBody>
                    <a:bodyPr/>
                    <a:lstStyle/>
                    <a:p>
                      <a:r>
                        <a:rPr sz="1900">
                          <a:solidFill>
                            <a:srgbClr val="262626"/>
                          </a:solidFill>
                          <a:latin typeface="Calibri"/>
                        </a:rPr>
                        <a:t>pulumi up</a:t>
                      </a:r>
                    </a:p>
                  </a:txBody>
                  <a:tcPr anchor="ctr">
                    <a:solidFill>
                      <a:srgbClr val="F2F2F2"/>
                    </a:solidFill>
                  </a:tcPr>
                </a:tc>
                <a:extLst>
                  <a:ext uri="{0D108BD9-81ED-4DB2-BD59-A6C34878D82A}">
                    <a16:rowId xmlns:a16="http://schemas.microsoft.com/office/drawing/2014/main" val="10006"/>
                  </a:ext>
                </a:extLst>
              </a:tr>
              <a:tr h="697500">
                <a:tc>
                  <a:txBody>
                    <a:bodyPr/>
                    <a:lstStyle/>
                    <a:p>
                      <a:r>
                        <a:rPr sz="1900">
                          <a:solidFill>
                            <a:srgbClr val="262626"/>
                          </a:solidFill>
                          <a:latin typeface="Consolas"/>
                        </a:rPr>
                        <a:t>Remover</a:t>
                      </a:r>
                    </a:p>
                  </a:txBody>
                  <a:tcPr anchor="ctr">
                    <a:solidFill>
                      <a:srgbClr val="FFFFFF"/>
                    </a:solidFill>
                  </a:tcPr>
                </a:tc>
                <a:tc>
                  <a:txBody>
                    <a:bodyPr/>
                    <a:lstStyle/>
                    <a:p>
                      <a:r>
                        <a:rPr sz="1900">
                          <a:solidFill>
                            <a:srgbClr val="262626"/>
                          </a:solidFill>
                          <a:latin typeface="Calibri"/>
                        </a:rPr>
                        <a:t>terraform destroy</a:t>
                      </a:r>
                    </a:p>
                  </a:txBody>
                  <a:tcPr anchor="ctr">
                    <a:solidFill>
                      <a:srgbClr val="FFFFFF"/>
                    </a:solidFill>
                  </a:tcPr>
                </a:tc>
                <a:tc>
                  <a:txBody>
                    <a:bodyPr/>
                    <a:lstStyle/>
                    <a:p>
                      <a:r>
                        <a:rPr sz="1900">
                          <a:solidFill>
                            <a:srgbClr val="262626"/>
                          </a:solidFill>
                          <a:latin typeface="Calibri"/>
                        </a:rPr>
                        <a:t>pulumi destroy</a:t>
                      </a:r>
                    </a:p>
                  </a:txBody>
                  <a:tcPr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Terraform x Pulumi — Linguagem e Recursos</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34</a:t>
            </a:r>
          </a:p>
        </p:txBody>
      </p:sp>
      <p:graphicFrame>
        <p:nvGraphicFramePr>
          <p:cNvPr id="5" name="Table 4"/>
          <p:cNvGraphicFramePr>
            <a:graphicFrameLocks noGrp="1"/>
          </p:cNvGraphicFramePr>
          <p:nvPr/>
        </p:nvGraphicFramePr>
        <p:xfrm>
          <a:off x="1689100" y="4406900"/>
          <a:ext cx="19170650" cy="4960000"/>
        </p:xfrm>
        <a:graphic>
          <a:graphicData uri="http://schemas.openxmlformats.org/drawingml/2006/table">
            <a:tbl>
              <a:tblPr firstRow="1" bandRow="1">
                <a:tableStyleId>{5C22544A-7EE6-4342-B048-85BDC9FD1C3A}</a:tableStyleId>
              </a:tblPr>
              <a:tblGrid>
                <a:gridCol w="4200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gridCol w="7770650">
                  <a:extLst>
                    <a:ext uri="{9D8B030D-6E8A-4147-A177-3AD203B41FA5}">
                      <a16:colId xmlns:a16="http://schemas.microsoft.com/office/drawing/2014/main" val="20002"/>
                    </a:ext>
                  </a:extLst>
                </a:gridCol>
              </a:tblGrid>
              <a:tr h="708571">
                <a:tc>
                  <a:txBody>
                    <a:bodyPr/>
                    <a:lstStyle/>
                    <a:p>
                      <a:r>
                        <a:rPr sz="1900" b="1">
                          <a:solidFill>
                            <a:srgbClr val="FFFFFF"/>
                          </a:solidFill>
                          <a:latin typeface="Calibri"/>
                        </a:rPr>
                        <a:t>Conceito</a:t>
                      </a:r>
                    </a:p>
                  </a:txBody>
                  <a:tcPr anchor="ctr">
                    <a:solidFill>
                      <a:srgbClr val="004A8F"/>
                    </a:solidFill>
                  </a:tcPr>
                </a:tc>
                <a:tc>
                  <a:txBody>
                    <a:bodyPr/>
                    <a:lstStyle/>
                    <a:p>
                      <a:r>
                        <a:rPr sz="1900" b="1">
                          <a:solidFill>
                            <a:srgbClr val="FFFFFF"/>
                          </a:solidFill>
                          <a:latin typeface="Calibri"/>
                        </a:rPr>
                        <a:t>Terraform</a:t>
                      </a:r>
                    </a:p>
                  </a:txBody>
                  <a:tcPr anchor="ctr">
                    <a:solidFill>
                      <a:srgbClr val="004A8F"/>
                    </a:solidFill>
                  </a:tcPr>
                </a:tc>
                <a:tc>
                  <a:txBody>
                    <a:bodyPr/>
                    <a:lstStyle/>
                    <a:p>
                      <a:r>
                        <a:rPr sz="1900" b="1">
                          <a:solidFill>
                            <a:srgbClr val="FFFFFF"/>
                          </a:solidFill>
                          <a:latin typeface="Calibri"/>
                        </a:rPr>
                        <a:t>Pulumi</a:t>
                      </a:r>
                    </a:p>
                  </a:txBody>
                  <a:tcPr anchor="ctr">
                    <a:solidFill>
                      <a:srgbClr val="004A8F"/>
                    </a:solidFill>
                  </a:tcPr>
                </a:tc>
                <a:extLst>
                  <a:ext uri="{0D108BD9-81ED-4DB2-BD59-A6C34878D82A}">
                    <a16:rowId xmlns:a16="http://schemas.microsoft.com/office/drawing/2014/main" val="10000"/>
                  </a:ext>
                </a:extLst>
              </a:tr>
              <a:tr h="708571">
                <a:tc>
                  <a:txBody>
                    <a:bodyPr/>
                    <a:lstStyle/>
                    <a:p>
                      <a:r>
                        <a:rPr sz="1800">
                          <a:solidFill>
                            <a:srgbClr val="262626"/>
                          </a:solidFill>
                          <a:latin typeface="Consolas"/>
                        </a:rPr>
                        <a:t>Variáveis</a:t>
                      </a:r>
                    </a:p>
                  </a:txBody>
                  <a:tcPr anchor="ctr">
                    <a:solidFill>
                      <a:srgbClr val="FFFFFF"/>
                    </a:solidFill>
                  </a:tcPr>
                </a:tc>
                <a:tc>
                  <a:txBody>
                    <a:bodyPr/>
                    <a:lstStyle/>
                    <a:p>
                      <a:r>
                        <a:rPr sz="1800">
                          <a:solidFill>
                            <a:srgbClr val="262626"/>
                          </a:solidFill>
                          <a:latin typeface="Calibri"/>
                        </a:rPr>
                        <a:t>variable {} + arquivos .tfvars</a:t>
                      </a:r>
                    </a:p>
                  </a:txBody>
                  <a:tcPr anchor="ctr">
                    <a:solidFill>
                      <a:srgbClr val="FFFFFF"/>
                    </a:solidFill>
                  </a:tcPr>
                </a:tc>
                <a:tc>
                  <a:txBody>
                    <a:bodyPr/>
                    <a:lstStyle/>
                    <a:p>
                      <a:r>
                        <a:rPr sz="1800">
                          <a:solidFill>
                            <a:srgbClr val="262626"/>
                          </a:solidFill>
                          <a:latin typeface="Calibri"/>
                        </a:rPr>
                        <a:t>pulumi.Config() + pulumi config set</a:t>
                      </a:r>
                    </a:p>
                  </a:txBody>
                  <a:tcPr anchor="ctr">
                    <a:solidFill>
                      <a:srgbClr val="FFFFFF"/>
                    </a:solidFill>
                  </a:tcPr>
                </a:tc>
                <a:extLst>
                  <a:ext uri="{0D108BD9-81ED-4DB2-BD59-A6C34878D82A}">
                    <a16:rowId xmlns:a16="http://schemas.microsoft.com/office/drawing/2014/main" val="10001"/>
                  </a:ext>
                </a:extLst>
              </a:tr>
              <a:tr h="708571">
                <a:tc>
                  <a:txBody>
                    <a:bodyPr/>
                    <a:lstStyle/>
                    <a:p>
                      <a:r>
                        <a:rPr sz="1800">
                          <a:solidFill>
                            <a:srgbClr val="262626"/>
                          </a:solidFill>
                          <a:latin typeface="Consolas"/>
                        </a:rPr>
                        <a:t>Segredos</a:t>
                      </a:r>
                    </a:p>
                  </a:txBody>
                  <a:tcPr anchor="ctr">
                    <a:solidFill>
                      <a:srgbClr val="F2F2F2"/>
                    </a:solidFill>
                  </a:tcPr>
                </a:tc>
                <a:tc>
                  <a:txBody>
                    <a:bodyPr/>
                    <a:lstStyle/>
                    <a:p>
                      <a:r>
                        <a:rPr sz="1800">
                          <a:solidFill>
                            <a:srgbClr val="262626"/>
                          </a:solidFill>
                          <a:latin typeface="Calibri"/>
                        </a:rPr>
                        <a:t>sensitive = true (mascara saída; texto puro no state)</a:t>
                      </a:r>
                    </a:p>
                  </a:txBody>
                  <a:tcPr anchor="ctr">
                    <a:solidFill>
                      <a:srgbClr val="F2F2F2"/>
                    </a:solidFill>
                  </a:tcPr>
                </a:tc>
                <a:tc>
                  <a:txBody>
                    <a:bodyPr/>
                    <a:lstStyle/>
                    <a:p>
                      <a:r>
                        <a:rPr sz="1800">
                          <a:solidFill>
                            <a:srgbClr val="262626"/>
                          </a:solidFill>
                          <a:latin typeface="Calibri"/>
                        </a:rPr>
                        <a:t>pulumi config set --secret (criptografado no state e no Pulumi.&lt;stack&gt;.yaml)</a:t>
                      </a:r>
                    </a:p>
                  </a:txBody>
                  <a:tcPr anchor="ctr">
                    <a:solidFill>
                      <a:srgbClr val="F2F2F2"/>
                    </a:solidFill>
                  </a:tcPr>
                </a:tc>
                <a:extLst>
                  <a:ext uri="{0D108BD9-81ED-4DB2-BD59-A6C34878D82A}">
                    <a16:rowId xmlns:a16="http://schemas.microsoft.com/office/drawing/2014/main" val="10002"/>
                  </a:ext>
                </a:extLst>
              </a:tr>
              <a:tr h="708571">
                <a:tc>
                  <a:txBody>
                    <a:bodyPr/>
                    <a:lstStyle/>
                    <a:p>
                      <a:r>
                        <a:rPr sz="1800">
                          <a:solidFill>
                            <a:srgbClr val="262626"/>
                          </a:solidFill>
                          <a:latin typeface="Consolas"/>
                        </a:rPr>
                        <a:t>Módulos reutilizáveis</a:t>
                      </a:r>
                    </a:p>
                  </a:txBody>
                  <a:tcPr anchor="ctr">
                    <a:solidFill>
                      <a:srgbClr val="FFFFFF"/>
                    </a:solidFill>
                  </a:tcPr>
                </a:tc>
                <a:tc>
                  <a:txBody>
                    <a:bodyPr/>
                    <a:lstStyle/>
                    <a:p>
                      <a:r>
                        <a:rPr sz="1800">
                          <a:solidFill>
                            <a:srgbClr val="262626"/>
                          </a:solidFill>
                          <a:latin typeface="Calibri"/>
                        </a:rPr>
                        <a:t>module {}</a:t>
                      </a:r>
                    </a:p>
                  </a:txBody>
                  <a:tcPr anchor="ctr">
                    <a:solidFill>
                      <a:srgbClr val="FFFFFF"/>
                    </a:solidFill>
                  </a:tcPr>
                </a:tc>
                <a:tc>
                  <a:txBody>
                    <a:bodyPr/>
                    <a:lstStyle/>
                    <a:p>
                      <a:r>
                        <a:rPr sz="1800">
                          <a:solidFill>
                            <a:srgbClr val="262626"/>
                          </a:solidFill>
                          <a:latin typeface="Calibri"/>
                        </a:rPr>
                        <a:t>Component Resources (classe Python)</a:t>
                      </a:r>
                    </a:p>
                  </a:txBody>
                  <a:tcPr anchor="ctr">
                    <a:solidFill>
                      <a:srgbClr val="FFFFFF"/>
                    </a:solidFill>
                  </a:tcPr>
                </a:tc>
                <a:extLst>
                  <a:ext uri="{0D108BD9-81ED-4DB2-BD59-A6C34878D82A}">
                    <a16:rowId xmlns:a16="http://schemas.microsoft.com/office/drawing/2014/main" val="10003"/>
                  </a:ext>
                </a:extLst>
              </a:tr>
              <a:tr h="708571">
                <a:tc>
                  <a:txBody>
                    <a:bodyPr/>
                    <a:lstStyle/>
                    <a:p>
                      <a:r>
                        <a:rPr sz="1800">
                          <a:solidFill>
                            <a:srgbClr val="262626"/>
                          </a:solidFill>
                          <a:latin typeface="Consolas"/>
                        </a:rPr>
                        <a:t>Referência entre ambientes</a:t>
                      </a:r>
                    </a:p>
                  </a:txBody>
                  <a:tcPr anchor="ctr">
                    <a:solidFill>
                      <a:srgbClr val="F2F2F2"/>
                    </a:solidFill>
                  </a:tcPr>
                </a:tc>
                <a:tc>
                  <a:txBody>
                    <a:bodyPr/>
                    <a:lstStyle/>
                    <a:p>
                      <a:r>
                        <a:rPr sz="1800">
                          <a:solidFill>
                            <a:srgbClr val="262626"/>
                          </a:solidFill>
                          <a:latin typeface="Calibri"/>
                        </a:rPr>
                        <a:t>terraform_remote_state</a:t>
                      </a:r>
                    </a:p>
                  </a:txBody>
                  <a:tcPr anchor="ctr">
                    <a:solidFill>
                      <a:srgbClr val="F2F2F2"/>
                    </a:solidFill>
                  </a:tcPr>
                </a:tc>
                <a:tc>
                  <a:txBody>
                    <a:bodyPr/>
                    <a:lstStyle/>
                    <a:p>
                      <a:r>
                        <a:rPr sz="1800">
                          <a:solidFill>
                            <a:srgbClr val="262626"/>
                          </a:solidFill>
                          <a:latin typeface="Calibri"/>
                        </a:rPr>
                        <a:t>pulumi.StackReference</a:t>
                      </a:r>
                    </a:p>
                  </a:txBody>
                  <a:tcPr anchor="ctr">
                    <a:solidFill>
                      <a:srgbClr val="F2F2F2"/>
                    </a:solidFill>
                  </a:tcPr>
                </a:tc>
                <a:extLst>
                  <a:ext uri="{0D108BD9-81ED-4DB2-BD59-A6C34878D82A}">
                    <a16:rowId xmlns:a16="http://schemas.microsoft.com/office/drawing/2014/main" val="10004"/>
                  </a:ext>
                </a:extLst>
              </a:tr>
              <a:tr h="708571">
                <a:tc>
                  <a:txBody>
                    <a:bodyPr/>
                    <a:lstStyle/>
                    <a:p>
                      <a:r>
                        <a:rPr sz="1800">
                          <a:solidFill>
                            <a:srgbClr val="262626"/>
                          </a:solidFill>
                          <a:latin typeface="Consolas"/>
                        </a:rPr>
                        <a:t>Laços e condicionais</a:t>
                      </a:r>
                    </a:p>
                  </a:txBody>
                  <a:tcPr anchor="ctr">
                    <a:solidFill>
                      <a:srgbClr val="FFFFFF"/>
                    </a:solidFill>
                  </a:tcPr>
                </a:tc>
                <a:tc>
                  <a:txBody>
                    <a:bodyPr/>
                    <a:lstStyle/>
                    <a:p>
                      <a:r>
                        <a:rPr sz="1800">
                          <a:solidFill>
                            <a:srgbClr val="262626"/>
                          </a:solidFill>
                          <a:latin typeface="Calibri"/>
                        </a:rPr>
                        <a:t>count, for_each, dynamic (DSL limitada)</a:t>
                      </a:r>
                    </a:p>
                  </a:txBody>
                  <a:tcPr anchor="ctr">
                    <a:solidFill>
                      <a:srgbClr val="FFFFFF"/>
                    </a:solidFill>
                  </a:tcPr>
                </a:tc>
                <a:tc>
                  <a:txBody>
                    <a:bodyPr/>
                    <a:lstStyle/>
                    <a:p>
                      <a:r>
                        <a:rPr sz="1800">
                          <a:solidFill>
                            <a:srgbClr val="262626"/>
                          </a:solidFill>
                          <a:latin typeface="Calibri"/>
                        </a:rPr>
                        <a:t>for, if, funções, classes — Python nativo, sem limitação de DSL</a:t>
                      </a:r>
                    </a:p>
                  </a:txBody>
                  <a:tcPr anchor="ctr">
                    <a:solidFill>
                      <a:srgbClr val="FFFFFF"/>
                    </a:solidFill>
                  </a:tcPr>
                </a:tc>
                <a:extLst>
                  <a:ext uri="{0D108BD9-81ED-4DB2-BD59-A6C34878D82A}">
                    <a16:rowId xmlns:a16="http://schemas.microsoft.com/office/drawing/2014/main" val="10005"/>
                  </a:ext>
                </a:extLst>
              </a:tr>
              <a:tr h="708574">
                <a:tc>
                  <a:txBody>
                    <a:bodyPr/>
                    <a:lstStyle/>
                    <a:p>
                      <a:r>
                        <a:rPr sz="1800">
                          <a:solidFill>
                            <a:srgbClr val="262626"/>
                          </a:solidFill>
                          <a:latin typeface="Consolas"/>
                        </a:rPr>
                        <a:t>Testes automatizados</a:t>
                      </a:r>
                    </a:p>
                  </a:txBody>
                  <a:tcPr anchor="ctr">
                    <a:solidFill>
                      <a:srgbClr val="F2F2F2"/>
                    </a:solidFill>
                  </a:tcPr>
                </a:tc>
                <a:tc>
                  <a:txBody>
                    <a:bodyPr/>
                    <a:lstStyle/>
                    <a:p>
                      <a:r>
                        <a:rPr sz="1800">
                          <a:solidFill>
                            <a:srgbClr val="262626"/>
                          </a:solidFill>
                          <a:latin typeface="Calibri"/>
                        </a:rPr>
                        <a:t>terraform validate / plan; Terratest (Go)</a:t>
                      </a:r>
                    </a:p>
                  </a:txBody>
                  <a:tcPr anchor="ctr">
                    <a:solidFill>
                      <a:srgbClr val="F2F2F2"/>
                    </a:solidFill>
                  </a:tcPr>
                </a:tc>
                <a:tc>
                  <a:txBody>
                    <a:bodyPr/>
                    <a:lstStyle/>
                    <a:p>
                      <a:r>
                        <a:rPr sz="1800">
                          <a:solidFill>
                            <a:srgbClr val="262626"/>
                          </a:solidFill>
                          <a:latin typeface="Calibri"/>
                        </a:rPr>
                        <a:t>pytest comum; pulumi.runtime.set_mocks para unit tests</a:t>
                      </a:r>
                    </a:p>
                  </a:txBody>
                  <a:tcPr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Arquitetura do Pulumi</a:t>
            </a:r>
          </a:p>
        </p:txBody>
      </p:sp>
      <p:sp>
        <p:nvSpPr>
          <p:cNvPr id="3" name="Content Placeholder 2"/>
          <p:cNvSpPr>
            <a:spLocks noGrp="1"/>
          </p:cNvSpPr>
          <p:nvPr>
            <p:ph idx="1"/>
          </p:nvPr>
        </p:nvSpPr>
        <p:spPr>
          <a:xfrm flipH="1">
            <a:off x="2148967" y="7400000"/>
            <a:ext cx="12366171" cy="2000000"/>
          </a:xfrm>
        </p:spPr>
        <p:txBody>
          <a:bodyPr wrap="square" anchor="t">
            <a:normAutofit/>
          </a:bodyPr>
          <a:lstStyle/>
          <a:p>
            <a:pPr algn="l">
              <a:spcBef>
                <a:spcPts val="0"/>
              </a:spcBef>
              <a:spcAft>
                <a:spcPts val="1200"/>
              </a:spcAft>
              <a:buNone/>
            </a:pPr>
            <a:r>
              <a:rPr sz="2600" dirty="0">
                <a:solidFill>
                  <a:srgbClr val="595959"/>
                </a:solidFill>
                <a:latin typeface="Calibri"/>
              </a:rPr>
              <a:t>Por </a:t>
            </a:r>
            <a:r>
              <a:rPr sz="2600" dirty="0" err="1">
                <a:solidFill>
                  <a:srgbClr val="595959"/>
                </a:solidFill>
                <a:latin typeface="Calibri"/>
              </a:rPr>
              <a:t>dentro</a:t>
            </a:r>
            <a:r>
              <a:rPr sz="2600" dirty="0">
                <a:solidFill>
                  <a:srgbClr val="595959"/>
                </a:solidFill>
                <a:latin typeface="Calibri"/>
              </a:rPr>
              <a:t> do </a:t>
            </a:r>
            <a:r>
              <a:rPr sz="2600" dirty="0" err="1">
                <a:solidFill>
                  <a:srgbClr val="595959"/>
                </a:solidFill>
                <a:latin typeface="Calibri"/>
              </a:rPr>
              <a:t>pulumi</a:t>
            </a:r>
            <a:r>
              <a:rPr sz="2600" dirty="0">
                <a:solidFill>
                  <a:srgbClr val="595959"/>
                </a:solidFill>
                <a:latin typeface="Calibri"/>
              </a:rPr>
              <a:t> up: o Language Host, o Engine, </a:t>
            </a:r>
            <a:r>
              <a:rPr sz="2600" dirty="0" err="1">
                <a:solidFill>
                  <a:srgbClr val="595959"/>
                </a:solidFill>
                <a:latin typeface="Calibri"/>
              </a:rPr>
              <a:t>os</a:t>
            </a:r>
            <a:r>
              <a:rPr sz="2600" dirty="0">
                <a:solidFill>
                  <a:srgbClr val="595959"/>
                </a:solidFill>
                <a:latin typeface="Calibri"/>
              </a:rPr>
              <a:t> providers e o state.</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4</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64</a:t>
            </a:r>
          </a:p>
        </p:txBody>
      </p:sp>
    </p:spTree>
    <p:extLst>
      <p:ext uri="{BB962C8B-B14F-4D97-AF65-F5344CB8AC3E}">
        <p14:creationId xmlns:p14="http://schemas.microsoft.com/office/powerpoint/2010/main" val="1348685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Antes do Diagrama: os 2 Processos por Trás do CLI</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Language Host:  </a:t>
            </a:r>
            <a:r>
              <a:rPr sz="3000">
                <a:solidFill>
                  <a:srgbClr val="262626"/>
                </a:solidFill>
                <a:latin typeface="Calibri"/>
              </a:rPr>
              <a:t>um processo Python separado que roda o SEU programa de verdade — é ele quem executa o __main__.py.</a:t>
            </a:r>
          </a:p>
          <a:p>
            <a:pPr algn="l">
              <a:spcBef>
                <a:spcPts val="0"/>
              </a:spcBef>
              <a:spcAft>
                <a:spcPts val="2200"/>
              </a:spcAft>
            </a:pPr>
            <a:r>
              <a:rPr sz="3000" b="1">
                <a:solidFill>
                  <a:srgbClr val="004A8F"/>
                </a:solidFill>
                <a:latin typeface="Calibri"/>
              </a:rPr>
              <a:t>Pulumi Engine:  </a:t>
            </a:r>
            <a:r>
              <a:rPr sz="3000">
                <a:solidFill>
                  <a:srgbClr val="262626"/>
                </a:solidFill>
                <a:latin typeface="Calibri"/>
              </a:rPr>
              <a:t>escrito em Go, calcula o grafo de dependências e o diff — a mesma lógica de plan do Terraform Core.</a:t>
            </a:r>
          </a:p>
          <a:p>
            <a:pPr algn="l">
              <a:spcBef>
                <a:spcPts val="0"/>
              </a:spcBef>
              <a:spcAft>
                <a:spcPts val="2200"/>
              </a:spcAft>
            </a:pPr>
            <a:r>
              <a:rPr sz="3000" b="1">
                <a:solidFill>
                  <a:srgbClr val="004A8F"/>
                </a:solidFill>
                <a:latin typeface="Calibri"/>
              </a:rPr>
              <a:t>Como eles conversam:  </a:t>
            </a:r>
            <a:r>
              <a:rPr sz="3000">
                <a:solidFill>
                  <a:srgbClr val="262626"/>
                </a:solidFill>
                <a:latin typeface="Calibri"/>
              </a:rPr>
              <a:t>via gRPC — o Language Host informa ao Engine quais recursos foram declarados; o Engine decide o que criar, atualizar ou destruir.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65</a:t>
            </a:r>
          </a:p>
        </p:txBody>
      </p:sp>
    </p:spTree>
    <p:extLst>
      <p:ext uri="{BB962C8B-B14F-4D97-AF65-F5344CB8AC3E}">
        <p14:creationId xmlns:p14="http://schemas.microsoft.com/office/powerpoint/2010/main" val="1728281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66</a:t>
            </a:r>
          </a:p>
        </p:txBody>
      </p:sp>
      <p:pic>
        <p:nvPicPr>
          <p:cNvPr id="5" name="Picture 4" descr="img_arquitetura_pulumi.png"/>
          <p:cNvPicPr>
            <a:picLocks noChangeAspect="1"/>
          </p:cNvPicPr>
          <p:nvPr/>
        </p:nvPicPr>
        <p:blipFill>
          <a:blip r:embed="rId2"/>
          <a:stretch>
            <a:fillRect/>
          </a:stretch>
        </p:blipFill>
        <p:spPr>
          <a:xfrm>
            <a:off x="4004100" y="1510026"/>
            <a:ext cx="14069588" cy="11009974"/>
          </a:xfrm>
          <a:prstGeom prst="rect">
            <a:avLst/>
          </a:prstGeom>
        </p:spPr>
      </p:pic>
    </p:spTree>
    <p:extLst>
      <p:ext uri="{BB962C8B-B14F-4D97-AF65-F5344CB8AC3E}">
        <p14:creationId xmlns:p14="http://schemas.microsoft.com/office/powerpoint/2010/main" val="1718941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Comparando com o Diagrama do Terraform (Aula 02)</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dirty="0">
                <a:solidFill>
                  <a:srgbClr val="004A8F"/>
                </a:solidFill>
                <a:latin typeface="Calibri"/>
              </a:rPr>
              <a:t>Onde é </a:t>
            </a:r>
            <a:r>
              <a:rPr sz="3000" b="1" dirty="0" err="1">
                <a:solidFill>
                  <a:srgbClr val="004A8F"/>
                </a:solidFill>
                <a:latin typeface="Calibri"/>
              </a:rPr>
              <a:t>igual</a:t>
            </a:r>
            <a:r>
              <a:rPr sz="3000" b="1" dirty="0">
                <a:solidFill>
                  <a:srgbClr val="004A8F"/>
                </a:solidFill>
                <a:latin typeface="Calibri"/>
              </a:rPr>
              <a:t>:  </a:t>
            </a:r>
            <a:r>
              <a:rPr sz="3000" dirty="0">
                <a:solidFill>
                  <a:srgbClr val="262626"/>
                </a:solidFill>
                <a:latin typeface="Calibri"/>
              </a:rPr>
              <a:t>a </a:t>
            </a:r>
            <a:r>
              <a:rPr sz="3000" dirty="0" err="1">
                <a:solidFill>
                  <a:srgbClr val="262626"/>
                </a:solidFill>
                <a:latin typeface="Calibri"/>
              </a:rPr>
              <a:t>camada</a:t>
            </a:r>
            <a:r>
              <a:rPr sz="3000" dirty="0">
                <a:solidFill>
                  <a:srgbClr val="262626"/>
                </a:solidFill>
                <a:latin typeface="Calibri"/>
              </a:rPr>
              <a:t> de providers e </a:t>
            </a:r>
            <a:r>
              <a:rPr sz="3000" dirty="0" err="1">
                <a:solidFill>
                  <a:srgbClr val="262626"/>
                </a:solidFill>
                <a:latin typeface="Calibri"/>
              </a:rPr>
              <a:t>os</a:t>
            </a:r>
            <a:r>
              <a:rPr sz="3000" dirty="0">
                <a:solidFill>
                  <a:srgbClr val="262626"/>
                </a:solidFill>
                <a:latin typeface="Calibri"/>
              </a:rPr>
              <a:t> </a:t>
            </a:r>
            <a:r>
              <a:rPr sz="3000" dirty="0" err="1">
                <a:solidFill>
                  <a:srgbClr val="262626"/>
                </a:solidFill>
                <a:latin typeface="Calibri"/>
              </a:rPr>
              <a:t>destinos</a:t>
            </a:r>
            <a:r>
              <a:rPr sz="3000" dirty="0">
                <a:solidFill>
                  <a:srgbClr val="262626"/>
                </a:solidFill>
                <a:latin typeface="Calibri"/>
              </a:rPr>
              <a:t> </a:t>
            </a:r>
            <a:r>
              <a:rPr sz="3000" dirty="0" err="1">
                <a:solidFill>
                  <a:srgbClr val="262626"/>
                </a:solidFill>
                <a:latin typeface="Calibri"/>
              </a:rPr>
              <a:t>finais</a:t>
            </a:r>
            <a:r>
              <a:rPr sz="3000" dirty="0">
                <a:solidFill>
                  <a:srgbClr val="262626"/>
                </a:solidFill>
                <a:latin typeface="Calibri"/>
              </a:rPr>
              <a:t> (</a:t>
            </a:r>
            <a:r>
              <a:rPr sz="3000" dirty="0" err="1">
                <a:solidFill>
                  <a:srgbClr val="262626"/>
                </a:solidFill>
                <a:latin typeface="Calibri"/>
              </a:rPr>
              <a:t>ambiente</a:t>
            </a:r>
            <a:r>
              <a:rPr sz="3000" dirty="0">
                <a:solidFill>
                  <a:srgbClr val="262626"/>
                </a:solidFill>
                <a:latin typeface="Calibri"/>
              </a:rPr>
              <a:t> local / APIs de </a:t>
            </a:r>
            <a:r>
              <a:rPr sz="3000" dirty="0" err="1">
                <a:solidFill>
                  <a:srgbClr val="262626"/>
                </a:solidFill>
                <a:latin typeface="Calibri"/>
              </a:rPr>
              <a:t>nuvem</a:t>
            </a:r>
            <a:r>
              <a:rPr sz="3000" dirty="0">
                <a:solidFill>
                  <a:srgbClr val="262626"/>
                </a:solidFill>
                <a:latin typeface="Calibri"/>
              </a:rPr>
              <a:t>) </a:t>
            </a:r>
            <a:r>
              <a:rPr sz="3000" dirty="0" err="1">
                <a:solidFill>
                  <a:srgbClr val="262626"/>
                </a:solidFill>
                <a:latin typeface="Calibri"/>
              </a:rPr>
              <a:t>são</a:t>
            </a:r>
            <a:r>
              <a:rPr sz="3000" dirty="0">
                <a:solidFill>
                  <a:srgbClr val="262626"/>
                </a:solidFill>
                <a:latin typeface="Calibri"/>
              </a:rPr>
              <a:t> </a:t>
            </a:r>
            <a:r>
              <a:rPr sz="3000" dirty="0" err="1">
                <a:solidFill>
                  <a:srgbClr val="262626"/>
                </a:solidFill>
                <a:latin typeface="Calibri"/>
              </a:rPr>
              <a:t>exatamente</a:t>
            </a:r>
            <a:r>
              <a:rPr sz="3000" dirty="0">
                <a:solidFill>
                  <a:srgbClr val="262626"/>
                </a:solidFill>
                <a:latin typeface="Calibri"/>
              </a:rPr>
              <a:t> </a:t>
            </a:r>
            <a:r>
              <a:rPr sz="3000" dirty="0" err="1">
                <a:solidFill>
                  <a:srgbClr val="262626"/>
                </a:solidFill>
                <a:latin typeface="Calibri"/>
              </a:rPr>
              <a:t>os</a:t>
            </a:r>
            <a:r>
              <a:rPr sz="3000" dirty="0">
                <a:solidFill>
                  <a:srgbClr val="262626"/>
                </a:solidFill>
                <a:latin typeface="Calibri"/>
              </a:rPr>
              <a:t> </a:t>
            </a:r>
            <a:r>
              <a:rPr sz="3000" dirty="0" err="1">
                <a:solidFill>
                  <a:srgbClr val="262626"/>
                </a:solidFill>
                <a:latin typeface="Calibri"/>
              </a:rPr>
              <a:t>mesmos</a:t>
            </a:r>
            <a:r>
              <a:rPr sz="3000" dirty="0">
                <a:solidFill>
                  <a:srgbClr val="262626"/>
                </a:solidFill>
                <a:latin typeface="Calibri"/>
              </a:rPr>
              <a:t>.</a:t>
            </a:r>
          </a:p>
          <a:p>
            <a:pPr algn="l">
              <a:spcBef>
                <a:spcPts val="0"/>
              </a:spcBef>
              <a:spcAft>
                <a:spcPts val="2200"/>
              </a:spcAft>
            </a:pPr>
            <a:r>
              <a:rPr sz="3000" b="1" dirty="0">
                <a:solidFill>
                  <a:srgbClr val="004A8F"/>
                </a:solidFill>
                <a:latin typeface="Calibri"/>
              </a:rPr>
              <a:t>Onde é </a:t>
            </a:r>
            <a:r>
              <a:rPr sz="3000" b="1" dirty="0" err="1">
                <a:solidFill>
                  <a:srgbClr val="004A8F"/>
                </a:solidFill>
                <a:latin typeface="Calibri"/>
              </a:rPr>
              <a:t>diferente</a:t>
            </a:r>
            <a:r>
              <a:rPr sz="3000" b="1" dirty="0">
                <a:solidFill>
                  <a:srgbClr val="004A8F"/>
                </a:solidFill>
                <a:latin typeface="Calibri"/>
              </a:rPr>
              <a:t>:  </a:t>
            </a:r>
            <a:r>
              <a:rPr sz="3000" dirty="0">
                <a:solidFill>
                  <a:srgbClr val="262626"/>
                </a:solidFill>
                <a:latin typeface="Calibri"/>
              </a:rPr>
              <a:t>o Terraform Core </a:t>
            </a:r>
            <a:r>
              <a:rPr sz="3000" dirty="0" err="1">
                <a:solidFill>
                  <a:srgbClr val="262626"/>
                </a:solidFill>
                <a:latin typeface="Calibri"/>
              </a:rPr>
              <a:t>faz</a:t>
            </a:r>
            <a:r>
              <a:rPr sz="3000" dirty="0">
                <a:solidFill>
                  <a:srgbClr val="262626"/>
                </a:solidFill>
                <a:latin typeface="Calibri"/>
              </a:rPr>
              <a:t> o parse do HCL </a:t>
            </a:r>
            <a:r>
              <a:rPr sz="3000" dirty="0" err="1">
                <a:solidFill>
                  <a:srgbClr val="262626"/>
                </a:solidFill>
                <a:latin typeface="Calibri"/>
              </a:rPr>
              <a:t>diretamente</a:t>
            </a:r>
            <a:r>
              <a:rPr sz="3000" dirty="0">
                <a:solidFill>
                  <a:srgbClr val="262626"/>
                </a:solidFill>
                <a:latin typeface="Calibri"/>
              </a:rPr>
              <a:t>; o </a:t>
            </a:r>
            <a:r>
              <a:rPr sz="3000" dirty="0" err="1">
                <a:solidFill>
                  <a:srgbClr val="262626"/>
                </a:solidFill>
                <a:latin typeface="Calibri"/>
              </a:rPr>
              <a:t>Pulumi</a:t>
            </a:r>
            <a:r>
              <a:rPr sz="3000" dirty="0">
                <a:solidFill>
                  <a:srgbClr val="262626"/>
                </a:solidFill>
                <a:latin typeface="Calibri"/>
              </a:rPr>
              <a:t> Engine conversa com um </a:t>
            </a:r>
            <a:r>
              <a:rPr sz="3000" dirty="0" err="1">
                <a:solidFill>
                  <a:srgbClr val="262626"/>
                </a:solidFill>
                <a:latin typeface="Calibri"/>
              </a:rPr>
              <a:t>processo</a:t>
            </a:r>
            <a:r>
              <a:rPr sz="3000" dirty="0">
                <a:solidFill>
                  <a:srgbClr val="262626"/>
                </a:solidFill>
                <a:latin typeface="Calibri"/>
              </a:rPr>
              <a:t> Python </a:t>
            </a:r>
            <a:r>
              <a:rPr sz="3000" dirty="0" err="1">
                <a:solidFill>
                  <a:srgbClr val="262626"/>
                </a:solidFill>
                <a:latin typeface="Calibri"/>
              </a:rPr>
              <a:t>separado</a:t>
            </a:r>
            <a:r>
              <a:rPr sz="3000" dirty="0">
                <a:solidFill>
                  <a:srgbClr val="262626"/>
                </a:solidFill>
                <a:latin typeface="Calibri"/>
              </a:rPr>
              <a:t> (Language Host) </a:t>
            </a:r>
            <a:r>
              <a:rPr sz="3000" dirty="0" err="1">
                <a:solidFill>
                  <a:srgbClr val="262626"/>
                </a:solidFill>
                <a:latin typeface="Calibri"/>
              </a:rPr>
              <a:t>que</a:t>
            </a:r>
            <a:r>
              <a:rPr sz="3000" dirty="0">
                <a:solidFill>
                  <a:srgbClr val="262626"/>
                </a:solidFill>
                <a:latin typeface="Calibri"/>
              </a:rPr>
              <a:t> </a:t>
            </a:r>
            <a:r>
              <a:rPr sz="3000" dirty="0" err="1">
                <a:solidFill>
                  <a:srgbClr val="262626"/>
                </a:solidFill>
                <a:latin typeface="Calibri"/>
              </a:rPr>
              <a:t>roda</a:t>
            </a:r>
            <a:r>
              <a:rPr sz="3000" dirty="0">
                <a:solidFill>
                  <a:srgbClr val="262626"/>
                </a:solidFill>
                <a:latin typeface="Calibri"/>
              </a:rPr>
              <a:t> </a:t>
            </a:r>
            <a:r>
              <a:rPr sz="3000" dirty="0" err="1">
                <a:solidFill>
                  <a:srgbClr val="262626"/>
                </a:solidFill>
                <a:latin typeface="Calibri"/>
              </a:rPr>
              <a:t>seu</a:t>
            </a:r>
            <a:r>
              <a:rPr sz="3000" dirty="0">
                <a:solidFill>
                  <a:srgbClr val="262626"/>
                </a:solidFill>
                <a:latin typeface="Calibri"/>
              </a:rPr>
              <a:t> </a:t>
            </a:r>
            <a:r>
              <a:rPr sz="3000" dirty="0" err="1">
                <a:solidFill>
                  <a:srgbClr val="262626"/>
                </a:solidFill>
                <a:latin typeface="Calibri"/>
              </a:rPr>
              <a:t>programa</a:t>
            </a:r>
            <a:r>
              <a:rPr sz="3000" dirty="0">
                <a:solidFill>
                  <a:srgbClr val="262626"/>
                </a:solidFill>
                <a:latin typeface="Calibri"/>
              </a:rPr>
              <a:t> real.</a:t>
            </a:r>
          </a:p>
          <a:p>
            <a:pPr algn="l">
              <a:spcBef>
                <a:spcPts val="0"/>
              </a:spcBef>
              <a:spcAft>
                <a:spcPts val="2200"/>
              </a:spcAft>
            </a:pPr>
            <a:r>
              <a:rPr sz="3000" b="1" dirty="0" err="1">
                <a:solidFill>
                  <a:srgbClr val="004A8F"/>
                </a:solidFill>
                <a:latin typeface="Calibri"/>
              </a:rPr>
              <a:t>Consequência</a:t>
            </a:r>
            <a:r>
              <a:rPr sz="3000" b="1" dirty="0">
                <a:solidFill>
                  <a:srgbClr val="004A8F"/>
                </a:solidFill>
                <a:latin typeface="Calibri"/>
              </a:rPr>
              <a:t> </a:t>
            </a:r>
            <a:r>
              <a:rPr sz="3000" b="1" dirty="0" err="1">
                <a:solidFill>
                  <a:srgbClr val="004A8F"/>
                </a:solidFill>
                <a:latin typeface="Calibri"/>
              </a:rPr>
              <a:t>prática</a:t>
            </a:r>
            <a:r>
              <a:rPr sz="3000" b="1" dirty="0">
                <a:solidFill>
                  <a:srgbClr val="004A8F"/>
                </a:solidFill>
                <a:latin typeface="Calibri"/>
              </a:rPr>
              <a:t>:  </a:t>
            </a:r>
            <a:r>
              <a:rPr sz="3000" dirty="0" err="1">
                <a:solidFill>
                  <a:srgbClr val="262626"/>
                </a:solidFill>
                <a:latin typeface="Calibri"/>
              </a:rPr>
              <a:t>erros</a:t>
            </a:r>
            <a:r>
              <a:rPr sz="3000" dirty="0">
                <a:solidFill>
                  <a:srgbClr val="262626"/>
                </a:solidFill>
                <a:latin typeface="Calibri"/>
              </a:rPr>
              <a:t> de </a:t>
            </a:r>
            <a:r>
              <a:rPr sz="3000" dirty="0" err="1">
                <a:solidFill>
                  <a:srgbClr val="262626"/>
                </a:solidFill>
                <a:latin typeface="Calibri"/>
              </a:rPr>
              <a:t>sintaxe</a:t>
            </a:r>
            <a:r>
              <a:rPr sz="3000" dirty="0">
                <a:solidFill>
                  <a:srgbClr val="262626"/>
                </a:solidFill>
                <a:latin typeface="Calibri"/>
              </a:rPr>
              <a:t> </a:t>
            </a:r>
            <a:r>
              <a:rPr sz="3000" dirty="0" err="1">
                <a:solidFill>
                  <a:srgbClr val="262626"/>
                </a:solidFill>
                <a:latin typeface="Calibri"/>
              </a:rPr>
              <a:t>em</a:t>
            </a:r>
            <a:r>
              <a:rPr sz="3000" dirty="0">
                <a:solidFill>
                  <a:srgbClr val="262626"/>
                </a:solidFill>
                <a:latin typeface="Calibri"/>
              </a:rPr>
              <a:t> </a:t>
            </a:r>
            <a:r>
              <a:rPr sz="3000" dirty="0" err="1">
                <a:solidFill>
                  <a:srgbClr val="262626"/>
                </a:solidFill>
                <a:latin typeface="Calibri"/>
              </a:rPr>
              <a:t>Pulumi</a:t>
            </a:r>
            <a:r>
              <a:rPr sz="3000" dirty="0">
                <a:solidFill>
                  <a:srgbClr val="262626"/>
                </a:solidFill>
                <a:latin typeface="Calibri"/>
              </a:rPr>
              <a:t> </a:t>
            </a:r>
            <a:r>
              <a:rPr sz="3000" dirty="0" err="1">
                <a:solidFill>
                  <a:srgbClr val="262626"/>
                </a:solidFill>
                <a:latin typeface="Calibri"/>
              </a:rPr>
              <a:t>são</a:t>
            </a:r>
            <a:r>
              <a:rPr sz="3000" dirty="0">
                <a:solidFill>
                  <a:srgbClr val="262626"/>
                </a:solidFill>
                <a:latin typeface="Calibri"/>
              </a:rPr>
              <a:t> </a:t>
            </a:r>
            <a:r>
              <a:rPr sz="3000" dirty="0" err="1">
                <a:solidFill>
                  <a:srgbClr val="262626"/>
                </a:solidFill>
                <a:latin typeface="Calibri"/>
              </a:rPr>
              <a:t>erros</a:t>
            </a:r>
            <a:r>
              <a:rPr sz="3000" dirty="0">
                <a:solidFill>
                  <a:srgbClr val="262626"/>
                </a:solidFill>
                <a:latin typeface="Calibri"/>
              </a:rPr>
              <a:t> de Python (com stack trace </a:t>
            </a:r>
            <a:r>
              <a:rPr sz="3000" dirty="0" err="1">
                <a:solidFill>
                  <a:srgbClr val="262626"/>
                </a:solidFill>
                <a:latin typeface="Calibri"/>
              </a:rPr>
              <a:t>completo</a:t>
            </a:r>
            <a:r>
              <a:rPr sz="3000" dirty="0">
                <a:solidFill>
                  <a:srgbClr val="262626"/>
                </a:solidFill>
                <a:latin typeface="Calibri"/>
              </a:rPr>
              <a:t>); </a:t>
            </a:r>
            <a:r>
              <a:rPr sz="3000" dirty="0" err="1">
                <a:solidFill>
                  <a:srgbClr val="262626"/>
                </a:solidFill>
                <a:latin typeface="Calibri"/>
              </a:rPr>
              <a:t>erros</a:t>
            </a:r>
            <a:r>
              <a:rPr sz="3000" dirty="0">
                <a:solidFill>
                  <a:srgbClr val="262626"/>
                </a:solidFill>
                <a:latin typeface="Calibri"/>
              </a:rPr>
              <a:t> de </a:t>
            </a:r>
            <a:r>
              <a:rPr sz="3000" dirty="0" err="1">
                <a:solidFill>
                  <a:srgbClr val="262626"/>
                </a:solidFill>
                <a:latin typeface="Calibri"/>
              </a:rPr>
              <a:t>sintaxe</a:t>
            </a:r>
            <a:r>
              <a:rPr sz="3000" dirty="0">
                <a:solidFill>
                  <a:srgbClr val="262626"/>
                </a:solidFill>
                <a:latin typeface="Calibri"/>
              </a:rPr>
              <a:t> </a:t>
            </a:r>
            <a:r>
              <a:rPr sz="3000" dirty="0" err="1">
                <a:solidFill>
                  <a:srgbClr val="262626"/>
                </a:solidFill>
                <a:latin typeface="Calibri"/>
              </a:rPr>
              <a:t>em</a:t>
            </a:r>
            <a:r>
              <a:rPr sz="3000" dirty="0">
                <a:solidFill>
                  <a:srgbClr val="262626"/>
                </a:solidFill>
                <a:latin typeface="Calibri"/>
              </a:rPr>
              <a:t> Terraform </a:t>
            </a:r>
            <a:r>
              <a:rPr sz="3000" dirty="0" err="1">
                <a:solidFill>
                  <a:srgbClr val="262626"/>
                </a:solidFill>
                <a:latin typeface="Calibri"/>
              </a:rPr>
              <a:t>são</a:t>
            </a:r>
            <a:r>
              <a:rPr sz="3000" dirty="0">
                <a:solidFill>
                  <a:srgbClr val="262626"/>
                </a:solidFill>
                <a:latin typeface="Calibri"/>
              </a:rPr>
              <a:t> </a:t>
            </a:r>
            <a:r>
              <a:rPr sz="3000" dirty="0" err="1">
                <a:solidFill>
                  <a:srgbClr val="262626"/>
                </a:solidFill>
                <a:latin typeface="Calibri"/>
              </a:rPr>
              <a:t>erros</a:t>
            </a:r>
            <a:r>
              <a:rPr sz="3000" dirty="0">
                <a:solidFill>
                  <a:srgbClr val="262626"/>
                </a:solidFill>
                <a:latin typeface="Calibri"/>
              </a:rPr>
              <a:t> do parser HCL.</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67</a:t>
            </a:r>
          </a:p>
        </p:txBody>
      </p:sp>
    </p:spTree>
    <p:extLst>
      <p:ext uri="{BB962C8B-B14F-4D97-AF65-F5344CB8AC3E}">
        <p14:creationId xmlns:p14="http://schemas.microsoft.com/office/powerpoint/2010/main" val="241184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Mindmap: Pulumi de Ponta a Ponta</a:t>
            </a:r>
          </a:p>
        </p:txBody>
      </p:sp>
      <p:sp>
        <p:nvSpPr>
          <p:cNvPr id="3" name="Content Placeholder 2"/>
          <p:cNvSpPr>
            <a:spLocks noGrp="1"/>
          </p:cNvSpPr>
          <p:nvPr>
            <p:ph idx="1"/>
          </p:nvPr>
        </p:nvSpPr>
        <p:spPr>
          <a:xfrm flipH="1">
            <a:off x="2828925" y="7550000"/>
            <a:ext cx="17830800" cy="2000000"/>
          </a:xfrm>
        </p:spPr>
        <p:txBody>
          <a:bodyPr wrap="square" anchor="t">
            <a:normAutofit/>
          </a:bodyPr>
          <a:lstStyle/>
          <a:p>
            <a:pPr algn="l">
              <a:spcBef>
                <a:spcPts val="0"/>
              </a:spcBef>
              <a:spcAft>
                <a:spcPts val="1200"/>
              </a:spcAft>
              <a:buNone/>
            </a:pPr>
            <a:r>
              <a:rPr sz="2600" dirty="0" err="1">
                <a:solidFill>
                  <a:srgbClr val="595959"/>
                </a:solidFill>
                <a:latin typeface="Calibri"/>
              </a:rPr>
              <a:t>Conceitos</a:t>
            </a:r>
            <a:r>
              <a:rPr sz="2600" dirty="0">
                <a:solidFill>
                  <a:srgbClr val="595959"/>
                </a:solidFill>
                <a:latin typeface="Calibri"/>
              </a:rPr>
              <a:t>, </a:t>
            </a:r>
            <a:r>
              <a:rPr sz="2600" dirty="0" err="1">
                <a:solidFill>
                  <a:srgbClr val="595959"/>
                </a:solidFill>
                <a:latin typeface="Calibri"/>
              </a:rPr>
              <a:t>comandos</a:t>
            </a:r>
            <a:r>
              <a:rPr sz="2600" dirty="0">
                <a:solidFill>
                  <a:srgbClr val="595959"/>
                </a:solidFill>
                <a:latin typeface="Calibri"/>
              </a:rPr>
              <a:t>, providers, </a:t>
            </a:r>
            <a:r>
              <a:rPr sz="2600" dirty="0" err="1">
                <a:solidFill>
                  <a:srgbClr val="595959"/>
                </a:solidFill>
                <a:latin typeface="Calibri"/>
              </a:rPr>
              <a:t>padrões</a:t>
            </a:r>
            <a:r>
              <a:rPr sz="2600" dirty="0">
                <a:solidFill>
                  <a:srgbClr val="595959"/>
                </a:solidFill>
                <a:latin typeface="Calibri"/>
              </a:rPr>
              <a:t> </a:t>
            </a:r>
            <a:r>
              <a:rPr sz="2600" dirty="0" err="1">
                <a:solidFill>
                  <a:srgbClr val="595959"/>
                </a:solidFill>
                <a:latin typeface="Calibri"/>
              </a:rPr>
              <a:t>avançados</a:t>
            </a:r>
            <a:r>
              <a:rPr sz="2600" dirty="0">
                <a:solidFill>
                  <a:srgbClr val="595959"/>
                </a:solidFill>
                <a:latin typeface="Calibri"/>
              </a:rPr>
              <a:t> e o </a:t>
            </a:r>
            <a:r>
              <a:rPr sz="2600" dirty="0" err="1">
                <a:solidFill>
                  <a:srgbClr val="595959"/>
                </a:solidFill>
                <a:latin typeface="Calibri"/>
              </a:rPr>
              <a:t>paralelo</a:t>
            </a:r>
            <a:r>
              <a:rPr sz="2600" dirty="0">
                <a:solidFill>
                  <a:srgbClr val="595959"/>
                </a:solidFill>
                <a:latin typeface="Calibri"/>
              </a:rPr>
              <a:t> </a:t>
            </a:r>
            <a:r>
              <a:rPr sz="2600" dirty="0" err="1">
                <a:solidFill>
                  <a:srgbClr val="595959"/>
                </a:solidFill>
                <a:latin typeface="Calibri"/>
              </a:rPr>
              <a:t>direto</a:t>
            </a:r>
            <a:r>
              <a:rPr sz="2600" dirty="0">
                <a:solidFill>
                  <a:srgbClr val="595959"/>
                </a:solidFill>
                <a:latin typeface="Calibri"/>
              </a:rPr>
              <a:t> com o Terraform, </a:t>
            </a:r>
            <a:r>
              <a:rPr sz="2600" dirty="0" err="1">
                <a:solidFill>
                  <a:srgbClr val="595959"/>
                </a:solidFill>
                <a:latin typeface="Calibri"/>
              </a:rPr>
              <a:t>em</a:t>
            </a:r>
            <a:r>
              <a:rPr sz="2600" dirty="0">
                <a:solidFill>
                  <a:srgbClr val="595959"/>
                </a:solidFill>
                <a:latin typeface="Calibri"/>
              </a:rPr>
              <a:t> um </a:t>
            </a:r>
            <a:r>
              <a:rPr sz="2600" dirty="0" err="1">
                <a:solidFill>
                  <a:srgbClr val="595959"/>
                </a:solidFill>
                <a:latin typeface="Calibri"/>
              </a:rPr>
              <a:t>só</a:t>
            </a:r>
            <a:r>
              <a:rPr sz="2600" dirty="0">
                <a:solidFill>
                  <a:srgbClr val="595959"/>
                </a:solidFill>
                <a:latin typeface="Calibri"/>
              </a:rPr>
              <a:t> </a:t>
            </a:r>
            <a:r>
              <a:rPr sz="2600" dirty="0" err="1">
                <a:solidFill>
                  <a:srgbClr val="595959"/>
                </a:solidFill>
                <a:latin typeface="Calibri"/>
              </a:rPr>
              <a:t>mapa</a:t>
            </a:r>
            <a:r>
              <a:rPr sz="2600" dirty="0">
                <a:solidFill>
                  <a:srgbClr val="595959"/>
                </a:solidFill>
                <a:latin typeface="Calibri"/>
              </a:rPr>
              <a:t>.</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5</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68</a:t>
            </a:r>
          </a:p>
        </p:txBody>
      </p:sp>
    </p:spTree>
    <p:extLst>
      <p:ext uri="{BB962C8B-B14F-4D97-AF65-F5344CB8AC3E}">
        <p14:creationId xmlns:p14="http://schemas.microsoft.com/office/powerpoint/2010/main" val="4086111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69</a:t>
            </a:r>
          </a:p>
        </p:txBody>
      </p:sp>
      <p:pic>
        <p:nvPicPr>
          <p:cNvPr id="5" name="Picture 4" descr="img_mindmap_pulumi.png"/>
          <p:cNvPicPr>
            <a:picLocks noChangeAspect="1"/>
          </p:cNvPicPr>
          <p:nvPr/>
        </p:nvPicPr>
        <p:blipFill>
          <a:blip r:embed="rId2"/>
          <a:srcRect b="8087"/>
          <a:stretch>
            <a:fillRect/>
          </a:stretch>
        </p:blipFill>
        <p:spPr>
          <a:xfrm>
            <a:off x="3565019" y="1276581"/>
            <a:ext cx="14073862" cy="10910657"/>
          </a:xfrm>
          <a:prstGeom prst="rect">
            <a:avLst/>
          </a:prstGeom>
        </p:spPr>
      </p:pic>
    </p:spTree>
    <p:extLst>
      <p:ext uri="{BB962C8B-B14F-4D97-AF65-F5344CB8AC3E}">
        <p14:creationId xmlns:p14="http://schemas.microsoft.com/office/powerpoint/2010/main" val="2342305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Os 5 Ramos, em Uma Frase Cada</a:t>
            </a:r>
          </a:p>
        </p:txBody>
      </p:sp>
      <p:sp>
        <p:nvSpPr>
          <p:cNvPr id="3" name="Content Placeholder 2"/>
          <p:cNvSpPr>
            <a:spLocks noGrp="1"/>
          </p:cNvSpPr>
          <p:nvPr>
            <p:ph idx="1"/>
          </p:nvPr>
        </p:nvSpPr>
        <p:spPr/>
        <p:txBody>
          <a:bodyPr wrap="square" anchor="t"/>
          <a:lstStyle/>
          <a:p>
            <a:pPr algn="l">
              <a:spcBef>
                <a:spcPts val="0"/>
              </a:spcBef>
              <a:spcAft>
                <a:spcPts val="1800"/>
              </a:spcAft>
            </a:pPr>
            <a:r>
              <a:rPr sz="2600" b="1">
                <a:solidFill>
                  <a:srgbClr val="004A8F"/>
                </a:solidFill>
                <a:latin typeface="Calibri"/>
              </a:rPr>
              <a:t>Conceitos:  </a:t>
            </a:r>
            <a:r>
              <a:rPr sz="2600">
                <a:solidFill>
                  <a:srgbClr val="262626"/>
                </a:solidFill>
                <a:latin typeface="Calibri"/>
              </a:rPr>
              <a:t>Program, Stack, State e Config — o vocabulário básico de qualquer projeto Pulumi.</a:t>
            </a:r>
          </a:p>
          <a:p>
            <a:pPr algn="l">
              <a:spcBef>
                <a:spcPts val="0"/>
              </a:spcBef>
              <a:spcAft>
                <a:spcPts val="1800"/>
              </a:spcAft>
            </a:pPr>
            <a:r>
              <a:rPr sz="2600" b="1">
                <a:solidFill>
                  <a:srgbClr val="004A8F"/>
                </a:solidFill>
                <a:latin typeface="Calibri"/>
              </a:rPr>
              <a:t>Comandos:  </a:t>
            </a:r>
            <a:r>
              <a:rPr sz="2600">
                <a:solidFill>
                  <a:srgbClr val="262626"/>
                </a:solidFill>
                <a:latin typeface="Calibri"/>
              </a:rPr>
              <a:t>new, preview, up, destroy, refresh, stack, config, login — o que você digita toda semana.</a:t>
            </a:r>
          </a:p>
          <a:p>
            <a:pPr algn="l">
              <a:spcBef>
                <a:spcPts val="0"/>
              </a:spcBef>
              <a:spcAft>
                <a:spcPts val="1800"/>
              </a:spcAft>
            </a:pPr>
            <a:r>
              <a:rPr sz="2600" b="1">
                <a:solidFill>
                  <a:srgbClr val="004A8F"/>
                </a:solidFill>
                <a:latin typeface="Calibri"/>
              </a:rPr>
              <a:t>Providers (bridged):  </a:t>
            </a:r>
            <a:r>
              <a:rPr sz="2600">
                <a:solidFill>
                  <a:srgbClr val="262626"/>
                </a:solidFill>
                <a:latin typeface="Calibri"/>
              </a:rPr>
              <a:t>azure-native, aws, google-native, kubernetes, random, tls, archive, docker — mesmos schemas do Terraform.</a:t>
            </a:r>
          </a:p>
          <a:p>
            <a:pPr algn="l">
              <a:spcBef>
                <a:spcPts val="0"/>
              </a:spcBef>
              <a:spcAft>
                <a:spcPts val="1800"/>
              </a:spcAft>
            </a:pPr>
            <a:r>
              <a:rPr sz="2600" b="1">
                <a:solidFill>
                  <a:srgbClr val="004A8F"/>
                </a:solidFill>
                <a:latin typeface="Calibri"/>
              </a:rPr>
              <a:t>Padrões avançados:  </a:t>
            </a:r>
            <a:r>
              <a:rPr sz="2600">
                <a:solidFill>
                  <a:srgbClr val="262626"/>
                </a:solidFill>
                <a:latin typeface="Calibri"/>
              </a:rPr>
              <a:t>Component Resources, Automation API, CrossGuard, StackReference — o que separa um projeto iniciante de um projeto de plataforma.</a:t>
            </a:r>
          </a:p>
          <a:p>
            <a:pPr algn="l">
              <a:spcBef>
                <a:spcPts val="0"/>
              </a:spcBef>
              <a:spcAft>
                <a:spcPts val="1800"/>
              </a:spcAft>
            </a:pPr>
            <a:r>
              <a:rPr sz="2600" b="1">
                <a:solidFill>
                  <a:srgbClr val="004A8F"/>
                </a:solidFill>
                <a:latin typeface="Calibri"/>
              </a:rPr>
              <a:t>Comparado ao Terraform:  </a:t>
            </a:r>
            <a:r>
              <a:rPr sz="2600">
                <a:solidFill>
                  <a:srgbClr val="262626"/>
                </a:solidFill>
                <a:latin typeface="Calibri"/>
              </a:rPr>
              <a:t>o "tradutor rápido" de vocabulário — cole este slide na parede até o vocabulário grudar.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70</a:t>
            </a:r>
          </a:p>
        </p:txBody>
      </p:sp>
    </p:spTree>
    <p:extLst>
      <p:ext uri="{BB962C8B-B14F-4D97-AF65-F5344CB8AC3E}">
        <p14:creationId xmlns:p14="http://schemas.microsoft.com/office/powerpoint/2010/main" val="1587361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Instalação e Primeiro Projeto</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O mesmo espírito da instalação do Terraform na Aula 02 — sem baixar zip manualmente.</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2</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39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dirty="0" err="1">
                <a:solidFill>
                  <a:srgbClr val="0070C0"/>
                </a:solidFill>
                <a:latin typeface="Calibri"/>
              </a:rPr>
              <a:t>Exemplo</a:t>
            </a:r>
            <a:r>
              <a:rPr sz="3000" b="1" dirty="0">
                <a:solidFill>
                  <a:srgbClr val="0070C0"/>
                </a:solidFill>
                <a:latin typeface="Calibri"/>
              </a:rPr>
              <a:t> 5 — Demo PCDF Contra o Azure</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61</a:t>
            </a:r>
          </a:p>
        </p:txBody>
      </p:sp>
      <p:sp>
        <p:nvSpPr>
          <p:cNvPr id="5" name="TextBox 4"/>
          <p:cNvSpPr txBox="1"/>
          <p:nvPr/>
        </p:nvSpPr>
        <p:spPr>
          <a:xfrm>
            <a:off x="1559100" y="3042548"/>
            <a:ext cx="19170650" cy="400000"/>
          </a:xfrm>
          <a:prstGeom prst="rect">
            <a:avLst/>
          </a:prstGeom>
          <a:noFill/>
        </p:spPr>
        <p:txBody>
          <a:bodyPr wrap="none">
            <a:spAutoFit/>
          </a:bodyPr>
          <a:lstStyle/>
          <a:p>
            <a:r>
              <a:rPr sz="1900" i="1">
                <a:solidFill>
                  <a:srgbClr val="595959"/>
                </a:solidFill>
                <a:latin typeface="Calibri"/>
              </a:rPr>
              <a:t>mesmo main.tf da Parte 11 (terraform{} + provider omitidos aqui, iguais ao Exemplo 1) x __main__.py do azure-python</a:t>
            </a:r>
          </a:p>
        </p:txBody>
      </p:sp>
      <p:sp>
        <p:nvSpPr>
          <p:cNvPr id="6" name="Rounded Rectangle 5"/>
          <p:cNvSpPr/>
          <p:nvPr/>
        </p:nvSpPr>
        <p:spPr>
          <a:xfrm>
            <a:off x="1689100" y="4480000"/>
            <a:ext cx="9455325" cy="340000"/>
          </a:xfrm>
          <a:prstGeom prst="roundRect">
            <a:avLst>
              <a:gd name="adj" fmla="val 50000"/>
            </a:avLst>
          </a:prstGeom>
          <a:solidFill>
            <a:srgbClr val="00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TERRAFORM</a:t>
            </a:r>
          </a:p>
        </p:txBody>
      </p:sp>
      <p:sp>
        <p:nvSpPr>
          <p:cNvPr id="7" name="Rounded Rectangle 6"/>
          <p:cNvSpPr/>
          <p:nvPr/>
        </p:nvSpPr>
        <p:spPr>
          <a:xfrm>
            <a:off x="11404425" y="4480000"/>
            <a:ext cx="9455325" cy="340000"/>
          </a:xfrm>
          <a:prstGeom prst="roundRect">
            <a:avLst>
              <a:gd name="adj" fmla="val 50000"/>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PULUMI</a:t>
            </a:r>
          </a:p>
        </p:txBody>
      </p:sp>
      <p:sp>
        <p:nvSpPr>
          <p:cNvPr id="8" name="Rounded Rectangle 7"/>
          <p:cNvSpPr/>
          <p:nvPr/>
        </p:nvSpPr>
        <p:spPr>
          <a:xfrm>
            <a:off x="1689100"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9" name="Rounded Rectangle 8"/>
          <p:cNvSpPr/>
          <p:nvPr/>
        </p:nvSpPr>
        <p:spPr>
          <a:xfrm>
            <a:off x="1689100"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0" name="Rectangle 9"/>
          <p:cNvSpPr/>
          <p:nvPr/>
        </p:nvSpPr>
        <p:spPr>
          <a:xfrm>
            <a:off x="1689100"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1" name="Oval 10"/>
          <p:cNvSpPr/>
          <p:nvPr/>
        </p:nvSpPr>
        <p:spPr>
          <a:xfrm>
            <a:off x="1869100"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2" name="Oval 11"/>
          <p:cNvSpPr/>
          <p:nvPr/>
        </p:nvSpPr>
        <p:spPr>
          <a:xfrm>
            <a:off x="2109100"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3" name="Oval 12"/>
          <p:cNvSpPr/>
          <p:nvPr/>
        </p:nvSpPr>
        <p:spPr>
          <a:xfrm>
            <a:off x="2349100"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4" name="TextBox 13"/>
          <p:cNvSpPr txBox="1"/>
          <p:nvPr/>
        </p:nvSpPr>
        <p:spPr>
          <a:xfrm>
            <a:off x="5729718" y="4945000"/>
            <a:ext cx="1374094" cy="461665"/>
          </a:xfrm>
          <a:prstGeom prst="rect">
            <a:avLst/>
          </a:prstGeom>
          <a:noFill/>
        </p:spPr>
        <p:txBody>
          <a:bodyPr wrap="none">
            <a:spAutoFit/>
          </a:bodyPr>
          <a:lstStyle/>
          <a:p>
            <a:pPr algn="ctr"/>
            <a:r>
              <a:rPr sz="2400">
                <a:solidFill>
                  <a:srgbClr val="595959"/>
                </a:solidFill>
                <a:latin typeface="Consolas"/>
              </a:rPr>
              <a:t>main.tf</a:t>
            </a:r>
          </a:p>
        </p:txBody>
      </p:sp>
      <p:sp>
        <p:nvSpPr>
          <p:cNvPr id="15" name="TextBox 14"/>
          <p:cNvSpPr txBox="1"/>
          <p:nvPr/>
        </p:nvSpPr>
        <p:spPr>
          <a:xfrm>
            <a:off x="1869100" y="5380000"/>
            <a:ext cx="9115325" cy="5504071"/>
          </a:xfrm>
          <a:prstGeom prst="rect">
            <a:avLst/>
          </a:prstGeom>
          <a:noFill/>
        </p:spPr>
        <p:txBody>
          <a:bodyPr wrap="square" anchor="t">
            <a:spAutoFit/>
          </a:bodyPr>
          <a:lstStyle/>
          <a:p>
            <a:pPr algn="l">
              <a:spcBef>
                <a:spcPts val="0"/>
              </a:spcBef>
              <a:spcAft>
                <a:spcPts val="150"/>
              </a:spcAft>
            </a:pPr>
            <a:r>
              <a:rPr sz="1600" b="1" i="0">
                <a:solidFill>
                  <a:srgbClr val="F5AC00"/>
                </a:solidFill>
                <a:latin typeface="Consolas"/>
              </a:rPr>
              <a:t>data</a:t>
            </a:r>
            <a:r>
              <a:rPr sz="1600" b="0" i="0">
                <a:solidFill>
                  <a:srgbClr val="262626"/>
                </a:solidFill>
                <a:latin typeface="Consolas"/>
              </a:rPr>
              <a:t> "</a:t>
            </a:r>
            <a:r>
              <a:rPr sz="1600" b="0" i="1">
                <a:solidFill>
                  <a:srgbClr val="218CD6"/>
                </a:solidFill>
                <a:latin typeface="Consolas"/>
              </a:rPr>
              <a:t>azurerm_resource_group</a:t>
            </a:r>
            <a:r>
              <a:rPr sz="1600" b="0" i="0">
                <a:solidFill>
                  <a:srgbClr val="262626"/>
                </a:solidFill>
                <a:latin typeface="Consolas"/>
              </a:rPr>
              <a:t>" "rg" {</a:t>
            </a:r>
          </a:p>
          <a:p>
            <a:pPr algn="l">
              <a:spcBef>
                <a:spcPts val="0"/>
              </a:spcBef>
              <a:spcAft>
                <a:spcPts val="150"/>
              </a:spcAft>
            </a:pPr>
            <a:r>
              <a:rPr sz="1600" b="0" i="0">
                <a:solidFill>
                  <a:srgbClr val="262626"/>
                </a:solidFill>
                <a:latin typeface="Consolas"/>
              </a:rPr>
              <a:t>  name = "rg-pcdf-demo"</a:t>
            </a:r>
          </a:p>
          <a:p>
            <a:pPr algn="l">
              <a:spcBef>
                <a:spcPts val="0"/>
              </a:spcBef>
              <a:spcAft>
                <a:spcPts val="150"/>
              </a:spcAft>
            </a:pPr>
            <a:r>
              <a:rPr sz="1600" b="0" i="0">
                <a:solidFill>
                  <a:srgbClr val="262626"/>
                </a:solidFill>
                <a:latin typeface="Consolas"/>
              </a:rPr>
              <a:t>}</a:t>
            </a:r>
          </a:p>
          <a:p>
            <a:pPr algn="l">
              <a:spcBef>
                <a:spcPts val="0"/>
              </a:spcBef>
              <a:spcAft>
                <a:spcPts val="150"/>
              </a:spcAft>
            </a:pPr>
            <a:endParaRPr sz="1600" b="0" i="0">
              <a:solidFill>
                <a:srgbClr val="262626"/>
              </a:solidFill>
              <a:latin typeface="Consolas"/>
            </a:endParaRPr>
          </a:p>
          <a:p>
            <a:pPr algn="l">
              <a:spcBef>
                <a:spcPts val="0"/>
              </a:spcBef>
              <a:spcAft>
                <a:spcPts val="150"/>
              </a:spcAft>
            </a:pPr>
            <a:r>
              <a:rPr sz="1600" b="1" i="0">
                <a:solidFill>
                  <a:srgbClr val="F5AC00"/>
                </a:solidFill>
                <a:latin typeface="Consolas"/>
              </a:rPr>
              <a:t>resource</a:t>
            </a:r>
            <a:r>
              <a:rPr sz="1600" b="0" i="0">
                <a:solidFill>
                  <a:srgbClr val="262626"/>
                </a:solidFill>
                <a:latin typeface="Consolas"/>
              </a:rPr>
              <a:t> "</a:t>
            </a:r>
            <a:r>
              <a:rPr sz="1600" b="0" i="1">
                <a:solidFill>
                  <a:srgbClr val="218CD6"/>
                </a:solidFill>
                <a:latin typeface="Consolas"/>
              </a:rPr>
              <a:t>azurerm_storage_account</a:t>
            </a:r>
            <a:r>
              <a:rPr sz="1600" b="0" i="0">
                <a:solidFill>
                  <a:srgbClr val="262626"/>
                </a:solidFill>
                <a:latin typeface="Consolas"/>
              </a:rPr>
              <a:t>" "st" {</a:t>
            </a:r>
          </a:p>
          <a:p>
            <a:pPr algn="l">
              <a:spcBef>
                <a:spcPts val="0"/>
              </a:spcBef>
              <a:spcAft>
                <a:spcPts val="150"/>
              </a:spcAft>
            </a:pPr>
            <a:r>
              <a:rPr sz="1600" b="0" i="0">
                <a:solidFill>
                  <a:srgbClr val="262626"/>
                </a:solidFill>
                <a:latin typeface="Consolas"/>
              </a:rPr>
              <a:t>  name = "stpcdfbodemo"</a:t>
            </a:r>
          </a:p>
          <a:p>
            <a:pPr algn="l">
              <a:spcBef>
                <a:spcPts val="0"/>
              </a:spcBef>
              <a:spcAft>
                <a:spcPts val="150"/>
              </a:spcAft>
            </a:pPr>
            <a:r>
              <a:rPr sz="1600" b="0" i="0">
                <a:solidFill>
                  <a:srgbClr val="262626"/>
                </a:solidFill>
                <a:latin typeface="Consolas"/>
              </a:rPr>
              <a:t>  resource_group_name = </a:t>
            </a:r>
          </a:p>
          <a:p>
            <a:pPr algn="l">
              <a:spcBef>
                <a:spcPts val="0"/>
              </a:spcBef>
              <a:spcAft>
                <a:spcPts val="150"/>
              </a:spcAft>
            </a:pPr>
            <a:r>
              <a:rPr sz="1600" b="0" i="0">
                <a:solidFill>
                  <a:srgbClr val="262626"/>
                </a:solidFill>
                <a:latin typeface="Consolas"/>
              </a:rPr>
              <a:t>    data.azurerm_resource_group.rg.name</a:t>
            </a:r>
          </a:p>
          <a:p>
            <a:pPr algn="l">
              <a:spcBef>
                <a:spcPts val="0"/>
              </a:spcBef>
              <a:spcAft>
                <a:spcPts val="150"/>
              </a:spcAft>
            </a:pPr>
            <a:r>
              <a:rPr sz="1600" b="0" i="0">
                <a:solidFill>
                  <a:srgbClr val="262626"/>
                </a:solidFill>
                <a:latin typeface="Consolas"/>
              </a:rPr>
              <a:t>  location = </a:t>
            </a:r>
          </a:p>
          <a:p>
            <a:pPr algn="l">
              <a:spcBef>
                <a:spcPts val="0"/>
              </a:spcBef>
              <a:spcAft>
                <a:spcPts val="150"/>
              </a:spcAft>
            </a:pPr>
            <a:r>
              <a:rPr sz="1600" b="0" i="0">
                <a:solidFill>
                  <a:srgbClr val="262626"/>
                </a:solidFill>
                <a:latin typeface="Consolas"/>
              </a:rPr>
              <a:t>    data.azurerm_resource_group.rg.location</a:t>
            </a:r>
          </a:p>
          <a:p>
            <a:pPr algn="l">
              <a:spcBef>
                <a:spcPts val="0"/>
              </a:spcBef>
              <a:spcAft>
                <a:spcPts val="150"/>
              </a:spcAft>
            </a:pPr>
            <a:r>
              <a:rPr sz="1600" b="0" i="0">
                <a:solidFill>
                  <a:srgbClr val="262626"/>
                </a:solidFill>
                <a:latin typeface="Consolas"/>
              </a:rPr>
              <a:t>  account_tier = "Standard"</a:t>
            </a:r>
          </a:p>
          <a:p>
            <a:pPr algn="l">
              <a:spcBef>
                <a:spcPts val="0"/>
              </a:spcBef>
              <a:spcAft>
                <a:spcPts val="150"/>
              </a:spcAft>
            </a:pPr>
            <a:r>
              <a:rPr sz="1600" b="0" i="0">
                <a:solidFill>
                  <a:srgbClr val="262626"/>
                </a:solidFill>
                <a:latin typeface="Consolas"/>
              </a:rPr>
              <a:t>  account_replication_type = "LRS"</a:t>
            </a:r>
          </a:p>
          <a:p>
            <a:pPr algn="l">
              <a:spcBef>
                <a:spcPts val="0"/>
              </a:spcBef>
              <a:spcAft>
                <a:spcPts val="150"/>
              </a:spcAft>
            </a:pPr>
            <a:r>
              <a:rPr sz="1600" b="0" i="0">
                <a:solidFill>
                  <a:srgbClr val="262626"/>
                </a:solidFill>
                <a:latin typeface="Consolas"/>
              </a:rPr>
              <a:t>}</a:t>
            </a:r>
          </a:p>
          <a:p>
            <a:pPr algn="l">
              <a:spcBef>
                <a:spcPts val="0"/>
              </a:spcBef>
              <a:spcAft>
                <a:spcPts val="150"/>
              </a:spcAft>
            </a:pPr>
            <a:endParaRPr sz="1600" b="0" i="0">
              <a:solidFill>
                <a:srgbClr val="262626"/>
              </a:solidFill>
              <a:latin typeface="Consolas"/>
            </a:endParaRPr>
          </a:p>
          <a:p>
            <a:pPr algn="l">
              <a:spcBef>
                <a:spcPts val="0"/>
              </a:spcBef>
              <a:spcAft>
                <a:spcPts val="150"/>
              </a:spcAft>
            </a:pPr>
            <a:r>
              <a:rPr sz="1600" b="1" i="0">
                <a:solidFill>
                  <a:srgbClr val="F5AC00"/>
                </a:solidFill>
                <a:latin typeface="Consolas"/>
              </a:rPr>
              <a:t>resource</a:t>
            </a:r>
            <a:r>
              <a:rPr sz="1600" b="0" i="0">
                <a:solidFill>
                  <a:srgbClr val="262626"/>
                </a:solidFill>
                <a:latin typeface="Consolas"/>
              </a:rPr>
              <a:t> "</a:t>
            </a:r>
            <a:r>
              <a:rPr sz="1600" b="0" i="1">
                <a:solidFill>
                  <a:srgbClr val="218CD6"/>
                </a:solidFill>
                <a:latin typeface="Consolas"/>
              </a:rPr>
              <a:t>azurerm_storage_container</a:t>
            </a:r>
            <a:r>
              <a:rPr sz="1600" b="0" i="0">
                <a:solidFill>
                  <a:srgbClr val="262626"/>
                </a:solidFill>
                <a:latin typeface="Consolas"/>
              </a:rPr>
              <a:t>" "raw" {</a:t>
            </a:r>
          </a:p>
          <a:p>
            <a:pPr algn="l">
              <a:spcBef>
                <a:spcPts val="0"/>
              </a:spcBef>
              <a:spcAft>
                <a:spcPts val="150"/>
              </a:spcAft>
            </a:pPr>
            <a:r>
              <a:rPr sz="1600" b="0" i="0">
                <a:solidFill>
                  <a:srgbClr val="262626"/>
                </a:solidFill>
                <a:latin typeface="Consolas"/>
              </a:rPr>
              <a:t>  name = "bos-raw"</a:t>
            </a:r>
          </a:p>
          <a:p>
            <a:pPr algn="l">
              <a:spcBef>
                <a:spcPts val="0"/>
              </a:spcBef>
              <a:spcAft>
                <a:spcPts val="150"/>
              </a:spcAft>
            </a:pPr>
            <a:r>
              <a:rPr sz="1600" b="0" i="0">
                <a:solidFill>
                  <a:srgbClr val="262626"/>
                </a:solidFill>
                <a:latin typeface="Consolas"/>
              </a:rPr>
              <a:t>  storage_account_name = </a:t>
            </a:r>
          </a:p>
          <a:p>
            <a:pPr algn="l">
              <a:spcBef>
                <a:spcPts val="0"/>
              </a:spcBef>
              <a:spcAft>
                <a:spcPts val="150"/>
              </a:spcAft>
            </a:pPr>
            <a:r>
              <a:rPr sz="1600" b="0" i="0">
                <a:solidFill>
                  <a:srgbClr val="262626"/>
                </a:solidFill>
                <a:latin typeface="Consolas"/>
              </a:rPr>
              <a:t>    azurerm_storage_account.st.name</a:t>
            </a:r>
          </a:p>
          <a:p>
            <a:pPr algn="l">
              <a:spcBef>
                <a:spcPts val="0"/>
              </a:spcBef>
              <a:spcAft>
                <a:spcPts val="150"/>
              </a:spcAft>
            </a:pPr>
            <a:r>
              <a:rPr sz="1600" b="0" i="0">
                <a:solidFill>
                  <a:srgbClr val="262626"/>
                </a:solidFill>
                <a:latin typeface="Consolas"/>
              </a:rPr>
              <a:t>  container_access_type = "private"</a:t>
            </a:r>
          </a:p>
          <a:p>
            <a:pPr algn="l">
              <a:spcBef>
                <a:spcPts val="0"/>
              </a:spcBef>
              <a:spcAft>
                <a:spcPts val="150"/>
              </a:spcAft>
            </a:pPr>
            <a:r>
              <a:rPr sz="1600" b="0" i="0">
                <a:solidFill>
                  <a:srgbClr val="262626"/>
                </a:solidFill>
                <a:latin typeface="Consolas"/>
              </a:rPr>
              <a:t>}</a:t>
            </a:r>
          </a:p>
        </p:txBody>
      </p:sp>
      <p:sp>
        <p:nvSpPr>
          <p:cNvPr id="16" name="Rounded Rectangle 15"/>
          <p:cNvSpPr/>
          <p:nvPr/>
        </p:nvSpPr>
        <p:spPr>
          <a:xfrm>
            <a:off x="11404425"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7" name="Rounded Rectangle 16"/>
          <p:cNvSpPr/>
          <p:nvPr/>
        </p:nvSpPr>
        <p:spPr>
          <a:xfrm>
            <a:off x="11404425"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8" name="Rectangle 17"/>
          <p:cNvSpPr/>
          <p:nvPr/>
        </p:nvSpPr>
        <p:spPr>
          <a:xfrm>
            <a:off x="11404425"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9" name="Oval 18"/>
          <p:cNvSpPr/>
          <p:nvPr/>
        </p:nvSpPr>
        <p:spPr>
          <a:xfrm>
            <a:off x="11584425"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0" name="Oval 19"/>
          <p:cNvSpPr/>
          <p:nvPr/>
        </p:nvSpPr>
        <p:spPr>
          <a:xfrm>
            <a:off x="11824425"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1" name="Oval 20"/>
          <p:cNvSpPr/>
          <p:nvPr/>
        </p:nvSpPr>
        <p:spPr>
          <a:xfrm>
            <a:off x="12064425"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2" name="TextBox 21"/>
          <p:cNvSpPr txBox="1"/>
          <p:nvPr/>
        </p:nvSpPr>
        <p:spPr>
          <a:xfrm>
            <a:off x="15115203" y="4808335"/>
            <a:ext cx="2053767" cy="461665"/>
          </a:xfrm>
          <a:prstGeom prst="rect">
            <a:avLst/>
          </a:prstGeom>
          <a:noFill/>
        </p:spPr>
        <p:txBody>
          <a:bodyPr wrap="none">
            <a:spAutoFit/>
          </a:bodyPr>
          <a:lstStyle/>
          <a:p>
            <a:pPr algn="ctr"/>
            <a:r>
              <a:rPr sz="2400" dirty="0">
                <a:solidFill>
                  <a:srgbClr val="595959"/>
                </a:solidFill>
                <a:latin typeface="Consolas"/>
              </a:rPr>
              <a:t>__main__.py</a:t>
            </a:r>
          </a:p>
        </p:txBody>
      </p:sp>
      <p:sp>
        <p:nvSpPr>
          <p:cNvPr id="23" name="TextBox 22"/>
          <p:cNvSpPr txBox="1"/>
          <p:nvPr/>
        </p:nvSpPr>
        <p:spPr>
          <a:xfrm>
            <a:off x="11584425" y="5380000"/>
            <a:ext cx="9115325" cy="6286336"/>
          </a:xfrm>
          <a:prstGeom prst="rect">
            <a:avLst/>
          </a:prstGeom>
          <a:noFill/>
        </p:spPr>
        <p:txBody>
          <a:bodyPr wrap="square" anchor="t">
            <a:spAutoFit/>
          </a:bodyPr>
          <a:lstStyle/>
          <a:p>
            <a:pPr algn="l">
              <a:spcBef>
                <a:spcPts val="0"/>
              </a:spcBef>
              <a:spcAft>
                <a:spcPts val="250"/>
              </a:spcAft>
            </a:pPr>
            <a:r>
              <a:rPr sz="2000" b="1" i="0" dirty="0">
                <a:solidFill>
                  <a:srgbClr val="F5AC00"/>
                </a:solidFill>
                <a:latin typeface="Consolas"/>
              </a:rPr>
              <a:t>import</a:t>
            </a:r>
            <a:r>
              <a:rPr sz="2000" b="0" i="0" dirty="0">
                <a:solidFill>
                  <a:srgbClr val="262626"/>
                </a:solidFill>
                <a:latin typeface="Consolas"/>
              </a:rPr>
              <a:t> </a:t>
            </a:r>
            <a:r>
              <a:rPr sz="2000" b="0" i="0" dirty="0" err="1">
                <a:solidFill>
                  <a:srgbClr val="262626"/>
                </a:solidFill>
                <a:latin typeface="Consolas"/>
              </a:rPr>
              <a:t>pulumi</a:t>
            </a:r>
            <a:endParaRPr sz="2000" b="0" i="0" dirty="0">
              <a:solidFill>
                <a:srgbClr val="262626"/>
              </a:solidFill>
              <a:latin typeface="Consolas"/>
            </a:endParaRPr>
          </a:p>
          <a:p>
            <a:pPr algn="l">
              <a:spcBef>
                <a:spcPts val="0"/>
              </a:spcBef>
              <a:spcAft>
                <a:spcPts val="250"/>
              </a:spcAft>
            </a:pPr>
            <a:r>
              <a:rPr sz="2000" b="1" i="0" dirty="0">
                <a:solidFill>
                  <a:srgbClr val="F5AC00"/>
                </a:solidFill>
                <a:latin typeface="Consolas"/>
              </a:rPr>
              <a:t>from</a:t>
            </a:r>
            <a:r>
              <a:rPr sz="2000" b="0" i="0" dirty="0">
                <a:solidFill>
                  <a:srgbClr val="262626"/>
                </a:solidFill>
                <a:latin typeface="Consolas"/>
              </a:rPr>
              <a:t> </a:t>
            </a:r>
            <a:r>
              <a:rPr sz="2000" b="0" i="0" dirty="0" err="1">
                <a:solidFill>
                  <a:srgbClr val="262626"/>
                </a:solidFill>
                <a:latin typeface="Consolas"/>
              </a:rPr>
              <a:t>pulumi_azure_native</a:t>
            </a:r>
            <a:r>
              <a:rPr sz="2000" b="0" i="0" dirty="0">
                <a:solidFill>
                  <a:srgbClr val="262626"/>
                </a:solidFill>
                <a:latin typeface="Consolas"/>
              </a:rPr>
              <a:t> </a:t>
            </a:r>
            <a:r>
              <a:rPr sz="2000" b="1" i="0" dirty="0">
                <a:solidFill>
                  <a:srgbClr val="F5AC00"/>
                </a:solidFill>
                <a:latin typeface="Consolas"/>
              </a:rPr>
              <a:t>import</a:t>
            </a:r>
            <a:r>
              <a:rPr sz="2000" b="0" i="0" dirty="0">
                <a:solidFill>
                  <a:srgbClr val="262626"/>
                </a:solidFill>
                <a:latin typeface="Consolas"/>
              </a:rPr>
              <a:t> resources, storage</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0" i="0" dirty="0" err="1">
                <a:solidFill>
                  <a:srgbClr val="262626"/>
                </a:solidFill>
                <a:latin typeface="Consolas"/>
              </a:rPr>
              <a:t>rg</a:t>
            </a:r>
            <a:r>
              <a:rPr sz="2000" b="0" i="0" dirty="0">
                <a:solidFill>
                  <a:srgbClr val="262626"/>
                </a:solidFill>
                <a:latin typeface="Consolas"/>
              </a:rPr>
              <a:t> = </a:t>
            </a:r>
            <a:r>
              <a:rPr sz="2000" b="0" i="0" dirty="0" err="1">
                <a:solidFill>
                  <a:srgbClr val="262626"/>
                </a:solidFill>
                <a:latin typeface="Consolas"/>
              </a:rPr>
              <a:t>resources.ResourceGroup.get</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a:t>
            </a:r>
            <a:r>
              <a:rPr sz="2000" b="0" i="0" dirty="0">
                <a:solidFill>
                  <a:srgbClr val="2E7D32"/>
                </a:solidFill>
                <a:latin typeface="Consolas"/>
              </a:rPr>
              <a:t>"</a:t>
            </a:r>
            <a:r>
              <a:rPr sz="2000" b="0" i="0" dirty="0" err="1">
                <a:solidFill>
                  <a:srgbClr val="2E7D32"/>
                </a:solidFill>
                <a:latin typeface="Consolas"/>
              </a:rPr>
              <a:t>rg</a:t>
            </a:r>
            <a:r>
              <a:rPr sz="2000" b="0" i="0" dirty="0">
                <a:solidFill>
                  <a:srgbClr val="2E7D32"/>
                </a:solidFill>
                <a:latin typeface="Consolas"/>
              </a:rPr>
              <a:t>"</a:t>
            </a:r>
            <a:r>
              <a:rPr sz="2000" b="0" i="0" dirty="0">
                <a:solidFill>
                  <a:srgbClr val="262626"/>
                </a:solidFill>
                <a:latin typeface="Consolas"/>
              </a:rPr>
              <a:t>, </a:t>
            </a:r>
            <a:r>
              <a:rPr sz="2000" b="0" i="0" dirty="0">
                <a:solidFill>
                  <a:srgbClr val="2E7D32"/>
                </a:solidFill>
                <a:latin typeface="Consolas"/>
              </a:rPr>
              <a:t>"</a:t>
            </a:r>
            <a:r>
              <a:rPr sz="2000" b="0" i="0" dirty="0" err="1">
                <a:solidFill>
                  <a:srgbClr val="2E7D32"/>
                </a:solidFill>
                <a:latin typeface="Consolas"/>
              </a:rPr>
              <a:t>rg</a:t>
            </a:r>
            <a:r>
              <a:rPr sz="2000" b="0" i="0" dirty="0">
                <a:solidFill>
                  <a:srgbClr val="2E7D32"/>
                </a:solidFill>
                <a:latin typeface="Consolas"/>
              </a:rPr>
              <a:t>-</a:t>
            </a:r>
            <a:r>
              <a:rPr sz="2000" b="0" i="0" dirty="0" err="1">
                <a:solidFill>
                  <a:srgbClr val="2E7D32"/>
                </a:solidFill>
                <a:latin typeface="Consolas"/>
              </a:rPr>
              <a:t>pcdf</a:t>
            </a:r>
            <a:r>
              <a:rPr sz="2000" b="0" i="0" dirty="0">
                <a:solidFill>
                  <a:srgbClr val="2E7D32"/>
                </a:solidFill>
                <a:latin typeface="Consolas"/>
              </a:rPr>
              <a:t>-demo"</a:t>
            </a:r>
            <a:r>
              <a:rPr sz="2000" b="0" i="0" dirty="0">
                <a:solidFill>
                  <a:srgbClr val="262626"/>
                </a:solidFill>
                <a:latin typeface="Consolas"/>
              </a:rPr>
              <a:t>)</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0" i="0" dirty="0">
                <a:solidFill>
                  <a:srgbClr val="262626"/>
                </a:solidFill>
                <a:latin typeface="Consolas"/>
              </a:rPr>
              <a:t>account = </a:t>
            </a:r>
            <a:r>
              <a:rPr sz="2000" b="0" i="0" dirty="0" err="1">
                <a:solidFill>
                  <a:srgbClr val="262626"/>
                </a:solidFill>
                <a:latin typeface="Consolas"/>
              </a:rPr>
              <a:t>storage.StorageAccount</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a:t>
            </a:r>
            <a:r>
              <a:rPr sz="2000" b="0" i="0" dirty="0">
                <a:solidFill>
                  <a:srgbClr val="2E7D32"/>
                </a:solidFill>
                <a:latin typeface="Consolas"/>
              </a:rPr>
              <a:t>"</a:t>
            </a:r>
            <a:r>
              <a:rPr sz="2000" b="0" i="0" dirty="0" err="1">
                <a:solidFill>
                  <a:srgbClr val="2E7D32"/>
                </a:solidFill>
                <a:latin typeface="Consolas"/>
              </a:rPr>
              <a:t>stpcdfbopulumi</a:t>
            </a:r>
            <a:r>
              <a:rPr sz="2000" b="0" i="0" dirty="0">
                <a:solidFill>
                  <a:srgbClr val="2E7D32"/>
                </a:solidFill>
                <a:latin typeface="Consolas"/>
              </a:rPr>
              <a:t>"</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a:t>
            </a:r>
            <a:r>
              <a:rPr sz="2000" b="0" i="0" dirty="0" err="1">
                <a:solidFill>
                  <a:srgbClr val="262626"/>
                </a:solidFill>
                <a:latin typeface="Consolas"/>
              </a:rPr>
              <a:t>resource_group_name</a:t>
            </a:r>
            <a:r>
              <a:rPr sz="2000" b="0" i="0" dirty="0">
                <a:solidFill>
                  <a:srgbClr val="262626"/>
                </a:solidFill>
                <a:latin typeface="Consolas"/>
              </a:rPr>
              <a:t>=rg.name,</a:t>
            </a:r>
          </a:p>
          <a:p>
            <a:pPr algn="l">
              <a:spcBef>
                <a:spcPts val="0"/>
              </a:spcBef>
              <a:spcAft>
                <a:spcPts val="250"/>
              </a:spcAft>
            </a:pPr>
            <a:r>
              <a:rPr sz="2000" b="0" i="0" dirty="0">
                <a:solidFill>
                  <a:srgbClr val="262626"/>
                </a:solidFill>
                <a:latin typeface="Consolas"/>
              </a:rPr>
              <a:t>    </a:t>
            </a:r>
            <a:r>
              <a:rPr sz="2000" b="0" i="0" dirty="0" err="1">
                <a:solidFill>
                  <a:srgbClr val="262626"/>
                </a:solidFill>
                <a:latin typeface="Consolas"/>
              </a:rPr>
              <a:t>sku</a:t>
            </a:r>
            <a:r>
              <a:rPr sz="2000" b="0" i="0" dirty="0">
                <a:solidFill>
                  <a:srgbClr val="262626"/>
                </a:solidFill>
                <a:latin typeface="Consolas"/>
              </a:rPr>
              <a:t>=</a:t>
            </a:r>
            <a:r>
              <a:rPr sz="2000" b="0" i="0" dirty="0" err="1">
                <a:solidFill>
                  <a:srgbClr val="262626"/>
                </a:solidFill>
                <a:latin typeface="Consolas"/>
              </a:rPr>
              <a:t>storage.SkuArgs</a:t>
            </a:r>
            <a:r>
              <a:rPr sz="2000" b="0" i="0" dirty="0">
                <a:solidFill>
                  <a:srgbClr val="262626"/>
                </a:solidFill>
                <a:latin typeface="Consolas"/>
              </a:rPr>
              <a:t>(name=</a:t>
            </a:r>
            <a:r>
              <a:rPr sz="2000" b="0" i="0" dirty="0">
                <a:solidFill>
                  <a:srgbClr val="2E7D32"/>
                </a:solidFill>
                <a:latin typeface="Consolas"/>
              </a:rPr>
              <a:t>"</a:t>
            </a:r>
            <a:r>
              <a:rPr sz="2000" b="0" i="0" dirty="0" err="1">
                <a:solidFill>
                  <a:srgbClr val="2E7D32"/>
                </a:solidFill>
                <a:latin typeface="Consolas"/>
              </a:rPr>
              <a:t>Standard_LRS</a:t>
            </a:r>
            <a:r>
              <a:rPr sz="2000" b="0" i="0" dirty="0">
                <a:solidFill>
                  <a:srgbClr val="2E7D32"/>
                </a:solidFill>
                <a:latin typeface="Consolas"/>
              </a:rPr>
              <a:t>"</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kind=</a:t>
            </a:r>
            <a:r>
              <a:rPr sz="2000" b="0" i="0" dirty="0">
                <a:solidFill>
                  <a:srgbClr val="2E7D32"/>
                </a:solidFill>
                <a:latin typeface="Consolas"/>
              </a:rPr>
              <a:t>"StorageV2"</a:t>
            </a:r>
            <a:r>
              <a:rPr sz="2000" b="0" i="0" dirty="0">
                <a:solidFill>
                  <a:srgbClr val="262626"/>
                </a:solidFill>
                <a:latin typeface="Consolas"/>
              </a:rPr>
              <a:t>)</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0" i="0" dirty="0">
                <a:solidFill>
                  <a:srgbClr val="262626"/>
                </a:solidFill>
                <a:latin typeface="Consolas"/>
              </a:rPr>
              <a:t>container = </a:t>
            </a:r>
            <a:r>
              <a:rPr sz="2000" b="0" i="0" dirty="0" err="1">
                <a:solidFill>
                  <a:srgbClr val="262626"/>
                </a:solidFill>
                <a:latin typeface="Consolas"/>
              </a:rPr>
              <a:t>storage.BlobContainer</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a:t>
            </a:r>
            <a:r>
              <a:rPr sz="2000" b="0" i="0" dirty="0">
                <a:solidFill>
                  <a:srgbClr val="2E7D32"/>
                </a:solidFill>
                <a:latin typeface="Consolas"/>
              </a:rPr>
              <a:t>"</a:t>
            </a:r>
            <a:r>
              <a:rPr sz="2000" b="0" i="0" dirty="0" err="1">
                <a:solidFill>
                  <a:srgbClr val="2E7D32"/>
                </a:solidFill>
                <a:latin typeface="Consolas"/>
              </a:rPr>
              <a:t>bos</a:t>
            </a:r>
            <a:r>
              <a:rPr sz="2000" b="0" i="0" dirty="0">
                <a:solidFill>
                  <a:srgbClr val="2E7D32"/>
                </a:solidFill>
                <a:latin typeface="Consolas"/>
              </a:rPr>
              <a:t>-</a:t>
            </a:r>
            <a:r>
              <a:rPr sz="2000" b="0" i="0" dirty="0" err="1">
                <a:solidFill>
                  <a:srgbClr val="2E7D32"/>
                </a:solidFill>
                <a:latin typeface="Consolas"/>
              </a:rPr>
              <a:t>pulumi</a:t>
            </a:r>
            <a:r>
              <a:rPr sz="2000" b="0" i="0" dirty="0">
                <a:solidFill>
                  <a:srgbClr val="2E7D32"/>
                </a:solidFill>
                <a:latin typeface="Consolas"/>
              </a:rPr>
              <a:t>-demo"</a:t>
            </a:r>
            <a:r>
              <a:rPr sz="2000" b="0" i="0" dirty="0">
                <a:solidFill>
                  <a:srgbClr val="262626"/>
                </a:solidFill>
                <a:latin typeface="Consolas"/>
              </a:rPr>
              <a:t>,</a:t>
            </a:r>
          </a:p>
          <a:p>
            <a:pPr algn="l">
              <a:spcBef>
                <a:spcPts val="0"/>
              </a:spcBef>
              <a:spcAft>
                <a:spcPts val="250"/>
              </a:spcAft>
            </a:pPr>
            <a:r>
              <a:rPr sz="2000" b="0" i="0" dirty="0">
                <a:solidFill>
                  <a:srgbClr val="262626"/>
                </a:solidFill>
                <a:latin typeface="Consolas"/>
              </a:rPr>
              <a:t>    </a:t>
            </a:r>
            <a:r>
              <a:rPr sz="2000" b="0" i="0" dirty="0" err="1">
                <a:solidFill>
                  <a:srgbClr val="262626"/>
                </a:solidFill>
                <a:latin typeface="Consolas"/>
              </a:rPr>
              <a:t>account_name</a:t>
            </a:r>
            <a:r>
              <a:rPr sz="2000" b="0" i="0" dirty="0">
                <a:solidFill>
                  <a:srgbClr val="262626"/>
                </a:solidFill>
                <a:latin typeface="Consolas"/>
              </a:rPr>
              <a:t>=account.name,</a:t>
            </a:r>
          </a:p>
          <a:p>
            <a:pPr algn="l">
              <a:spcBef>
                <a:spcPts val="0"/>
              </a:spcBef>
              <a:spcAft>
                <a:spcPts val="250"/>
              </a:spcAft>
            </a:pPr>
            <a:r>
              <a:rPr sz="2000" b="0" i="0" dirty="0">
                <a:solidFill>
                  <a:srgbClr val="262626"/>
                </a:solidFill>
                <a:latin typeface="Consolas"/>
              </a:rPr>
              <a:t>    </a:t>
            </a:r>
            <a:r>
              <a:rPr sz="2000" b="0" i="0" dirty="0" err="1">
                <a:solidFill>
                  <a:srgbClr val="262626"/>
                </a:solidFill>
                <a:latin typeface="Consolas"/>
              </a:rPr>
              <a:t>resource_group_name</a:t>
            </a:r>
            <a:r>
              <a:rPr sz="2000" b="0" i="0" dirty="0">
                <a:solidFill>
                  <a:srgbClr val="262626"/>
                </a:solidFill>
                <a:latin typeface="Consolas"/>
              </a:rPr>
              <a:t>=rg.name)</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0" i="0" dirty="0" err="1">
                <a:solidFill>
                  <a:srgbClr val="262626"/>
                </a:solidFill>
                <a:latin typeface="Consolas"/>
              </a:rPr>
              <a:t>pulumi.export</a:t>
            </a:r>
            <a:r>
              <a:rPr sz="2000" b="0" i="0" dirty="0">
                <a:solidFill>
                  <a:srgbClr val="262626"/>
                </a:solidFill>
                <a:latin typeface="Consolas"/>
              </a:rPr>
              <a:t>(</a:t>
            </a:r>
            <a:r>
              <a:rPr sz="2000" b="0" i="0" dirty="0">
                <a:solidFill>
                  <a:srgbClr val="2E7D32"/>
                </a:solidFill>
                <a:latin typeface="Consolas"/>
              </a:rPr>
              <a:t>"</a:t>
            </a:r>
            <a:r>
              <a:rPr sz="2000" b="0" i="0" dirty="0" err="1">
                <a:solidFill>
                  <a:srgbClr val="2E7D32"/>
                </a:solidFill>
                <a:latin typeface="Consolas"/>
              </a:rPr>
              <a:t>conta_criada</a:t>
            </a:r>
            <a:r>
              <a:rPr sz="2000" b="0" i="0" dirty="0">
                <a:solidFill>
                  <a:srgbClr val="2E7D32"/>
                </a:solidFill>
                <a:latin typeface="Consolas"/>
              </a:rPr>
              <a:t>"</a:t>
            </a:r>
            <a:r>
              <a:rPr sz="2000" b="0" i="0" dirty="0">
                <a:solidFill>
                  <a:srgbClr val="262626"/>
                </a:solidFill>
                <a:latin typeface="Consolas"/>
              </a:rPr>
              <a:t>, account.name)</a:t>
            </a:r>
          </a:p>
        </p:txBody>
      </p:sp>
    </p:spTree>
    <p:extLst>
      <p:ext uri="{BB962C8B-B14F-4D97-AF65-F5344CB8AC3E}">
        <p14:creationId xmlns:p14="http://schemas.microsoft.com/office/powerpoint/2010/main" val="4120674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Exemplo 5 — O Que Muda de Verdade</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.get() é o "data" do Pulumi:  </a:t>
            </a:r>
            <a:r>
              <a:rPr sz="3000">
                <a:solidFill>
                  <a:srgbClr val="262626"/>
                </a:solidFill>
                <a:latin typeface="Calibri"/>
              </a:rPr>
              <a:t>resources.ResourceGroup.get("rg", "rg-pcdf-demo") LÊ um recurso que já existe, sem geri-lo — exatamente o mesmo papel do data "azurerm_resource_group" no Terraform.</a:t>
            </a:r>
          </a:p>
          <a:p>
            <a:pPr algn="l">
              <a:spcBef>
                <a:spcPts val="0"/>
              </a:spcBef>
              <a:spcAft>
                <a:spcPts val="2200"/>
              </a:spcAft>
            </a:pPr>
            <a:r>
              <a:rPr sz="3000" b="1">
                <a:solidFill>
                  <a:srgbClr val="004A8F"/>
                </a:solidFill>
                <a:latin typeface="Calibri"/>
              </a:rPr>
              <a:t>Mesmo cuidado com o rg-pcdf-demo:  </a:t>
            </a:r>
            <a:r>
              <a:rPr sz="3000">
                <a:solidFill>
                  <a:srgbClr val="262626"/>
                </a:solidFill>
                <a:latin typeface="Calibri"/>
              </a:rPr>
              <a:t>assim como no Terraform, um pulumi destroy nunca afeta o Resource Group, porque ele nunca foi "possuído" pelo Pulumi.</a:t>
            </a:r>
          </a:p>
          <a:p>
            <a:pPr algn="l">
              <a:spcBef>
                <a:spcPts val="0"/>
              </a:spcBef>
              <a:spcAft>
                <a:spcPts val="2200"/>
              </a:spcAft>
            </a:pPr>
            <a:r>
              <a:rPr sz="3000" b="1">
                <a:solidFill>
                  <a:srgbClr val="004A8F"/>
                </a:solidFill>
                <a:latin typeface="Calibri"/>
              </a:rPr>
              <a:t>StorageAccount e BlobContainer:  </a:t>
            </a:r>
            <a:r>
              <a:rPr sz="3000">
                <a:solidFill>
                  <a:srgbClr val="262626"/>
                </a:solidFill>
                <a:latin typeface="Calibri"/>
              </a:rPr>
              <a:t>nomes em PascalCase, mas os mesmos conceitos (SKU, kind, nomes) do azurerm_storage_account e azurerm_storage_container.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62</a:t>
            </a:r>
          </a:p>
        </p:txBody>
      </p:sp>
    </p:spTree>
    <p:extLst>
      <p:ext uri="{BB962C8B-B14F-4D97-AF65-F5344CB8AC3E}">
        <p14:creationId xmlns:p14="http://schemas.microsoft.com/office/powerpoint/2010/main" val="24838478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Instalar o Pulumi CLI</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40</a:t>
            </a:r>
          </a:p>
        </p:txBody>
      </p:sp>
      <p:sp>
        <p:nvSpPr>
          <p:cNvPr id="5" name="TextBox 4"/>
          <p:cNvSpPr txBox="1"/>
          <p:nvPr/>
        </p:nvSpPr>
        <p:spPr>
          <a:xfrm>
            <a:off x="1819729" y="3300518"/>
            <a:ext cx="19170650" cy="1908215"/>
          </a:xfrm>
          <a:prstGeom prst="rect">
            <a:avLst/>
          </a:prstGeom>
          <a:noFill/>
        </p:spPr>
        <p:txBody>
          <a:bodyPr wrap="square" anchor="t">
            <a:spAutoFit/>
          </a:bodyPr>
          <a:lstStyle/>
          <a:p>
            <a:pPr algn="l">
              <a:spcBef>
                <a:spcPts val="0"/>
              </a:spcBef>
              <a:spcAft>
                <a:spcPts val="600"/>
              </a:spcAft>
            </a:pPr>
            <a:r>
              <a:rPr sz="3600" dirty="0">
                <a:solidFill>
                  <a:srgbClr val="262626"/>
                </a:solidFill>
                <a:latin typeface="Calibri"/>
              </a:rPr>
              <a:t>Windows (</a:t>
            </a:r>
            <a:r>
              <a:rPr sz="3600" dirty="0" err="1">
                <a:solidFill>
                  <a:srgbClr val="262626"/>
                </a:solidFill>
                <a:latin typeface="Calibri"/>
              </a:rPr>
              <a:t>winget</a:t>
            </a:r>
            <a:r>
              <a:rPr sz="3600" dirty="0">
                <a:solidFill>
                  <a:srgbClr val="262626"/>
                </a:solidFill>
                <a:latin typeface="Calibri"/>
              </a:rPr>
              <a:t>) e Mac (Homebrew) — </a:t>
            </a:r>
            <a:endParaRPr lang="en-US" sz="3600" dirty="0">
              <a:solidFill>
                <a:srgbClr val="262626"/>
              </a:solidFill>
              <a:latin typeface="Calibri"/>
            </a:endParaRPr>
          </a:p>
          <a:p>
            <a:pPr algn="l">
              <a:spcBef>
                <a:spcPts val="0"/>
              </a:spcBef>
              <a:spcAft>
                <a:spcPts val="600"/>
              </a:spcAft>
            </a:pPr>
            <a:r>
              <a:rPr sz="3600" dirty="0">
                <a:solidFill>
                  <a:srgbClr val="262626"/>
                </a:solidFill>
                <a:latin typeface="Calibri"/>
              </a:rPr>
              <a:t>link: </a:t>
            </a:r>
            <a:r>
              <a:rPr lang="en-US" sz="3600" dirty="0">
                <a:solidFill>
                  <a:srgbClr val="262626"/>
                </a:solidFill>
                <a:latin typeface="Calibri"/>
              </a:rPr>
              <a:t>  </a:t>
            </a:r>
            <a:r>
              <a:rPr lang="pt-BR" sz="3600" dirty="0">
                <a:solidFill>
                  <a:srgbClr val="262626"/>
                </a:solidFill>
                <a:latin typeface="Calibri"/>
                <a:hlinkClick r:id="rId2"/>
              </a:rPr>
              <a:t>www.p</a:t>
            </a:r>
            <a:r>
              <a:rPr sz="3600" dirty="0">
                <a:solidFill>
                  <a:srgbClr val="262626"/>
                </a:solidFill>
                <a:latin typeface="Calibri"/>
                <a:hlinkClick r:id="rId2"/>
              </a:rPr>
              <a:t>ulumi.com/docs/install</a:t>
            </a:r>
            <a:endParaRPr lang="en-US" sz="3600" dirty="0">
              <a:solidFill>
                <a:srgbClr val="262626"/>
              </a:solidFill>
              <a:latin typeface="Calibri"/>
            </a:endParaRPr>
          </a:p>
          <a:p>
            <a:pPr algn="l">
              <a:spcBef>
                <a:spcPts val="0"/>
              </a:spcBef>
              <a:spcAft>
                <a:spcPts val="600"/>
              </a:spcAft>
            </a:pPr>
            <a:endParaRPr sz="3600" dirty="0">
              <a:solidFill>
                <a:srgbClr val="262626"/>
              </a:solidFill>
              <a:latin typeface="Calibri"/>
            </a:endParaRPr>
          </a:p>
        </p:txBody>
      </p:sp>
      <p:sp>
        <p:nvSpPr>
          <p:cNvPr id="6" name="Rounded Rectangle 5"/>
          <p:cNvSpPr/>
          <p:nvPr/>
        </p:nvSpPr>
        <p:spPr>
          <a:xfrm>
            <a:off x="1689100" y="4707071"/>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3200" dirty="0">
                <a:solidFill>
                  <a:srgbClr val="FFFF00"/>
                </a:solidFill>
                <a:latin typeface="Consolas"/>
              </a:rPr>
              <a:t># Windows -- </a:t>
            </a:r>
            <a:r>
              <a:rPr sz="3200" dirty="0" err="1">
                <a:solidFill>
                  <a:srgbClr val="FFFF00"/>
                </a:solidFill>
                <a:latin typeface="Consolas"/>
              </a:rPr>
              <a:t>winget</a:t>
            </a:r>
            <a:r>
              <a:rPr sz="3200" dirty="0">
                <a:solidFill>
                  <a:srgbClr val="FFFF00"/>
                </a:solidFill>
                <a:latin typeface="Consolas"/>
              </a:rPr>
              <a:t> </a:t>
            </a:r>
            <a:r>
              <a:rPr sz="3200" dirty="0" err="1">
                <a:solidFill>
                  <a:srgbClr val="FFFF00"/>
                </a:solidFill>
                <a:latin typeface="Consolas"/>
              </a:rPr>
              <a:t>já</a:t>
            </a:r>
            <a:r>
              <a:rPr sz="3200" dirty="0">
                <a:solidFill>
                  <a:srgbClr val="FFFF00"/>
                </a:solidFill>
                <a:latin typeface="Consolas"/>
              </a:rPr>
              <a:t> </a:t>
            </a:r>
            <a:r>
              <a:rPr sz="3200" dirty="0" err="1">
                <a:solidFill>
                  <a:srgbClr val="FFFF00"/>
                </a:solidFill>
                <a:latin typeface="Consolas"/>
              </a:rPr>
              <a:t>vem</a:t>
            </a:r>
            <a:r>
              <a:rPr sz="3200" dirty="0">
                <a:solidFill>
                  <a:srgbClr val="FFFF00"/>
                </a:solidFill>
                <a:latin typeface="Consolas"/>
              </a:rPr>
              <a:t> </a:t>
            </a:r>
            <a:r>
              <a:rPr sz="3200" dirty="0" err="1">
                <a:solidFill>
                  <a:srgbClr val="FFFF00"/>
                </a:solidFill>
                <a:latin typeface="Consolas"/>
              </a:rPr>
              <a:t>instalado</a:t>
            </a:r>
            <a:r>
              <a:rPr sz="3200" dirty="0">
                <a:solidFill>
                  <a:srgbClr val="FFFF00"/>
                </a:solidFill>
                <a:latin typeface="Consolas"/>
              </a:rPr>
              <a:t> no Windows 10/11, </a:t>
            </a:r>
            <a:r>
              <a:rPr sz="3200" dirty="0" err="1">
                <a:solidFill>
                  <a:srgbClr val="FFFF00"/>
                </a:solidFill>
                <a:latin typeface="Consolas"/>
              </a:rPr>
              <a:t>direto</a:t>
            </a:r>
            <a:r>
              <a:rPr sz="3200" dirty="0">
                <a:solidFill>
                  <a:srgbClr val="FFFF00"/>
                </a:solidFill>
                <a:latin typeface="Consolas"/>
              </a:rPr>
              <a:t>, </a:t>
            </a:r>
            <a:r>
              <a:rPr sz="3200" dirty="0" err="1">
                <a:solidFill>
                  <a:srgbClr val="FFFF00"/>
                </a:solidFill>
                <a:latin typeface="Consolas"/>
              </a:rPr>
              <a:t>sem</a:t>
            </a:r>
            <a:r>
              <a:rPr sz="3200" dirty="0">
                <a:solidFill>
                  <a:srgbClr val="FFFF00"/>
                </a:solidFill>
                <a:latin typeface="Consolas"/>
              </a:rPr>
              <a:t> </a:t>
            </a:r>
            <a:r>
              <a:rPr sz="3200" dirty="0" err="1">
                <a:solidFill>
                  <a:srgbClr val="FFFF00"/>
                </a:solidFill>
                <a:latin typeface="Consolas"/>
              </a:rPr>
              <a:t>baixar</a:t>
            </a:r>
            <a:r>
              <a:rPr sz="3200" dirty="0">
                <a:solidFill>
                  <a:srgbClr val="FFFF00"/>
                </a:solidFill>
                <a:latin typeface="Consolas"/>
              </a:rPr>
              <a:t> zip:</a:t>
            </a:r>
          </a:p>
          <a:p>
            <a:pPr algn="l"/>
            <a:r>
              <a:rPr sz="3200" dirty="0" err="1">
                <a:solidFill>
                  <a:srgbClr val="E8E8E8"/>
                </a:solidFill>
                <a:latin typeface="Consolas"/>
              </a:rPr>
              <a:t>winget</a:t>
            </a:r>
            <a:r>
              <a:rPr sz="3200" dirty="0">
                <a:solidFill>
                  <a:srgbClr val="E8E8E8"/>
                </a:solidFill>
                <a:latin typeface="Consolas"/>
              </a:rPr>
              <a:t> install -e --id </a:t>
            </a:r>
            <a:r>
              <a:rPr sz="3200" dirty="0" err="1">
                <a:solidFill>
                  <a:srgbClr val="E8E8E8"/>
                </a:solidFill>
                <a:latin typeface="Consolas"/>
              </a:rPr>
              <a:t>Pulumi.Pulumi</a:t>
            </a:r>
            <a:endParaRPr sz="3200" dirty="0">
              <a:solidFill>
                <a:srgbClr val="E8E8E8"/>
              </a:solidFill>
              <a:latin typeface="Consolas"/>
            </a:endParaRPr>
          </a:p>
          <a:p>
            <a:pPr algn="l"/>
            <a:r>
              <a:rPr sz="3200" dirty="0">
                <a:solidFill>
                  <a:srgbClr val="E8E8E8"/>
                </a:solidFill>
                <a:latin typeface="Consolas"/>
              </a:rPr>
              <a:t> </a:t>
            </a:r>
          </a:p>
          <a:p>
            <a:pPr algn="l"/>
            <a:r>
              <a:rPr sz="3200" dirty="0">
                <a:solidFill>
                  <a:srgbClr val="FFFF00"/>
                </a:solidFill>
                <a:latin typeface="Consolas"/>
              </a:rPr>
              <a:t># Mac (Homebrew):</a:t>
            </a:r>
          </a:p>
          <a:p>
            <a:pPr algn="l"/>
            <a:r>
              <a:rPr sz="3200" dirty="0">
                <a:solidFill>
                  <a:srgbClr val="E8E8E8"/>
                </a:solidFill>
                <a:latin typeface="Consolas"/>
              </a:rPr>
              <a:t>brew install </a:t>
            </a:r>
            <a:r>
              <a:rPr sz="3200" dirty="0" err="1">
                <a:solidFill>
                  <a:srgbClr val="E8E8E8"/>
                </a:solidFill>
                <a:latin typeface="Consolas"/>
              </a:rPr>
              <a:t>pulumi</a:t>
            </a:r>
            <a:endParaRPr sz="3200" dirty="0">
              <a:solidFill>
                <a:srgbClr val="E8E8E8"/>
              </a:solidFill>
              <a:latin typeface="Consolas"/>
            </a:endParaRPr>
          </a:p>
          <a:p>
            <a:pPr algn="l"/>
            <a:r>
              <a:rPr sz="3200" dirty="0">
                <a:solidFill>
                  <a:srgbClr val="E8E8E8"/>
                </a:solidFill>
                <a:latin typeface="Consolas"/>
              </a:rPr>
              <a:t> </a:t>
            </a:r>
          </a:p>
          <a:p>
            <a:pPr algn="l"/>
            <a:r>
              <a:rPr sz="3200" dirty="0">
                <a:solidFill>
                  <a:srgbClr val="FFFF00"/>
                </a:solidFill>
                <a:latin typeface="Consolas"/>
              </a:rPr>
              <a:t># Mac/Linux, </a:t>
            </a:r>
            <a:r>
              <a:rPr sz="3200" dirty="0" err="1">
                <a:solidFill>
                  <a:srgbClr val="FFFF00"/>
                </a:solidFill>
                <a:latin typeface="Consolas"/>
              </a:rPr>
              <a:t>alternativa</a:t>
            </a:r>
            <a:r>
              <a:rPr sz="3200" dirty="0">
                <a:solidFill>
                  <a:srgbClr val="FFFF00"/>
                </a:solidFill>
                <a:latin typeface="Consolas"/>
              </a:rPr>
              <a:t> via script </a:t>
            </a:r>
            <a:r>
              <a:rPr sz="3200" dirty="0" err="1">
                <a:solidFill>
                  <a:srgbClr val="FFFF00"/>
                </a:solidFill>
                <a:latin typeface="Consolas"/>
              </a:rPr>
              <a:t>oficial</a:t>
            </a:r>
            <a:r>
              <a:rPr sz="3200" dirty="0">
                <a:solidFill>
                  <a:srgbClr val="FFFF00"/>
                </a:solidFill>
                <a:latin typeface="Consolas"/>
              </a:rPr>
              <a:t>:</a:t>
            </a:r>
          </a:p>
          <a:p>
            <a:pPr algn="l"/>
            <a:r>
              <a:rPr sz="3200" dirty="0">
                <a:solidFill>
                  <a:srgbClr val="E8E8E8"/>
                </a:solidFill>
                <a:latin typeface="Consolas"/>
              </a:rPr>
              <a:t>curl -</a:t>
            </a:r>
            <a:r>
              <a:rPr sz="3200" dirty="0" err="1">
                <a:solidFill>
                  <a:srgbClr val="E8E8E8"/>
                </a:solidFill>
                <a:latin typeface="Consolas"/>
              </a:rPr>
              <a:t>fsSL</a:t>
            </a:r>
            <a:r>
              <a:rPr sz="3200" dirty="0">
                <a:solidFill>
                  <a:srgbClr val="E8E8E8"/>
                </a:solidFill>
                <a:latin typeface="Consolas"/>
              </a:rPr>
              <a:t> https://get.pulumi.com | </a:t>
            </a:r>
            <a:r>
              <a:rPr sz="3200" dirty="0" err="1">
                <a:solidFill>
                  <a:srgbClr val="E8E8E8"/>
                </a:solidFill>
                <a:latin typeface="Consolas"/>
              </a:rPr>
              <a:t>sh</a:t>
            </a:r>
            <a:endParaRPr sz="3200" dirty="0">
              <a:solidFill>
                <a:srgbClr val="E8E8E8"/>
              </a:solidFill>
              <a:latin typeface="Consolas"/>
            </a:endParaRPr>
          </a:p>
          <a:p>
            <a:pPr algn="l"/>
            <a:r>
              <a:rPr sz="3200" dirty="0">
                <a:solidFill>
                  <a:srgbClr val="E8E8E8"/>
                </a:solidFill>
                <a:latin typeface="Consolas"/>
              </a:rPr>
              <a:t> </a:t>
            </a:r>
          </a:p>
          <a:p>
            <a:pPr algn="l"/>
            <a:r>
              <a:rPr sz="3200" dirty="0">
                <a:solidFill>
                  <a:srgbClr val="FFFF00"/>
                </a:solidFill>
                <a:latin typeface="Consolas"/>
              </a:rPr>
              <a:t># </a:t>
            </a:r>
            <a:r>
              <a:rPr sz="3200" dirty="0" err="1">
                <a:solidFill>
                  <a:srgbClr val="FFFF00"/>
                </a:solidFill>
                <a:latin typeface="Consolas"/>
              </a:rPr>
              <a:t>resultado</a:t>
            </a:r>
            <a:r>
              <a:rPr sz="3200" dirty="0">
                <a:solidFill>
                  <a:srgbClr val="FFFF00"/>
                </a:solidFill>
                <a:latin typeface="Consolas"/>
              </a:rPr>
              <a:t> </a:t>
            </a:r>
            <a:r>
              <a:rPr sz="3200" dirty="0" err="1">
                <a:solidFill>
                  <a:srgbClr val="FFFF00"/>
                </a:solidFill>
                <a:latin typeface="Consolas"/>
              </a:rPr>
              <a:t>esperado</a:t>
            </a:r>
            <a:r>
              <a:rPr sz="3200" dirty="0">
                <a:solidFill>
                  <a:srgbClr val="FFFF00"/>
                </a:solidFill>
                <a:latin typeface="Consolas"/>
              </a:rPr>
              <a:t>:</a:t>
            </a:r>
          </a:p>
          <a:p>
            <a:pPr algn="l"/>
            <a:r>
              <a:rPr sz="3200" dirty="0" err="1">
                <a:solidFill>
                  <a:srgbClr val="E8E8E8"/>
                </a:solidFill>
                <a:latin typeface="Consolas"/>
              </a:rPr>
              <a:t>pulumi</a:t>
            </a:r>
            <a:r>
              <a:rPr sz="3200" dirty="0">
                <a:solidFill>
                  <a:srgbClr val="E8E8E8"/>
                </a:solidFill>
                <a:latin typeface="Consolas"/>
              </a:rPr>
              <a:t> version</a:t>
            </a:r>
          </a:p>
        </p:txBody>
      </p:sp>
      <p:pic>
        <p:nvPicPr>
          <p:cNvPr id="7" name="Imagem 6">
            <a:extLst>
              <a:ext uri="{FF2B5EF4-FFF2-40B4-BE49-F238E27FC236}">
                <a16:creationId xmlns:a16="http://schemas.microsoft.com/office/drawing/2014/main" id="{3194CD4B-1E60-156F-AC52-610D86CC5ACD}"/>
              </a:ext>
            </a:extLst>
          </p:cNvPr>
          <p:cNvPicPr>
            <a:picLocks noChangeAspect="1"/>
          </p:cNvPicPr>
          <p:nvPr/>
        </p:nvPicPr>
        <p:blipFill>
          <a:blip r:embed="rId3"/>
          <a:srcRect l="3526"/>
          <a:stretch>
            <a:fillRect/>
          </a:stretch>
        </p:blipFill>
        <p:spPr>
          <a:xfrm>
            <a:off x="5700713" y="10415482"/>
            <a:ext cx="14213537" cy="126209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5400" b="1" dirty="0" err="1">
                <a:solidFill>
                  <a:srgbClr val="0070C0"/>
                </a:solidFill>
                <a:latin typeface="Calibri"/>
              </a:rPr>
              <a:t>Escolher</a:t>
            </a:r>
            <a:r>
              <a:rPr sz="5400" b="1" dirty="0">
                <a:solidFill>
                  <a:srgbClr val="0070C0"/>
                </a:solidFill>
                <a:latin typeface="Calibri"/>
              </a:rPr>
              <a:t> o Backend de State</a:t>
            </a:r>
          </a:p>
        </p:txBody>
      </p:sp>
      <p:sp>
        <p:nvSpPr>
          <p:cNvPr id="4" name="TextBox 3"/>
          <p:cNvSpPr txBox="1"/>
          <p:nvPr/>
        </p:nvSpPr>
        <p:spPr>
          <a:xfrm>
            <a:off x="1891276" y="12520000"/>
            <a:ext cx="495650" cy="461665"/>
          </a:xfrm>
          <a:prstGeom prst="rect">
            <a:avLst/>
          </a:prstGeom>
          <a:noFill/>
        </p:spPr>
        <p:txBody>
          <a:bodyPr wrap="none">
            <a:spAutoFit/>
          </a:bodyPr>
          <a:lstStyle/>
          <a:p>
            <a:r>
              <a:rPr sz="2400">
                <a:solidFill>
                  <a:srgbClr val="595959"/>
                </a:solidFill>
                <a:latin typeface="Calibri"/>
              </a:rPr>
              <a:t>41</a:t>
            </a:r>
          </a:p>
        </p:txBody>
      </p:sp>
      <p:sp>
        <p:nvSpPr>
          <p:cNvPr id="5" name="TextBox 4"/>
          <p:cNvSpPr txBox="1"/>
          <p:nvPr/>
        </p:nvSpPr>
        <p:spPr>
          <a:xfrm>
            <a:off x="1689100" y="3829961"/>
            <a:ext cx="19170650" cy="1323439"/>
          </a:xfrm>
          <a:prstGeom prst="rect">
            <a:avLst/>
          </a:prstGeom>
          <a:noFill/>
        </p:spPr>
        <p:txBody>
          <a:bodyPr wrap="square" anchor="t">
            <a:spAutoFit/>
          </a:bodyPr>
          <a:lstStyle/>
          <a:p>
            <a:pPr algn="l">
              <a:spcBef>
                <a:spcPts val="0"/>
              </a:spcBef>
              <a:spcAft>
                <a:spcPts val="600"/>
              </a:spcAft>
            </a:pPr>
            <a:r>
              <a:rPr sz="4000" dirty="0" err="1">
                <a:solidFill>
                  <a:srgbClr val="262626"/>
                </a:solidFill>
                <a:latin typeface="Calibri"/>
              </a:rPr>
              <a:t>Hoje</a:t>
            </a:r>
            <a:r>
              <a:rPr sz="4000" dirty="0">
                <a:solidFill>
                  <a:srgbClr val="262626"/>
                </a:solidFill>
                <a:latin typeface="Calibri"/>
              </a:rPr>
              <a:t> </a:t>
            </a:r>
            <a:r>
              <a:rPr sz="4000" dirty="0" err="1">
                <a:solidFill>
                  <a:srgbClr val="262626"/>
                </a:solidFill>
                <a:latin typeface="Calibri"/>
              </a:rPr>
              <a:t>usamos</a:t>
            </a:r>
            <a:r>
              <a:rPr sz="4000" dirty="0">
                <a:solidFill>
                  <a:srgbClr val="262626"/>
                </a:solidFill>
                <a:latin typeface="Calibri"/>
              </a:rPr>
              <a:t> o backend local, </a:t>
            </a:r>
            <a:r>
              <a:rPr sz="4000" dirty="0" err="1">
                <a:solidFill>
                  <a:srgbClr val="262626"/>
                </a:solidFill>
                <a:latin typeface="Calibri"/>
              </a:rPr>
              <a:t>por</a:t>
            </a:r>
            <a:r>
              <a:rPr sz="4000" dirty="0">
                <a:solidFill>
                  <a:srgbClr val="262626"/>
                </a:solidFill>
                <a:latin typeface="Calibri"/>
              </a:rPr>
              <a:t> </a:t>
            </a:r>
            <a:r>
              <a:rPr sz="4000" dirty="0" err="1">
                <a:solidFill>
                  <a:srgbClr val="262626"/>
                </a:solidFill>
                <a:latin typeface="Calibri"/>
              </a:rPr>
              <a:t>simplicidade</a:t>
            </a:r>
            <a:r>
              <a:rPr sz="4000" dirty="0">
                <a:solidFill>
                  <a:srgbClr val="262626"/>
                </a:solidFill>
                <a:latin typeface="Calibri"/>
              </a:rPr>
              <a:t> — </a:t>
            </a:r>
            <a:r>
              <a:rPr sz="4000" dirty="0" err="1">
                <a:solidFill>
                  <a:srgbClr val="262626"/>
                </a:solidFill>
                <a:latin typeface="Calibri"/>
              </a:rPr>
              <a:t>sem</a:t>
            </a:r>
            <a:r>
              <a:rPr sz="4000" dirty="0">
                <a:solidFill>
                  <a:srgbClr val="262626"/>
                </a:solidFill>
                <a:latin typeface="Calibri"/>
              </a:rPr>
              <a:t> </a:t>
            </a:r>
            <a:r>
              <a:rPr sz="4000" dirty="0" err="1">
                <a:solidFill>
                  <a:srgbClr val="262626"/>
                </a:solidFill>
                <a:latin typeface="Calibri"/>
              </a:rPr>
              <a:t>depender</a:t>
            </a:r>
            <a:r>
              <a:rPr sz="4000" dirty="0">
                <a:solidFill>
                  <a:srgbClr val="262626"/>
                </a:solidFill>
                <a:latin typeface="Calibri"/>
              </a:rPr>
              <a:t> de </a:t>
            </a:r>
            <a:r>
              <a:rPr sz="4000" dirty="0" err="1">
                <a:solidFill>
                  <a:srgbClr val="262626"/>
                </a:solidFill>
                <a:latin typeface="Calibri"/>
              </a:rPr>
              <a:t>conta</a:t>
            </a:r>
            <a:r>
              <a:rPr sz="4000" dirty="0">
                <a:solidFill>
                  <a:srgbClr val="262626"/>
                </a:solidFill>
                <a:latin typeface="Calibri"/>
              </a:rPr>
              <a:t> </a:t>
            </a:r>
            <a:r>
              <a:rPr sz="4000" dirty="0" err="1">
                <a:solidFill>
                  <a:srgbClr val="262626"/>
                </a:solidFill>
                <a:latin typeface="Calibri"/>
              </a:rPr>
              <a:t>na</a:t>
            </a:r>
            <a:r>
              <a:rPr sz="4000" dirty="0">
                <a:solidFill>
                  <a:srgbClr val="262626"/>
                </a:solidFill>
                <a:latin typeface="Calibri"/>
              </a:rPr>
              <a:t> </a:t>
            </a:r>
            <a:r>
              <a:rPr sz="4000" dirty="0" err="1">
                <a:solidFill>
                  <a:srgbClr val="262626"/>
                </a:solidFill>
                <a:latin typeface="Calibri"/>
              </a:rPr>
              <a:t>nuvem</a:t>
            </a:r>
            <a:r>
              <a:rPr sz="4000" dirty="0">
                <a:solidFill>
                  <a:srgbClr val="262626"/>
                </a:solidFill>
                <a:latin typeface="Calibri"/>
              </a:rPr>
              <a:t> </a:t>
            </a:r>
            <a:r>
              <a:rPr sz="4000" dirty="0" err="1">
                <a:solidFill>
                  <a:srgbClr val="262626"/>
                </a:solidFill>
                <a:latin typeface="Calibri"/>
              </a:rPr>
              <a:t>Pulumi</a:t>
            </a:r>
            <a:endParaRPr sz="4000" dirty="0">
              <a:solidFill>
                <a:srgbClr val="262626"/>
              </a:solidFill>
              <a:latin typeface="Calibri"/>
            </a:endParaRPr>
          </a:p>
        </p:txBody>
      </p:sp>
      <p:sp>
        <p:nvSpPr>
          <p:cNvPr id="6" name="Rounded Rectangle 5"/>
          <p:cNvSpPr/>
          <p:nvPr/>
        </p:nvSpPr>
        <p:spPr>
          <a:xfrm>
            <a:off x="1400175" y="5700015"/>
            <a:ext cx="1974850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3600" dirty="0" err="1">
                <a:solidFill>
                  <a:srgbClr val="E8E8E8"/>
                </a:solidFill>
                <a:latin typeface="Consolas"/>
              </a:rPr>
              <a:t>pulumi</a:t>
            </a:r>
            <a:r>
              <a:rPr sz="3600" dirty="0">
                <a:solidFill>
                  <a:srgbClr val="E8E8E8"/>
                </a:solidFill>
                <a:latin typeface="Consolas"/>
              </a:rPr>
              <a:t> login --local</a:t>
            </a:r>
          </a:p>
          <a:p>
            <a:pPr algn="l"/>
            <a:r>
              <a:rPr sz="3600" dirty="0">
                <a:solidFill>
                  <a:srgbClr val="E8E8E8"/>
                </a:solidFill>
                <a:latin typeface="Consolas"/>
              </a:rPr>
              <a:t> </a:t>
            </a:r>
          </a:p>
          <a:p>
            <a:pPr algn="l"/>
            <a:r>
              <a:rPr sz="3600" dirty="0">
                <a:solidFill>
                  <a:srgbClr val="FFFF00"/>
                </a:solidFill>
                <a:latin typeface="Consolas"/>
              </a:rPr>
              <a:t># </a:t>
            </a:r>
            <a:r>
              <a:rPr sz="3600" dirty="0" err="1">
                <a:solidFill>
                  <a:srgbClr val="FFFF00"/>
                </a:solidFill>
                <a:latin typeface="Consolas"/>
              </a:rPr>
              <a:t>resultado</a:t>
            </a:r>
            <a:r>
              <a:rPr sz="3600" dirty="0">
                <a:solidFill>
                  <a:srgbClr val="FFFF00"/>
                </a:solidFill>
                <a:latin typeface="Consolas"/>
              </a:rPr>
              <a:t> </a:t>
            </a:r>
            <a:r>
              <a:rPr sz="3600" dirty="0" err="1">
                <a:solidFill>
                  <a:srgbClr val="FFFF00"/>
                </a:solidFill>
                <a:latin typeface="Consolas"/>
              </a:rPr>
              <a:t>esperado</a:t>
            </a:r>
            <a:r>
              <a:rPr sz="3600" dirty="0">
                <a:solidFill>
                  <a:srgbClr val="FFFF00"/>
                </a:solidFill>
                <a:latin typeface="Consolas"/>
              </a:rPr>
              <a:t>:</a:t>
            </a:r>
          </a:p>
          <a:p>
            <a:pPr algn="l"/>
            <a:r>
              <a:rPr sz="3600" dirty="0">
                <a:solidFill>
                  <a:srgbClr val="FFFF00"/>
                </a:solidFill>
                <a:latin typeface="Consolas"/>
              </a:rPr>
              <a:t># "Logged in to &lt;</a:t>
            </a:r>
            <a:r>
              <a:rPr sz="3600" dirty="0" err="1">
                <a:solidFill>
                  <a:srgbClr val="FFFF00"/>
                </a:solidFill>
                <a:latin typeface="Consolas"/>
              </a:rPr>
              <a:t>máquina</a:t>
            </a:r>
            <a:r>
              <a:rPr sz="3600" dirty="0">
                <a:solidFill>
                  <a:srgbClr val="FFFF00"/>
                </a:solidFill>
                <a:latin typeface="Consolas"/>
              </a:rPr>
              <a:t>&gt; as &lt;</a:t>
            </a:r>
            <a:r>
              <a:rPr sz="3600" dirty="0" err="1">
                <a:solidFill>
                  <a:srgbClr val="FFFF00"/>
                </a:solidFill>
                <a:latin typeface="Consolas"/>
              </a:rPr>
              <a:t>usuário</a:t>
            </a:r>
            <a:r>
              <a:rPr sz="3600" dirty="0">
                <a:solidFill>
                  <a:srgbClr val="FFFF00"/>
                </a:solidFill>
                <a:latin typeface="Consolas"/>
              </a:rPr>
              <a:t>&gt; (local)"</a:t>
            </a:r>
          </a:p>
          <a:p>
            <a:pPr algn="l"/>
            <a:r>
              <a:rPr sz="3600" dirty="0">
                <a:solidFill>
                  <a:srgbClr val="E8E8E8"/>
                </a:solidFill>
                <a:latin typeface="Consolas"/>
              </a:rPr>
              <a:t> </a:t>
            </a:r>
          </a:p>
          <a:p>
            <a:pPr algn="l"/>
            <a:r>
              <a:rPr sz="3600" dirty="0">
                <a:solidFill>
                  <a:srgbClr val="E8E8E8"/>
                </a:solidFill>
                <a:latin typeface="Consolas"/>
              </a:rPr>
              <a:t># o state </a:t>
            </a:r>
            <a:r>
              <a:rPr sz="3600" dirty="0" err="1">
                <a:solidFill>
                  <a:srgbClr val="E8E8E8"/>
                </a:solidFill>
                <a:latin typeface="Consolas"/>
              </a:rPr>
              <a:t>passa</a:t>
            </a:r>
            <a:r>
              <a:rPr sz="3600" dirty="0">
                <a:solidFill>
                  <a:srgbClr val="E8E8E8"/>
                </a:solidFill>
                <a:latin typeface="Consolas"/>
              </a:rPr>
              <a:t> a ser </a:t>
            </a:r>
            <a:r>
              <a:rPr sz="3600" dirty="0" err="1">
                <a:solidFill>
                  <a:srgbClr val="E8E8E8"/>
                </a:solidFill>
                <a:latin typeface="Consolas"/>
              </a:rPr>
              <a:t>gravado</a:t>
            </a:r>
            <a:r>
              <a:rPr sz="3600" dirty="0">
                <a:solidFill>
                  <a:srgbClr val="E8E8E8"/>
                </a:solidFill>
                <a:latin typeface="Consolas"/>
              </a:rPr>
              <a:t> </a:t>
            </a:r>
            <a:r>
              <a:rPr sz="3600" dirty="0" err="1">
                <a:solidFill>
                  <a:srgbClr val="E8E8E8"/>
                </a:solidFill>
                <a:latin typeface="Consolas"/>
              </a:rPr>
              <a:t>em</a:t>
            </a:r>
            <a:r>
              <a:rPr sz="3600" dirty="0">
                <a:solidFill>
                  <a:srgbClr val="E8E8E8"/>
                </a:solidFill>
                <a:latin typeface="Consolas"/>
              </a:rPr>
              <a:t> ~/.</a:t>
            </a:r>
            <a:r>
              <a:rPr sz="3600" dirty="0" err="1">
                <a:solidFill>
                  <a:srgbClr val="E8E8E8"/>
                </a:solidFill>
                <a:latin typeface="Consolas"/>
              </a:rPr>
              <a:t>pulumi</a:t>
            </a:r>
            <a:r>
              <a:rPr sz="3600" dirty="0">
                <a:solidFill>
                  <a:srgbClr val="E8E8E8"/>
                </a:solidFill>
                <a:latin typeface="Consolas"/>
              </a:rPr>
              <a:t> (</a:t>
            </a:r>
            <a:r>
              <a:rPr sz="3600" dirty="0" err="1">
                <a:solidFill>
                  <a:srgbClr val="E8E8E8"/>
                </a:solidFill>
                <a:latin typeface="Consolas"/>
              </a:rPr>
              <a:t>equivalente</a:t>
            </a:r>
            <a:r>
              <a:rPr sz="3600" dirty="0">
                <a:solidFill>
                  <a:srgbClr val="E8E8E8"/>
                </a:solidFill>
                <a:latin typeface="Consolas"/>
              </a:rPr>
              <a:t> </a:t>
            </a:r>
            <a:r>
              <a:rPr sz="3600" dirty="0" err="1">
                <a:solidFill>
                  <a:srgbClr val="E8E8E8"/>
                </a:solidFill>
                <a:latin typeface="Consolas"/>
              </a:rPr>
              <a:t>ao</a:t>
            </a:r>
            <a:r>
              <a:rPr lang="en-US" sz="3600" dirty="0">
                <a:solidFill>
                  <a:srgbClr val="E8E8E8"/>
                </a:solidFill>
                <a:latin typeface="Consolas"/>
              </a:rPr>
              <a:t> </a:t>
            </a:r>
            <a:r>
              <a:rPr lang="en-US" sz="3600" dirty="0" err="1">
                <a:solidFill>
                  <a:srgbClr val="E8E8E8"/>
                </a:solidFill>
                <a:latin typeface="Consolas"/>
              </a:rPr>
              <a:t>t</a:t>
            </a:r>
            <a:r>
              <a:rPr sz="3600" dirty="0" err="1">
                <a:solidFill>
                  <a:srgbClr val="E8E8E8"/>
                </a:solidFill>
                <a:latin typeface="Consolas"/>
              </a:rPr>
              <a:t>erraform.tfstate</a:t>
            </a:r>
            <a:r>
              <a:rPr sz="3600" dirty="0">
                <a:solidFill>
                  <a:srgbClr val="E8E8E8"/>
                </a:solidFill>
                <a:latin typeface="Consolas"/>
              </a:rPr>
              <a:t> local)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6600" b="1">
                <a:solidFill>
                  <a:srgbClr val="0070C0"/>
                </a:solidFill>
                <a:latin typeface="Calibri"/>
              </a:rPr>
              <a:t>Criar o Projeto Dentro da Pasta pulumi/</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42</a:t>
            </a:r>
          </a:p>
        </p:txBody>
      </p:sp>
      <p:sp>
        <p:nvSpPr>
          <p:cNvPr id="5" name="TextBox 4"/>
          <p:cNvSpPr txBox="1"/>
          <p:nvPr/>
        </p:nvSpPr>
        <p:spPr>
          <a:xfrm>
            <a:off x="1689100" y="4406900"/>
            <a:ext cx="19170650" cy="1446550"/>
          </a:xfrm>
          <a:prstGeom prst="rect">
            <a:avLst/>
          </a:prstGeom>
          <a:noFill/>
        </p:spPr>
        <p:txBody>
          <a:bodyPr wrap="square" anchor="t">
            <a:spAutoFit/>
          </a:bodyPr>
          <a:lstStyle/>
          <a:p>
            <a:pPr algn="l">
              <a:spcBef>
                <a:spcPts val="0"/>
              </a:spcBef>
              <a:spcAft>
                <a:spcPts val="600"/>
              </a:spcAft>
            </a:pPr>
            <a:r>
              <a:rPr sz="4400" dirty="0" err="1">
                <a:solidFill>
                  <a:srgbClr val="262626"/>
                </a:solidFill>
                <a:latin typeface="Calibri"/>
              </a:rPr>
              <a:t>Assistente</a:t>
            </a:r>
            <a:r>
              <a:rPr sz="4400" dirty="0">
                <a:solidFill>
                  <a:srgbClr val="262626"/>
                </a:solidFill>
                <a:latin typeface="Calibri"/>
              </a:rPr>
              <a:t> </a:t>
            </a:r>
            <a:r>
              <a:rPr sz="4400" dirty="0" err="1">
                <a:solidFill>
                  <a:srgbClr val="262626"/>
                </a:solidFill>
                <a:latin typeface="Calibri"/>
              </a:rPr>
              <a:t>interativo</a:t>
            </a:r>
            <a:r>
              <a:rPr sz="4400" dirty="0">
                <a:solidFill>
                  <a:srgbClr val="262626"/>
                </a:solidFill>
                <a:latin typeface="Calibri"/>
              </a:rPr>
              <a:t>: </a:t>
            </a:r>
            <a:r>
              <a:rPr sz="4400" dirty="0" err="1">
                <a:solidFill>
                  <a:srgbClr val="262626"/>
                </a:solidFill>
                <a:latin typeface="Calibri"/>
              </a:rPr>
              <a:t>nome</a:t>
            </a:r>
            <a:r>
              <a:rPr sz="4400" dirty="0">
                <a:solidFill>
                  <a:srgbClr val="262626"/>
                </a:solidFill>
                <a:latin typeface="Calibri"/>
              </a:rPr>
              <a:t> do </a:t>
            </a:r>
            <a:r>
              <a:rPr sz="4400" dirty="0" err="1">
                <a:solidFill>
                  <a:srgbClr val="262626"/>
                </a:solidFill>
                <a:latin typeface="Calibri"/>
              </a:rPr>
              <a:t>projeto</a:t>
            </a:r>
            <a:r>
              <a:rPr sz="4400" dirty="0">
                <a:solidFill>
                  <a:srgbClr val="262626"/>
                </a:solidFill>
                <a:latin typeface="Calibri"/>
              </a:rPr>
              <a:t>, </a:t>
            </a:r>
            <a:r>
              <a:rPr sz="4400" dirty="0" err="1">
                <a:solidFill>
                  <a:srgbClr val="262626"/>
                </a:solidFill>
                <a:latin typeface="Calibri"/>
              </a:rPr>
              <a:t>nome</a:t>
            </a:r>
            <a:r>
              <a:rPr sz="4400" dirty="0">
                <a:solidFill>
                  <a:srgbClr val="262626"/>
                </a:solidFill>
                <a:latin typeface="Calibri"/>
              </a:rPr>
              <a:t> da stack (use "dev"), </a:t>
            </a:r>
            <a:r>
              <a:rPr sz="4400" dirty="0" err="1">
                <a:solidFill>
                  <a:srgbClr val="262626"/>
                </a:solidFill>
                <a:latin typeface="Calibri"/>
              </a:rPr>
              <a:t>região</a:t>
            </a:r>
            <a:r>
              <a:rPr sz="4400" dirty="0">
                <a:solidFill>
                  <a:srgbClr val="262626"/>
                </a:solidFill>
                <a:latin typeface="Calibri"/>
              </a:rPr>
              <a:t> do Azure</a:t>
            </a: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4400" dirty="0">
                <a:solidFill>
                  <a:srgbClr val="E8E8E8"/>
                </a:solidFill>
                <a:latin typeface="Consolas"/>
              </a:rPr>
              <a:t>cd </a:t>
            </a:r>
            <a:r>
              <a:rPr sz="4400" dirty="0" err="1">
                <a:solidFill>
                  <a:srgbClr val="E8E8E8"/>
                </a:solidFill>
                <a:latin typeface="Consolas"/>
              </a:rPr>
              <a:t>pulumi</a:t>
            </a:r>
            <a:endParaRPr sz="4400" dirty="0">
              <a:solidFill>
                <a:srgbClr val="E8E8E8"/>
              </a:solidFill>
              <a:latin typeface="Consolas"/>
            </a:endParaRPr>
          </a:p>
          <a:p>
            <a:pPr algn="l"/>
            <a:r>
              <a:rPr sz="4400" dirty="0" err="1">
                <a:solidFill>
                  <a:srgbClr val="E8E8E8"/>
                </a:solidFill>
                <a:latin typeface="Consolas"/>
              </a:rPr>
              <a:t>pulumi</a:t>
            </a:r>
            <a:r>
              <a:rPr sz="4400" dirty="0">
                <a:solidFill>
                  <a:srgbClr val="E8E8E8"/>
                </a:solidFill>
                <a:latin typeface="Consolas"/>
              </a:rPr>
              <a:t> new azure-python</a:t>
            </a:r>
          </a:p>
          <a:p>
            <a:pPr algn="l"/>
            <a:r>
              <a:rPr sz="4400" dirty="0">
                <a:solidFill>
                  <a:srgbClr val="E8E8E8"/>
                </a:solidFill>
                <a:latin typeface="Consolas"/>
              </a:rPr>
              <a:t> </a:t>
            </a:r>
          </a:p>
          <a:p>
            <a:pPr algn="l"/>
            <a:r>
              <a:rPr sz="4400" dirty="0">
                <a:solidFill>
                  <a:srgbClr val="FFFF00"/>
                </a:solidFill>
                <a:latin typeface="Consolas"/>
              </a:rPr>
              <a:t># </a:t>
            </a:r>
            <a:r>
              <a:rPr sz="4400" dirty="0" err="1">
                <a:solidFill>
                  <a:srgbClr val="FFFF00"/>
                </a:solidFill>
                <a:latin typeface="Consolas"/>
              </a:rPr>
              <a:t>perguntas</a:t>
            </a:r>
            <a:r>
              <a:rPr sz="4400" dirty="0">
                <a:solidFill>
                  <a:srgbClr val="FFFF00"/>
                </a:solidFill>
                <a:latin typeface="Consolas"/>
              </a:rPr>
              <a:t> do </a:t>
            </a:r>
            <a:r>
              <a:rPr sz="4400" dirty="0" err="1">
                <a:solidFill>
                  <a:srgbClr val="FFFF00"/>
                </a:solidFill>
                <a:latin typeface="Consolas"/>
              </a:rPr>
              <a:t>assistente</a:t>
            </a:r>
            <a:r>
              <a:rPr sz="4400" dirty="0">
                <a:solidFill>
                  <a:srgbClr val="FFFF00"/>
                </a:solidFill>
                <a:latin typeface="Consolas"/>
              </a:rPr>
              <a:t>:</a:t>
            </a:r>
          </a:p>
          <a:p>
            <a:pPr algn="l"/>
            <a:r>
              <a:rPr sz="4400" dirty="0">
                <a:solidFill>
                  <a:srgbClr val="FFFF00"/>
                </a:solidFill>
                <a:latin typeface="Consolas"/>
              </a:rPr>
              <a:t># project name: </a:t>
            </a:r>
            <a:r>
              <a:rPr sz="4400" dirty="0">
                <a:solidFill>
                  <a:schemeClr val="bg1"/>
                </a:solidFill>
                <a:latin typeface="Consolas"/>
              </a:rPr>
              <a:t>(Enter </a:t>
            </a:r>
            <a:r>
              <a:rPr sz="4400" dirty="0" err="1">
                <a:solidFill>
                  <a:schemeClr val="bg1"/>
                </a:solidFill>
                <a:latin typeface="Consolas"/>
              </a:rPr>
              <a:t>aceita</a:t>
            </a:r>
            <a:r>
              <a:rPr sz="4400" dirty="0">
                <a:solidFill>
                  <a:schemeClr val="bg1"/>
                </a:solidFill>
                <a:latin typeface="Consolas"/>
              </a:rPr>
              <a:t> o </a:t>
            </a:r>
            <a:r>
              <a:rPr sz="4400" dirty="0" err="1">
                <a:solidFill>
                  <a:schemeClr val="bg1"/>
                </a:solidFill>
                <a:latin typeface="Consolas"/>
              </a:rPr>
              <a:t>padrão</a:t>
            </a:r>
            <a:r>
              <a:rPr sz="4400" dirty="0">
                <a:solidFill>
                  <a:schemeClr val="bg1"/>
                </a:solidFill>
                <a:latin typeface="Consolas"/>
              </a:rPr>
              <a:t>)</a:t>
            </a:r>
          </a:p>
          <a:p>
            <a:pPr algn="l"/>
            <a:r>
              <a:rPr sz="4400" dirty="0">
                <a:solidFill>
                  <a:srgbClr val="FFFF00"/>
                </a:solidFill>
                <a:latin typeface="Consolas"/>
              </a:rPr>
              <a:t># stack name: </a:t>
            </a:r>
            <a:r>
              <a:rPr sz="4400" dirty="0">
                <a:solidFill>
                  <a:schemeClr val="bg1"/>
                </a:solidFill>
                <a:latin typeface="Consolas"/>
              </a:rPr>
              <a:t>dev</a:t>
            </a:r>
          </a:p>
          <a:p>
            <a:pPr algn="l"/>
            <a:r>
              <a:rPr sz="4400" dirty="0">
                <a:solidFill>
                  <a:srgbClr val="FFFF00"/>
                </a:solidFill>
                <a:latin typeface="Consolas"/>
              </a:rPr>
              <a:t># </a:t>
            </a:r>
            <a:r>
              <a:rPr sz="4400" dirty="0" err="1">
                <a:solidFill>
                  <a:srgbClr val="FFFF00"/>
                </a:solidFill>
                <a:latin typeface="Consolas"/>
              </a:rPr>
              <a:t>azure-native:location</a:t>
            </a:r>
            <a:r>
              <a:rPr sz="4400" dirty="0">
                <a:solidFill>
                  <a:srgbClr val="FFFF00"/>
                </a:solidFill>
                <a:latin typeface="Consolas"/>
              </a:rPr>
              <a:t>: </a:t>
            </a:r>
            <a:r>
              <a:rPr sz="4400" dirty="0" err="1">
                <a:solidFill>
                  <a:schemeClr val="bg1"/>
                </a:solidFill>
                <a:latin typeface="Consolas"/>
              </a:rPr>
              <a:t>brazilsouth</a:t>
            </a:r>
            <a:endParaRPr sz="4400" dirty="0">
              <a:solidFill>
                <a:schemeClr val="bg1"/>
              </a:solidFill>
              <a:latin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6000" b="1">
                <a:solidFill>
                  <a:srgbClr val="0070C0"/>
                </a:solidFill>
                <a:latin typeface="Calibri"/>
              </a:rPr>
              <a:t>Ambiente Virtual Python</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43</a:t>
            </a:r>
          </a:p>
        </p:txBody>
      </p:sp>
      <p:sp>
        <p:nvSpPr>
          <p:cNvPr id="5" name="TextBox 4"/>
          <p:cNvSpPr txBox="1"/>
          <p:nvPr/>
        </p:nvSpPr>
        <p:spPr>
          <a:xfrm>
            <a:off x="1689100" y="4406900"/>
            <a:ext cx="19170650" cy="707886"/>
          </a:xfrm>
          <a:prstGeom prst="rect">
            <a:avLst/>
          </a:prstGeom>
          <a:noFill/>
        </p:spPr>
        <p:txBody>
          <a:bodyPr wrap="square" anchor="t">
            <a:spAutoFit/>
          </a:bodyPr>
          <a:lstStyle/>
          <a:p>
            <a:pPr algn="l">
              <a:spcBef>
                <a:spcPts val="0"/>
              </a:spcBef>
              <a:spcAft>
                <a:spcPts val="600"/>
              </a:spcAft>
            </a:pPr>
            <a:r>
              <a:rPr sz="4000">
                <a:solidFill>
                  <a:srgbClr val="262626"/>
                </a:solidFill>
                <a:latin typeface="Calibri"/>
              </a:rPr>
              <a:t>O scaffold já cria um requirements.txt — falta só instalar</a:t>
            </a: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4000" dirty="0">
                <a:solidFill>
                  <a:srgbClr val="E8E8E8"/>
                </a:solidFill>
                <a:latin typeface="Consolas"/>
              </a:rPr>
              <a:t>python -m </a:t>
            </a:r>
            <a:r>
              <a:rPr sz="4000" dirty="0" err="1">
                <a:solidFill>
                  <a:srgbClr val="E8E8E8"/>
                </a:solidFill>
                <a:latin typeface="Consolas"/>
              </a:rPr>
              <a:t>venv</a:t>
            </a:r>
            <a:r>
              <a:rPr sz="4000" dirty="0">
                <a:solidFill>
                  <a:srgbClr val="E8E8E8"/>
                </a:solidFill>
                <a:latin typeface="Consolas"/>
              </a:rPr>
              <a:t> </a:t>
            </a:r>
            <a:r>
              <a:rPr sz="4000" dirty="0" err="1">
                <a:solidFill>
                  <a:srgbClr val="E8E8E8"/>
                </a:solidFill>
                <a:latin typeface="Consolas"/>
              </a:rPr>
              <a:t>venv</a:t>
            </a:r>
            <a:endParaRPr sz="4000" dirty="0">
              <a:solidFill>
                <a:srgbClr val="E8E8E8"/>
              </a:solidFill>
              <a:latin typeface="Consolas"/>
            </a:endParaRPr>
          </a:p>
          <a:p>
            <a:pPr algn="l"/>
            <a:r>
              <a:rPr sz="4000" dirty="0">
                <a:solidFill>
                  <a:srgbClr val="E8E8E8"/>
                </a:solidFill>
                <a:latin typeface="Consolas"/>
              </a:rPr>
              <a:t> </a:t>
            </a:r>
          </a:p>
          <a:p>
            <a:pPr algn="l"/>
            <a:r>
              <a:rPr sz="4000" dirty="0">
                <a:solidFill>
                  <a:srgbClr val="FFFF00"/>
                </a:solidFill>
                <a:latin typeface="Consolas"/>
              </a:rPr>
              <a:t># Windows:</a:t>
            </a:r>
          </a:p>
          <a:p>
            <a:pPr algn="l"/>
            <a:r>
              <a:rPr sz="4000" dirty="0" err="1">
                <a:solidFill>
                  <a:srgbClr val="E8E8E8"/>
                </a:solidFill>
                <a:latin typeface="Consolas"/>
              </a:rPr>
              <a:t>venv</a:t>
            </a:r>
            <a:r>
              <a:rPr sz="4000" dirty="0">
                <a:solidFill>
                  <a:srgbClr val="E8E8E8"/>
                </a:solidFill>
                <a:latin typeface="Consolas"/>
              </a:rPr>
              <a:t>\Scripts\activate</a:t>
            </a:r>
          </a:p>
          <a:p>
            <a:pPr algn="l"/>
            <a:r>
              <a:rPr sz="4000" dirty="0">
                <a:solidFill>
                  <a:srgbClr val="E8E8E8"/>
                </a:solidFill>
                <a:latin typeface="Consolas"/>
              </a:rPr>
              <a:t> </a:t>
            </a:r>
          </a:p>
          <a:p>
            <a:pPr algn="l"/>
            <a:r>
              <a:rPr sz="4000" dirty="0">
                <a:solidFill>
                  <a:srgbClr val="FFFF00"/>
                </a:solidFill>
                <a:latin typeface="Consolas"/>
              </a:rPr>
              <a:t># Mac/Linux:</a:t>
            </a:r>
          </a:p>
          <a:p>
            <a:pPr algn="l"/>
            <a:r>
              <a:rPr sz="4000" dirty="0">
                <a:solidFill>
                  <a:srgbClr val="E8E8E8"/>
                </a:solidFill>
                <a:latin typeface="Consolas"/>
              </a:rPr>
              <a:t>source </a:t>
            </a:r>
            <a:r>
              <a:rPr sz="4000" dirty="0" err="1">
                <a:solidFill>
                  <a:srgbClr val="E8E8E8"/>
                </a:solidFill>
                <a:latin typeface="Consolas"/>
              </a:rPr>
              <a:t>venv</a:t>
            </a:r>
            <a:r>
              <a:rPr sz="4000" dirty="0">
                <a:solidFill>
                  <a:srgbClr val="E8E8E8"/>
                </a:solidFill>
                <a:latin typeface="Consolas"/>
              </a:rPr>
              <a:t>/bin/activate</a:t>
            </a:r>
          </a:p>
          <a:p>
            <a:pPr algn="l"/>
            <a:r>
              <a:rPr sz="4000" dirty="0">
                <a:solidFill>
                  <a:srgbClr val="E8E8E8"/>
                </a:solidFill>
                <a:latin typeface="Consolas"/>
              </a:rPr>
              <a:t> </a:t>
            </a:r>
          </a:p>
          <a:p>
            <a:pPr algn="l"/>
            <a:r>
              <a:rPr sz="4000" dirty="0">
                <a:solidFill>
                  <a:srgbClr val="E8E8E8"/>
                </a:solidFill>
                <a:latin typeface="Consolas"/>
              </a:rPr>
              <a:t>pip install -r requirements.txt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5400" b="1">
                <a:solidFill>
                  <a:srgbClr val="0070C0"/>
                </a:solidFill>
                <a:latin typeface="Calibri"/>
              </a:rPr>
              <a:t>O Que o Scaffold Gerou</a:t>
            </a:r>
          </a:p>
        </p:txBody>
      </p:sp>
      <p:sp>
        <p:nvSpPr>
          <p:cNvPr id="3" name="Content Placeholder 2"/>
          <p:cNvSpPr>
            <a:spLocks noGrp="1"/>
          </p:cNvSpPr>
          <p:nvPr>
            <p:ph idx="1"/>
          </p:nvPr>
        </p:nvSpPr>
        <p:spPr/>
        <p:txBody>
          <a:bodyPr wrap="square" anchor="t">
            <a:normAutofit/>
          </a:bodyPr>
          <a:lstStyle/>
          <a:p>
            <a:pPr algn="l">
              <a:spcBef>
                <a:spcPts val="0"/>
              </a:spcBef>
              <a:spcAft>
                <a:spcPts val="1800"/>
              </a:spcAft>
            </a:pPr>
            <a:r>
              <a:rPr sz="4000" b="1">
                <a:solidFill>
                  <a:srgbClr val="004A8F"/>
                </a:solidFill>
                <a:latin typeface="Calibri"/>
              </a:rPr>
              <a:t>__main__.py:  </a:t>
            </a:r>
            <a:r>
              <a:rPr sz="4000">
                <a:solidFill>
                  <a:srgbClr val="262626"/>
                </a:solidFill>
                <a:latin typeface="Calibri"/>
              </a:rPr>
              <a:t>o programa Python — equivalente ao main.tf.</a:t>
            </a:r>
          </a:p>
          <a:p>
            <a:pPr algn="l">
              <a:spcBef>
                <a:spcPts val="0"/>
              </a:spcBef>
              <a:spcAft>
                <a:spcPts val="1800"/>
              </a:spcAft>
            </a:pPr>
            <a:r>
              <a:rPr sz="4000" b="1">
                <a:solidFill>
                  <a:srgbClr val="004A8F"/>
                </a:solidFill>
                <a:latin typeface="Calibri"/>
              </a:rPr>
              <a:t>Pulumi.yaml:  </a:t>
            </a:r>
            <a:r>
              <a:rPr sz="4000">
                <a:solidFill>
                  <a:srgbClr val="262626"/>
                </a:solidFill>
                <a:latin typeface="Calibri"/>
              </a:rPr>
              <a:t>metadados do projeto — equivalente, em espírito, ao terraform {} required_providers.</a:t>
            </a:r>
          </a:p>
          <a:p>
            <a:pPr algn="l">
              <a:spcBef>
                <a:spcPts val="0"/>
              </a:spcBef>
              <a:spcAft>
                <a:spcPts val="1800"/>
              </a:spcAft>
            </a:pPr>
            <a:r>
              <a:rPr sz="4000" b="1">
                <a:solidFill>
                  <a:srgbClr val="004A8F"/>
                </a:solidFill>
                <a:latin typeface="Calibri"/>
              </a:rPr>
              <a:t>Pulumi.dev.yaml:  </a:t>
            </a:r>
            <a:r>
              <a:rPr sz="4000">
                <a:solidFill>
                  <a:srgbClr val="262626"/>
                </a:solidFill>
                <a:latin typeface="Calibri"/>
              </a:rPr>
              <a:t>configuração específica da stack "dev" — equivalente a um .tfvars, mas por ambiente.</a:t>
            </a:r>
          </a:p>
          <a:p>
            <a:pPr algn="l">
              <a:spcBef>
                <a:spcPts val="0"/>
              </a:spcBef>
              <a:spcAft>
                <a:spcPts val="1800"/>
              </a:spcAft>
            </a:pPr>
            <a:r>
              <a:rPr sz="4000" b="1">
                <a:solidFill>
                  <a:srgbClr val="004A8F"/>
                </a:solidFill>
                <a:latin typeface="Calibri"/>
              </a:rPr>
              <a:t>requirements.txt:  </a:t>
            </a:r>
            <a:r>
              <a:rPr sz="4000">
                <a:solidFill>
                  <a:srgbClr val="262626"/>
                </a:solidFill>
                <a:latin typeface="Calibri"/>
              </a:rPr>
              <a:t>dependências Python do projeto (inclui pulumi e pulumi_azure_native).</a:t>
            </a:r>
          </a:p>
          <a:p>
            <a:pPr algn="l">
              <a:spcBef>
                <a:spcPts val="0"/>
              </a:spcBef>
              <a:spcAft>
                <a:spcPts val="1800"/>
              </a:spcAft>
            </a:pPr>
            <a:r>
              <a:rPr sz="4000" b="1">
                <a:solidFill>
                  <a:srgbClr val="004A8F"/>
                </a:solidFill>
                <a:latin typeface="Calibri"/>
              </a:rPr>
              <a:t>Sem arquivo de lock visível:  </a:t>
            </a:r>
            <a:r>
              <a:rPr sz="4000">
                <a:solidFill>
                  <a:srgbClr val="262626"/>
                </a:solidFill>
                <a:latin typeface="Calibri"/>
              </a:rPr>
              <a:t>o pip/venv já resolve isso — não existe um equivalente direto ao .terraform.lock.hcl.</a:t>
            </a:r>
          </a:p>
        </p:txBody>
      </p:sp>
      <p:sp>
        <p:nvSpPr>
          <p:cNvPr id="4" name="TextBox 3"/>
          <p:cNvSpPr txBox="1"/>
          <p:nvPr/>
        </p:nvSpPr>
        <p:spPr>
          <a:xfrm>
            <a:off x="1891276" y="12520000"/>
            <a:ext cx="495650" cy="461665"/>
          </a:xfrm>
          <a:prstGeom prst="rect">
            <a:avLst/>
          </a:prstGeom>
          <a:noFill/>
        </p:spPr>
        <p:txBody>
          <a:bodyPr wrap="none">
            <a:spAutoFit/>
          </a:bodyPr>
          <a:lstStyle/>
          <a:p>
            <a:r>
              <a:rPr sz="2400">
                <a:solidFill>
                  <a:srgbClr val="595959"/>
                </a:solidFill>
                <a:latin typeface="Calibri"/>
              </a:rPr>
              <a:t>44</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1127125"/>
            <a:ext cx="19170650" cy="2286000"/>
          </a:xfrm>
        </p:spPr>
        <p:txBody>
          <a:bodyPr/>
          <a:lstStyle/>
          <a:p>
            <a:pPr algn="l"/>
            <a:r>
              <a:rPr sz="3400" b="1" dirty="0" err="1">
                <a:solidFill>
                  <a:srgbClr val="0070C0"/>
                </a:solidFill>
                <a:latin typeface="Calibri"/>
              </a:rPr>
              <a:t>Exemplo</a:t>
            </a:r>
            <a:r>
              <a:rPr sz="3400" b="1" dirty="0">
                <a:solidFill>
                  <a:srgbClr val="0070C0"/>
                </a:solidFill>
                <a:latin typeface="Calibri"/>
              </a:rPr>
              <a:t> 5 — </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63</a:t>
            </a:r>
          </a:p>
        </p:txBody>
      </p:sp>
      <p:sp>
        <p:nvSpPr>
          <p:cNvPr id="5" name="TextBox 4"/>
          <p:cNvSpPr txBox="1"/>
          <p:nvPr/>
        </p:nvSpPr>
        <p:spPr>
          <a:xfrm>
            <a:off x="3975100" y="2113125"/>
            <a:ext cx="19170650" cy="430887"/>
          </a:xfrm>
          <a:prstGeom prst="rect">
            <a:avLst/>
          </a:prstGeom>
          <a:noFill/>
        </p:spPr>
        <p:txBody>
          <a:bodyPr wrap="square" anchor="t">
            <a:spAutoFit/>
          </a:bodyPr>
          <a:lstStyle/>
          <a:p>
            <a:pPr algn="l">
              <a:spcBef>
                <a:spcPts val="0"/>
              </a:spcBef>
              <a:spcAft>
                <a:spcPts val="600"/>
              </a:spcAft>
            </a:pPr>
            <a:r>
              <a:rPr sz="2200" dirty="0">
                <a:solidFill>
                  <a:srgbClr val="262626"/>
                </a:solidFill>
                <a:latin typeface="Calibri"/>
              </a:rPr>
              <a:t>Rode </a:t>
            </a:r>
            <a:r>
              <a:rPr sz="2200" dirty="0" err="1">
                <a:solidFill>
                  <a:srgbClr val="262626"/>
                </a:solidFill>
                <a:latin typeface="Calibri"/>
              </a:rPr>
              <a:t>pulumi</a:t>
            </a:r>
            <a:r>
              <a:rPr sz="2200" dirty="0">
                <a:solidFill>
                  <a:srgbClr val="262626"/>
                </a:solidFill>
                <a:latin typeface="Calibri"/>
              </a:rPr>
              <a:t> up </a:t>
            </a:r>
            <a:r>
              <a:rPr sz="2200" dirty="0" err="1">
                <a:solidFill>
                  <a:srgbClr val="262626"/>
                </a:solidFill>
                <a:latin typeface="Calibri"/>
              </a:rPr>
              <a:t>na</a:t>
            </a:r>
            <a:r>
              <a:rPr sz="2200" dirty="0">
                <a:solidFill>
                  <a:srgbClr val="262626"/>
                </a:solidFill>
                <a:latin typeface="Calibri"/>
              </a:rPr>
              <a:t> pasta </a:t>
            </a:r>
            <a:r>
              <a:rPr sz="2200" dirty="0" err="1">
                <a:solidFill>
                  <a:srgbClr val="262626"/>
                </a:solidFill>
                <a:latin typeface="Calibri"/>
              </a:rPr>
              <a:t>pulumi</a:t>
            </a:r>
            <a:r>
              <a:rPr sz="2200" dirty="0">
                <a:solidFill>
                  <a:srgbClr val="262626"/>
                </a:solidFill>
                <a:latin typeface="Calibri"/>
              </a:rPr>
              <a:t>/ do</a:t>
            </a:r>
            <a:r>
              <a:rPr lang="en-US" sz="2200" dirty="0">
                <a:solidFill>
                  <a:srgbClr val="262626"/>
                </a:solidFill>
                <a:latin typeface="Calibri"/>
              </a:rPr>
              <a:t>s </a:t>
            </a:r>
            <a:r>
              <a:rPr lang="en-US" sz="2200" dirty="0" err="1">
                <a:solidFill>
                  <a:srgbClr val="262626"/>
                </a:solidFill>
                <a:latin typeface="Calibri"/>
              </a:rPr>
              <a:t>exemplos</a:t>
            </a:r>
            <a:endParaRPr sz="2200" dirty="0">
              <a:solidFill>
                <a:srgbClr val="262626"/>
              </a:solidFill>
              <a:latin typeface="Calibri"/>
            </a:endParaRPr>
          </a:p>
        </p:txBody>
      </p:sp>
      <p:pic>
        <p:nvPicPr>
          <p:cNvPr id="7" name="Imagem 6">
            <a:extLst>
              <a:ext uri="{FF2B5EF4-FFF2-40B4-BE49-F238E27FC236}">
                <a16:creationId xmlns:a16="http://schemas.microsoft.com/office/drawing/2014/main" id="{F44CC355-B08F-2A6B-FEEC-72677BF4E057}"/>
              </a:ext>
            </a:extLst>
          </p:cNvPr>
          <p:cNvPicPr>
            <a:picLocks noChangeAspect="1"/>
          </p:cNvPicPr>
          <p:nvPr/>
        </p:nvPicPr>
        <p:blipFill>
          <a:blip r:embed="rId2"/>
          <a:stretch>
            <a:fillRect/>
          </a:stretch>
        </p:blipFill>
        <p:spPr>
          <a:xfrm>
            <a:off x="1531938" y="2804548"/>
            <a:ext cx="14058850" cy="2960469"/>
          </a:xfrm>
          <a:prstGeom prst="rect">
            <a:avLst/>
          </a:prstGeom>
          <a:ln>
            <a:noFill/>
          </a:ln>
          <a:effectLst>
            <a:outerShdw blurRad="190500" algn="tl" rotWithShape="0">
              <a:srgbClr val="000000">
                <a:alpha val="70000"/>
              </a:srgbClr>
            </a:outerShdw>
          </a:effectLst>
        </p:spPr>
      </p:pic>
      <p:pic>
        <p:nvPicPr>
          <p:cNvPr id="9" name="Imagem 8">
            <a:extLst>
              <a:ext uri="{FF2B5EF4-FFF2-40B4-BE49-F238E27FC236}">
                <a16:creationId xmlns:a16="http://schemas.microsoft.com/office/drawing/2014/main" id="{624558F7-3537-840A-E18D-D2B782F1833E}"/>
              </a:ext>
            </a:extLst>
          </p:cNvPr>
          <p:cNvPicPr>
            <a:picLocks noChangeAspect="1"/>
          </p:cNvPicPr>
          <p:nvPr/>
        </p:nvPicPr>
        <p:blipFill>
          <a:blip r:embed="rId3"/>
          <a:stretch>
            <a:fillRect/>
          </a:stretch>
        </p:blipFill>
        <p:spPr>
          <a:xfrm>
            <a:off x="1217613" y="6025553"/>
            <a:ext cx="15072148" cy="886596"/>
          </a:xfrm>
          <a:prstGeom prst="rect">
            <a:avLst/>
          </a:prstGeom>
        </p:spPr>
      </p:pic>
      <p:sp>
        <p:nvSpPr>
          <p:cNvPr id="10" name="CaixaDeTexto 9">
            <a:extLst>
              <a:ext uri="{FF2B5EF4-FFF2-40B4-BE49-F238E27FC236}">
                <a16:creationId xmlns:a16="http://schemas.microsoft.com/office/drawing/2014/main" id="{45520006-645C-20C8-EC08-399593AA8CC8}"/>
              </a:ext>
            </a:extLst>
          </p:cNvPr>
          <p:cNvSpPr txBox="1"/>
          <p:nvPr/>
        </p:nvSpPr>
        <p:spPr>
          <a:xfrm>
            <a:off x="14588109" y="8544762"/>
            <a:ext cx="2005357"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000" b="1" i="0" u="none" strike="noStrike" cap="none" spc="0" normalizeH="0" baseline="0" dirty="0">
                <a:ln>
                  <a:noFill/>
                </a:ln>
                <a:solidFill>
                  <a:srgbClr val="000000"/>
                </a:solidFill>
                <a:effectLst/>
                <a:uFillTx/>
                <a:latin typeface="Helvetica Neue"/>
                <a:ea typeface="Helvetica Neue"/>
                <a:cs typeface="Helvetica Neue"/>
                <a:sym typeface="Helvetica Neue"/>
              </a:rPr>
              <a:t>pulumi123</a:t>
            </a:r>
            <a:endParaRPr kumimoji="0" lang="pt-BR" sz="30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pic>
        <p:nvPicPr>
          <p:cNvPr id="12" name="Imagem 11">
            <a:extLst>
              <a:ext uri="{FF2B5EF4-FFF2-40B4-BE49-F238E27FC236}">
                <a16:creationId xmlns:a16="http://schemas.microsoft.com/office/drawing/2014/main" id="{59F82263-6E09-D6FD-F2B8-8BC0A645C0FA}"/>
              </a:ext>
            </a:extLst>
          </p:cNvPr>
          <p:cNvPicPr>
            <a:picLocks noChangeAspect="1"/>
          </p:cNvPicPr>
          <p:nvPr/>
        </p:nvPicPr>
        <p:blipFill>
          <a:blip r:embed="rId4"/>
          <a:stretch>
            <a:fillRect/>
          </a:stretch>
        </p:blipFill>
        <p:spPr>
          <a:xfrm>
            <a:off x="1689100" y="7172685"/>
            <a:ext cx="11450754" cy="4585928"/>
          </a:xfrm>
          <a:prstGeom prst="rect">
            <a:avLst/>
          </a:prstGeom>
        </p:spPr>
      </p:pic>
      <p:cxnSp>
        <p:nvCxnSpPr>
          <p:cNvPr id="14" name="Conector de Seta Reta 13">
            <a:extLst>
              <a:ext uri="{FF2B5EF4-FFF2-40B4-BE49-F238E27FC236}">
                <a16:creationId xmlns:a16="http://schemas.microsoft.com/office/drawing/2014/main" id="{F4F8CD99-35C8-BB95-9A82-A3BBDB0DA838}"/>
              </a:ext>
            </a:extLst>
          </p:cNvPr>
          <p:cNvCxnSpPr/>
          <p:nvPr/>
        </p:nvCxnSpPr>
        <p:spPr>
          <a:xfrm flipH="1">
            <a:off x="8101013" y="8729663"/>
            <a:ext cx="6272212" cy="162877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803428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A930A-8A6B-BD08-1BDF-52248628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E08F2-B5B6-D3CB-7FAA-B6C86CBC5EC4}"/>
              </a:ext>
            </a:extLst>
          </p:cNvPr>
          <p:cNvSpPr>
            <a:spLocks noGrp="1"/>
          </p:cNvSpPr>
          <p:nvPr>
            <p:ph type="title"/>
          </p:nvPr>
        </p:nvSpPr>
        <p:spPr>
          <a:xfrm>
            <a:off x="1689100" y="1127125"/>
            <a:ext cx="19170650" cy="2286000"/>
          </a:xfrm>
        </p:spPr>
        <p:txBody>
          <a:bodyPr/>
          <a:lstStyle/>
          <a:p>
            <a:pPr algn="l"/>
            <a:r>
              <a:rPr sz="3400" b="1" dirty="0" err="1">
                <a:solidFill>
                  <a:srgbClr val="0070C0"/>
                </a:solidFill>
                <a:latin typeface="Calibri"/>
              </a:rPr>
              <a:t>Exemplo</a:t>
            </a:r>
            <a:r>
              <a:rPr sz="3400" b="1" dirty="0">
                <a:solidFill>
                  <a:srgbClr val="0070C0"/>
                </a:solidFill>
                <a:latin typeface="Calibri"/>
              </a:rPr>
              <a:t> 5 — </a:t>
            </a:r>
          </a:p>
        </p:txBody>
      </p:sp>
      <p:sp>
        <p:nvSpPr>
          <p:cNvPr id="4" name="TextBox 3">
            <a:extLst>
              <a:ext uri="{FF2B5EF4-FFF2-40B4-BE49-F238E27FC236}">
                <a16:creationId xmlns:a16="http://schemas.microsoft.com/office/drawing/2014/main" id="{4DB29DA3-9942-4EE8-EE40-CD81E2A792BE}"/>
              </a:ext>
            </a:extLst>
          </p:cNvPr>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63</a:t>
            </a:r>
          </a:p>
        </p:txBody>
      </p:sp>
      <p:sp>
        <p:nvSpPr>
          <p:cNvPr id="5" name="TextBox 4">
            <a:extLst>
              <a:ext uri="{FF2B5EF4-FFF2-40B4-BE49-F238E27FC236}">
                <a16:creationId xmlns:a16="http://schemas.microsoft.com/office/drawing/2014/main" id="{77609FC5-2799-EAF2-5E65-C0379DB6742C}"/>
              </a:ext>
            </a:extLst>
          </p:cNvPr>
          <p:cNvSpPr txBox="1"/>
          <p:nvPr/>
        </p:nvSpPr>
        <p:spPr>
          <a:xfrm>
            <a:off x="3975100" y="2113125"/>
            <a:ext cx="19170650" cy="430887"/>
          </a:xfrm>
          <a:prstGeom prst="rect">
            <a:avLst/>
          </a:prstGeom>
          <a:noFill/>
        </p:spPr>
        <p:txBody>
          <a:bodyPr wrap="square" anchor="t">
            <a:spAutoFit/>
          </a:bodyPr>
          <a:lstStyle/>
          <a:p>
            <a:pPr algn="l">
              <a:spcBef>
                <a:spcPts val="0"/>
              </a:spcBef>
              <a:spcAft>
                <a:spcPts val="600"/>
              </a:spcAft>
            </a:pPr>
            <a:r>
              <a:rPr sz="2200" dirty="0">
                <a:solidFill>
                  <a:srgbClr val="262626"/>
                </a:solidFill>
                <a:latin typeface="Calibri"/>
              </a:rPr>
              <a:t>Rode </a:t>
            </a:r>
            <a:r>
              <a:rPr sz="2200" dirty="0" err="1">
                <a:solidFill>
                  <a:srgbClr val="262626"/>
                </a:solidFill>
                <a:latin typeface="Calibri"/>
              </a:rPr>
              <a:t>pulumi</a:t>
            </a:r>
            <a:r>
              <a:rPr sz="2200" dirty="0">
                <a:solidFill>
                  <a:srgbClr val="262626"/>
                </a:solidFill>
                <a:latin typeface="Calibri"/>
              </a:rPr>
              <a:t> up </a:t>
            </a:r>
            <a:r>
              <a:rPr sz="2200" dirty="0" err="1">
                <a:solidFill>
                  <a:srgbClr val="262626"/>
                </a:solidFill>
                <a:latin typeface="Calibri"/>
              </a:rPr>
              <a:t>na</a:t>
            </a:r>
            <a:r>
              <a:rPr sz="2200" dirty="0">
                <a:solidFill>
                  <a:srgbClr val="262626"/>
                </a:solidFill>
                <a:latin typeface="Calibri"/>
              </a:rPr>
              <a:t> pasta </a:t>
            </a:r>
            <a:r>
              <a:rPr sz="2200" dirty="0" err="1">
                <a:solidFill>
                  <a:srgbClr val="262626"/>
                </a:solidFill>
                <a:latin typeface="Calibri"/>
              </a:rPr>
              <a:t>pulumi</a:t>
            </a:r>
            <a:r>
              <a:rPr sz="2200" dirty="0">
                <a:solidFill>
                  <a:srgbClr val="262626"/>
                </a:solidFill>
                <a:latin typeface="Calibri"/>
              </a:rPr>
              <a:t>/ do</a:t>
            </a:r>
            <a:r>
              <a:rPr lang="en-US" sz="2200" dirty="0">
                <a:solidFill>
                  <a:srgbClr val="262626"/>
                </a:solidFill>
                <a:latin typeface="Calibri"/>
              </a:rPr>
              <a:t>s </a:t>
            </a:r>
            <a:r>
              <a:rPr lang="en-US" sz="2200" dirty="0" err="1">
                <a:solidFill>
                  <a:srgbClr val="262626"/>
                </a:solidFill>
                <a:latin typeface="Calibri"/>
              </a:rPr>
              <a:t>exemplos</a:t>
            </a:r>
            <a:endParaRPr sz="2200" dirty="0">
              <a:solidFill>
                <a:srgbClr val="262626"/>
              </a:solidFill>
              <a:latin typeface="Calibri"/>
            </a:endParaRPr>
          </a:p>
        </p:txBody>
      </p:sp>
      <p:pic>
        <p:nvPicPr>
          <p:cNvPr id="6" name="Imagem 5">
            <a:extLst>
              <a:ext uri="{FF2B5EF4-FFF2-40B4-BE49-F238E27FC236}">
                <a16:creationId xmlns:a16="http://schemas.microsoft.com/office/drawing/2014/main" id="{73F6460F-287C-66A9-919E-EE2C9ED20E47}"/>
              </a:ext>
            </a:extLst>
          </p:cNvPr>
          <p:cNvPicPr>
            <a:picLocks noChangeAspect="1"/>
          </p:cNvPicPr>
          <p:nvPr/>
        </p:nvPicPr>
        <p:blipFill>
          <a:blip r:embed="rId2"/>
          <a:stretch>
            <a:fillRect/>
          </a:stretch>
        </p:blipFill>
        <p:spPr>
          <a:xfrm>
            <a:off x="1689100" y="3490330"/>
            <a:ext cx="18194276" cy="1367420"/>
          </a:xfrm>
          <a:prstGeom prst="rect">
            <a:avLst/>
          </a:prstGeom>
        </p:spPr>
      </p:pic>
      <p:pic>
        <p:nvPicPr>
          <p:cNvPr id="11" name="Imagem 10">
            <a:extLst>
              <a:ext uri="{FF2B5EF4-FFF2-40B4-BE49-F238E27FC236}">
                <a16:creationId xmlns:a16="http://schemas.microsoft.com/office/drawing/2014/main" id="{EA770C62-20BA-8E58-3125-C687EDEEC326}"/>
              </a:ext>
            </a:extLst>
          </p:cNvPr>
          <p:cNvPicPr>
            <a:picLocks noChangeAspect="1"/>
          </p:cNvPicPr>
          <p:nvPr/>
        </p:nvPicPr>
        <p:blipFill>
          <a:blip r:embed="rId3"/>
          <a:stretch>
            <a:fillRect/>
          </a:stretch>
        </p:blipFill>
        <p:spPr>
          <a:xfrm>
            <a:off x="2023969" y="5752983"/>
            <a:ext cx="4876893" cy="6096118"/>
          </a:xfrm>
          <a:prstGeom prst="rect">
            <a:avLst/>
          </a:prstGeom>
        </p:spPr>
      </p:pic>
      <p:sp>
        <p:nvSpPr>
          <p:cNvPr id="15" name="CaixaDeTexto 14">
            <a:extLst>
              <a:ext uri="{FF2B5EF4-FFF2-40B4-BE49-F238E27FC236}">
                <a16:creationId xmlns:a16="http://schemas.microsoft.com/office/drawing/2014/main" id="{A13F6408-4BDC-F450-A2C0-F950714B0E67}"/>
              </a:ext>
            </a:extLst>
          </p:cNvPr>
          <p:cNvSpPr txBox="1"/>
          <p:nvPr/>
        </p:nvSpPr>
        <p:spPr>
          <a:xfrm>
            <a:off x="8497427" y="5752983"/>
            <a:ext cx="12047998" cy="62863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spcBef>
                <a:spcPts val="0"/>
              </a:spcBef>
              <a:spcAft>
                <a:spcPts val="250"/>
              </a:spcAft>
            </a:pPr>
            <a:r>
              <a:rPr lang="pt-BR" sz="2000" b="1" i="0" dirty="0" err="1">
                <a:solidFill>
                  <a:srgbClr val="F5AC00"/>
                </a:solidFill>
                <a:latin typeface="Consolas"/>
              </a:rPr>
              <a:t>import</a:t>
            </a:r>
            <a:r>
              <a:rPr lang="pt-BR" sz="2000" b="0" i="0" dirty="0">
                <a:solidFill>
                  <a:srgbClr val="262626"/>
                </a:solidFill>
                <a:latin typeface="Consolas"/>
              </a:rPr>
              <a:t> </a:t>
            </a:r>
            <a:r>
              <a:rPr lang="pt-BR" sz="2000" b="0" i="0" dirty="0" err="1">
                <a:solidFill>
                  <a:srgbClr val="262626"/>
                </a:solidFill>
                <a:latin typeface="Consolas"/>
              </a:rPr>
              <a:t>pulumi</a:t>
            </a:r>
            <a:endParaRPr lang="pt-BR" sz="2000" b="0" i="0" dirty="0">
              <a:solidFill>
                <a:srgbClr val="262626"/>
              </a:solidFill>
              <a:latin typeface="Consolas"/>
            </a:endParaRPr>
          </a:p>
          <a:p>
            <a:pPr algn="l">
              <a:spcBef>
                <a:spcPts val="0"/>
              </a:spcBef>
              <a:spcAft>
                <a:spcPts val="250"/>
              </a:spcAft>
            </a:pPr>
            <a:r>
              <a:rPr lang="pt-BR" sz="2000" b="1" i="0" dirty="0" err="1">
                <a:solidFill>
                  <a:srgbClr val="F5AC00"/>
                </a:solidFill>
                <a:latin typeface="Consolas"/>
              </a:rPr>
              <a:t>from</a:t>
            </a:r>
            <a:r>
              <a:rPr lang="pt-BR" sz="2000" b="0" i="0" dirty="0">
                <a:solidFill>
                  <a:srgbClr val="262626"/>
                </a:solidFill>
                <a:latin typeface="Consolas"/>
              </a:rPr>
              <a:t> </a:t>
            </a:r>
            <a:r>
              <a:rPr lang="pt-BR" sz="2000" b="0" i="0" dirty="0" err="1">
                <a:solidFill>
                  <a:srgbClr val="262626"/>
                </a:solidFill>
                <a:latin typeface="Consolas"/>
              </a:rPr>
              <a:t>pulumi_azure_native</a:t>
            </a:r>
            <a:r>
              <a:rPr lang="pt-BR" sz="2000" b="0" i="0" dirty="0">
                <a:solidFill>
                  <a:srgbClr val="262626"/>
                </a:solidFill>
                <a:latin typeface="Consolas"/>
              </a:rPr>
              <a:t> </a:t>
            </a:r>
            <a:r>
              <a:rPr lang="pt-BR" sz="2000" b="1" i="0" dirty="0" err="1">
                <a:solidFill>
                  <a:srgbClr val="F5AC00"/>
                </a:solidFill>
                <a:latin typeface="Consolas"/>
              </a:rPr>
              <a:t>import</a:t>
            </a:r>
            <a:r>
              <a:rPr lang="pt-BR" sz="2000" b="0" i="0" dirty="0">
                <a:solidFill>
                  <a:srgbClr val="262626"/>
                </a:solidFill>
                <a:latin typeface="Consolas"/>
              </a:rPr>
              <a:t> </a:t>
            </a:r>
            <a:r>
              <a:rPr lang="pt-BR" sz="2000" b="0" i="0" dirty="0" err="1">
                <a:solidFill>
                  <a:srgbClr val="262626"/>
                </a:solidFill>
                <a:latin typeface="Consolas"/>
              </a:rPr>
              <a:t>resources</a:t>
            </a:r>
            <a:r>
              <a:rPr lang="pt-BR" sz="2000" b="0" i="0" dirty="0">
                <a:solidFill>
                  <a:srgbClr val="262626"/>
                </a:solidFill>
                <a:latin typeface="Consolas"/>
              </a:rPr>
              <a:t>, </a:t>
            </a:r>
            <a:r>
              <a:rPr lang="pt-BR" sz="2000" b="0" i="0" dirty="0" err="1">
                <a:solidFill>
                  <a:srgbClr val="262626"/>
                </a:solidFill>
                <a:latin typeface="Consolas"/>
              </a:rPr>
              <a:t>storage</a:t>
            </a:r>
            <a:endParaRPr lang="pt-BR" sz="2000" b="0" i="0" dirty="0">
              <a:solidFill>
                <a:srgbClr val="262626"/>
              </a:solidFill>
              <a:latin typeface="Consolas"/>
            </a:endParaRPr>
          </a:p>
          <a:p>
            <a:pPr algn="l">
              <a:spcBef>
                <a:spcPts val="0"/>
              </a:spcBef>
              <a:spcAft>
                <a:spcPts val="250"/>
              </a:spcAft>
            </a:pPr>
            <a:endParaRPr lang="pt-BR" sz="2000" b="0" i="0" dirty="0">
              <a:solidFill>
                <a:srgbClr val="262626"/>
              </a:solidFill>
              <a:latin typeface="Consolas"/>
            </a:endParaRPr>
          </a:p>
          <a:p>
            <a:pPr algn="l">
              <a:spcBef>
                <a:spcPts val="0"/>
              </a:spcBef>
              <a:spcAft>
                <a:spcPts val="250"/>
              </a:spcAft>
            </a:pPr>
            <a:r>
              <a:rPr lang="pt-BR" sz="2000" b="0" i="0" dirty="0" err="1">
                <a:solidFill>
                  <a:srgbClr val="262626"/>
                </a:solidFill>
                <a:latin typeface="Consolas"/>
              </a:rPr>
              <a:t>rg</a:t>
            </a:r>
            <a:r>
              <a:rPr lang="pt-BR" sz="2000" b="0" i="0" dirty="0">
                <a:solidFill>
                  <a:srgbClr val="262626"/>
                </a:solidFill>
                <a:latin typeface="Consolas"/>
              </a:rPr>
              <a:t> = </a:t>
            </a:r>
            <a:r>
              <a:rPr lang="pt-BR" sz="2000" b="0" i="0" dirty="0" err="1">
                <a:solidFill>
                  <a:srgbClr val="262626"/>
                </a:solidFill>
                <a:latin typeface="Consolas"/>
              </a:rPr>
              <a:t>resources.ResourceGroup.get</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a:solidFill>
                  <a:srgbClr val="2E7D32"/>
                </a:solidFill>
                <a:latin typeface="Consolas"/>
              </a:rPr>
              <a:t>"</a:t>
            </a:r>
            <a:r>
              <a:rPr lang="pt-BR" sz="2000" b="0" i="0" dirty="0" err="1">
                <a:solidFill>
                  <a:srgbClr val="2E7D32"/>
                </a:solidFill>
                <a:latin typeface="Consolas"/>
              </a:rPr>
              <a:t>rg</a:t>
            </a:r>
            <a:r>
              <a:rPr lang="pt-BR" sz="2000" b="0" i="0" dirty="0">
                <a:solidFill>
                  <a:srgbClr val="2E7D32"/>
                </a:solidFill>
                <a:latin typeface="Consolas"/>
              </a:rPr>
              <a:t>"</a:t>
            </a:r>
            <a:r>
              <a:rPr lang="pt-BR" sz="2000" b="0" i="0" dirty="0">
                <a:solidFill>
                  <a:srgbClr val="262626"/>
                </a:solidFill>
                <a:latin typeface="Consolas"/>
              </a:rPr>
              <a:t>, </a:t>
            </a:r>
            <a:r>
              <a:rPr lang="pt-BR" sz="2000" b="0" i="0" dirty="0">
                <a:solidFill>
                  <a:srgbClr val="2E7D32"/>
                </a:solidFill>
                <a:latin typeface="Consolas"/>
              </a:rPr>
              <a:t>"</a:t>
            </a:r>
            <a:r>
              <a:rPr lang="pt-BR" sz="2000" b="0" i="0" dirty="0" err="1">
                <a:solidFill>
                  <a:srgbClr val="2E7D32"/>
                </a:solidFill>
                <a:latin typeface="Consolas"/>
              </a:rPr>
              <a:t>rg</a:t>
            </a:r>
            <a:r>
              <a:rPr lang="pt-BR" sz="2000" b="0" i="0" dirty="0">
                <a:solidFill>
                  <a:srgbClr val="2E7D32"/>
                </a:solidFill>
                <a:latin typeface="Consolas"/>
              </a:rPr>
              <a:t>-</a:t>
            </a:r>
            <a:r>
              <a:rPr lang="pt-BR" sz="2000" b="0" i="0" dirty="0" err="1">
                <a:solidFill>
                  <a:srgbClr val="2E7D32"/>
                </a:solidFill>
                <a:latin typeface="Consolas"/>
              </a:rPr>
              <a:t>pcdf</a:t>
            </a:r>
            <a:r>
              <a:rPr lang="pt-BR" sz="2000" b="0" i="0" dirty="0">
                <a:solidFill>
                  <a:srgbClr val="2E7D32"/>
                </a:solidFill>
                <a:latin typeface="Consolas"/>
              </a:rPr>
              <a:t>-demo"</a:t>
            </a:r>
            <a:r>
              <a:rPr lang="pt-BR" sz="2000" b="0" i="0" dirty="0">
                <a:solidFill>
                  <a:srgbClr val="262626"/>
                </a:solidFill>
                <a:latin typeface="Consolas"/>
              </a:rPr>
              <a:t>)</a:t>
            </a:r>
          </a:p>
          <a:p>
            <a:pPr algn="l">
              <a:spcBef>
                <a:spcPts val="0"/>
              </a:spcBef>
              <a:spcAft>
                <a:spcPts val="250"/>
              </a:spcAft>
            </a:pPr>
            <a:endParaRPr lang="pt-BR" sz="2000" b="0" i="0" dirty="0">
              <a:solidFill>
                <a:srgbClr val="262626"/>
              </a:solidFill>
              <a:latin typeface="Consolas"/>
            </a:endParaRPr>
          </a:p>
          <a:p>
            <a:pPr algn="l">
              <a:spcBef>
                <a:spcPts val="0"/>
              </a:spcBef>
              <a:spcAft>
                <a:spcPts val="250"/>
              </a:spcAft>
            </a:pPr>
            <a:r>
              <a:rPr lang="pt-BR" sz="2000" b="0" i="0" dirty="0" err="1">
                <a:solidFill>
                  <a:srgbClr val="262626"/>
                </a:solidFill>
                <a:latin typeface="Consolas"/>
              </a:rPr>
              <a:t>account</a:t>
            </a:r>
            <a:r>
              <a:rPr lang="pt-BR" sz="2000" b="0" i="0" dirty="0">
                <a:solidFill>
                  <a:srgbClr val="262626"/>
                </a:solidFill>
                <a:latin typeface="Consolas"/>
              </a:rPr>
              <a:t> = </a:t>
            </a:r>
            <a:r>
              <a:rPr lang="pt-BR" sz="2000" b="0" i="0" dirty="0" err="1">
                <a:solidFill>
                  <a:srgbClr val="262626"/>
                </a:solidFill>
                <a:latin typeface="Consolas"/>
              </a:rPr>
              <a:t>storage.StorageAccount</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a:solidFill>
                  <a:srgbClr val="2E7D32"/>
                </a:solidFill>
                <a:latin typeface="Consolas"/>
              </a:rPr>
              <a:t>"</a:t>
            </a:r>
            <a:r>
              <a:rPr lang="pt-BR" sz="2000" b="0" i="0" dirty="0" err="1">
                <a:solidFill>
                  <a:srgbClr val="2E7D32"/>
                </a:solidFill>
                <a:latin typeface="Consolas"/>
              </a:rPr>
              <a:t>stpcdfbopulumi</a:t>
            </a:r>
            <a:r>
              <a:rPr lang="pt-BR" sz="2000" b="0" i="0" dirty="0">
                <a:solidFill>
                  <a:srgbClr val="2E7D32"/>
                </a:solidFill>
                <a:latin typeface="Consolas"/>
              </a:rPr>
              <a:t>"</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err="1">
                <a:solidFill>
                  <a:srgbClr val="262626"/>
                </a:solidFill>
                <a:latin typeface="Consolas"/>
              </a:rPr>
              <a:t>resource_group_name</a:t>
            </a:r>
            <a:r>
              <a:rPr lang="pt-BR" sz="2000" b="0" i="0" dirty="0">
                <a:solidFill>
                  <a:srgbClr val="262626"/>
                </a:solidFill>
                <a:latin typeface="Consolas"/>
              </a:rPr>
              <a:t>=rg.name,</a:t>
            </a:r>
          </a:p>
          <a:p>
            <a:pPr algn="l">
              <a:spcBef>
                <a:spcPts val="0"/>
              </a:spcBef>
              <a:spcAft>
                <a:spcPts val="250"/>
              </a:spcAft>
            </a:pPr>
            <a:r>
              <a:rPr lang="pt-BR" sz="2000" b="0" i="0" dirty="0">
                <a:solidFill>
                  <a:srgbClr val="262626"/>
                </a:solidFill>
                <a:latin typeface="Consolas"/>
              </a:rPr>
              <a:t>    </a:t>
            </a:r>
            <a:r>
              <a:rPr lang="pt-BR" sz="2000" b="0" i="0" dirty="0" err="1">
                <a:solidFill>
                  <a:srgbClr val="262626"/>
                </a:solidFill>
                <a:latin typeface="Consolas"/>
              </a:rPr>
              <a:t>sku</a:t>
            </a:r>
            <a:r>
              <a:rPr lang="pt-BR" sz="2000" b="0" i="0" dirty="0">
                <a:solidFill>
                  <a:srgbClr val="262626"/>
                </a:solidFill>
                <a:latin typeface="Consolas"/>
              </a:rPr>
              <a:t>=</a:t>
            </a:r>
            <a:r>
              <a:rPr lang="pt-BR" sz="2000" b="0" i="0" dirty="0" err="1">
                <a:solidFill>
                  <a:srgbClr val="262626"/>
                </a:solidFill>
                <a:latin typeface="Consolas"/>
              </a:rPr>
              <a:t>storage.SkuArgs</a:t>
            </a:r>
            <a:r>
              <a:rPr lang="pt-BR" sz="2000" b="0" i="0" dirty="0">
                <a:solidFill>
                  <a:srgbClr val="262626"/>
                </a:solidFill>
                <a:latin typeface="Consolas"/>
              </a:rPr>
              <a:t>(</a:t>
            </a:r>
            <a:r>
              <a:rPr lang="pt-BR" sz="2000" b="0" i="0" dirty="0" err="1">
                <a:solidFill>
                  <a:srgbClr val="262626"/>
                </a:solidFill>
                <a:latin typeface="Consolas"/>
              </a:rPr>
              <a:t>name</a:t>
            </a:r>
            <a:r>
              <a:rPr lang="pt-BR" sz="2000" b="0" i="0" dirty="0">
                <a:solidFill>
                  <a:srgbClr val="262626"/>
                </a:solidFill>
                <a:latin typeface="Consolas"/>
              </a:rPr>
              <a:t>=</a:t>
            </a:r>
            <a:r>
              <a:rPr lang="pt-BR" sz="2000" b="0" i="0" dirty="0">
                <a:solidFill>
                  <a:srgbClr val="2E7D32"/>
                </a:solidFill>
                <a:latin typeface="Consolas"/>
              </a:rPr>
              <a:t>"</a:t>
            </a:r>
            <a:r>
              <a:rPr lang="pt-BR" sz="2000" b="0" i="0" dirty="0" err="1">
                <a:solidFill>
                  <a:srgbClr val="2E7D32"/>
                </a:solidFill>
                <a:latin typeface="Consolas"/>
              </a:rPr>
              <a:t>Standard_LRS</a:t>
            </a:r>
            <a:r>
              <a:rPr lang="pt-BR" sz="2000" b="0" i="0" dirty="0">
                <a:solidFill>
                  <a:srgbClr val="2E7D32"/>
                </a:solidFill>
                <a:latin typeface="Consolas"/>
              </a:rPr>
              <a:t>"</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err="1">
                <a:solidFill>
                  <a:srgbClr val="262626"/>
                </a:solidFill>
                <a:latin typeface="Consolas"/>
              </a:rPr>
              <a:t>kind</a:t>
            </a:r>
            <a:r>
              <a:rPr lang="pt-BR" sz="2000" b="0" i="0" dirty="0">
                <a:solidFill>
                  <a:srgbClr val="262626"/>
                </a:solidFill>
                <a:latin typeface="Consolas"/>
              </a:rPr>
              <a:t>=</a:t>
            </a:r>
            <a:r>
              <a:rPr lang="pt-BR" sz="2000" b="0" i="0" dirty="0">
                <a:solidFill>
                  <a:srgbClr val="2E7D32"/>
                </a:solidFill>
                <a:latin typeface="Consolas"/>
              </a:rPr>
              <a:t>"StorageV2"</a:t>
            </a:r>
            <a:r>
              <a:rPr lang="pt-BR" sz="2000" b="0" i="0" dirty="0">
                <a:solidFill>
                  <a:srgbClr val="262626"/>
                </a:solidFill>
                <a:latin typeface="Consolas"/>
              </a:rPr>
              <a:t>)</a:t>
            </a:r>
          </a:p>
          <a:p>
            <a:pPr algn="l">
              <a:spcBef>
                <a:spcPts val="0"/>
              </a:spcBef>
              <a:spcAft>
                <a:spcPts val="250"/>
              </a:spcAft>
            </a:pPr>
            <a:endParaRPr lang="pt-BR" sz="2000" b="0" i="0" dirty="0">
              <a:solidFill>
                <a:srgbClr val="262626"/>
              </a:solidFill>
              <a:latin typeface="Consolas"/>
            </a:endParaRPr>
          </a:p>
          <a:p>
            <a:pPr algn="l">
              <a:spcBef>
                <a:spcPts val="0"/>
              </a:spcBef>
              <a:spcAft>
                <a:spcPts val="250"/>
              </a:spcAft>
            </a:pPr>
            <a:r>
              <a:rPr lang="pt-BR" sz="2000" b="0" i="0" dirty="0">
                <a:solidFill>
                  <a:srgbClr val="262626"/>
                </a:solidFill>
                <a:latin typeface="Consolas"/>
              </a:rPr>
              <a:t>container = </a:t>
            </a:r>
            <a:r>
              <a:rPr lang="pt-BR" sz="2000" b="0" i="0" dirty="0" err="1">
                <a:solidFill>
                  <a:srgbClr val="262626"/>
                </a:solidFill>
                <a:latin typeface="Consolas"/>
              </a:rPr>
              <a:t>storage.BlobContainer</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a:solidFill>
                  <a:srgbClr val="2E7D32"/>
                </a:solidFill>
                <a:latin typeface="Consolas"/>
              </a:rPr>
              <a:t>"</a:t>
            </a:r>
            <a:r>
              <a:rPr lang="pt-BR" sz="2000" b="0" i="0" dirty="0" err="1">
                <a:solidFill>
                  <a:srgbClr val="2E7D32"/>
                </a:solidFill>
                <a:latin typeface="Consolas"/>
              </a:rPr>
              <a:t>bos</a:t>
            </a:r>
            <a:r>
              <a:rPr lang="pt-BR" sz="2000" b="0" i="0" dirty="0">
                <a:solidFill>
                  <a:srgbClr val="2E7D32"/>
                </a:solidFill>
                <a:latin typeface="Consolas"/>
              </a:rPr>
              <a:t>-</a:t>
            </a:r>
            <a:r>
              <a:rPr lang="pt-BR" sz="2000" b="0" i="0" dirty="0" err="1">
                <a:solidFill>
                  <a:srgbClr val="2E7D32"/>
                </a:solidFill>
                <a:latin typeface="Consolas"/>
              </a:rPr>
              <a:t>pulumi</a:t>
            </a:r>
            <a:r>
              <a:rPr lang="pt-BR" sz="2000" b="0" i="0" dirty="0">
                <a:solidFill>
                  <a:srgbClr val="2E7D32"/>
                </a:solidFill>
                <a:latin typeface="Consolas"/>
              </a:rPr>
              <a:t>-demo"</a:t>
            </a:r>
            <a:r>
              <a:rPr lang="pt-BR" sz="2000" b="0" i="0" dirty="0">
                <a:solidFill>
                  <a:srgbClr val="262626"/>
                </a:solidFill>
                <a:latin typeface="Consolas"/>
              </a:rPr>
              <a:t>,</a:t>
            </a:r>
          </a:p>
          <a:p>
            <a:pPr algn="l">
              <a:spcBef>
                <a:spcPts val="0"/>
              </a:spcBef>
              <a:spcAft>
                <a:spcPts val="250"/>
              </a:spcAft>
            </a:pPr>
            <a:r>
              <a:rPr lang="pt-BR" sz="2000" b="0" i="0" dirty="0">
                <a:solidFill>
                  <a:srgbClr val="262626"/>
                </a:solidFill>
                <a:latin typeface="Consolas"/>
              </a:rPr>
              <a:t>    </a:t>
            </a:r>
            <a:r>
              <a:rPr lang="pt-BR" sz="2000" b="0" i="0" dirty="0" err="1">
                <a:solidFill>
                  <a:srgbClr val="262626"/>
                </a:solidFill>
                <a:latin typeface="Consolas"/>
              </a:rPr>
              <a:t>account_name</a:t>
            </a:r>
            <a:r>
              <a:rPr lang="pt-BR" sz="2000" b="0" i="0" dirty="0">
                <a:solidFill>
                  <a:srgbClr val="262626"/>
                </a:solidFill>
                <a:latin typeface="Consolas"/>
              </a:rPr>
              <a:t>=account.name,</a:t>
            </a:r>
          </a:p>
          <a:p>
            <a:pPr algn="l">
              <a:spcBef>
                <a:spcPts val="0"/>
              </a:spcBef>
              <a:spcAft>
                <a:spcPts val="250"/>
              </a:spcAft>
            </a:pPr>
            <a:r>
              <a:rPr lang="pt-BR" sz="2000" b="0" i="0" dirty="0">
                <a:solidFill>
                  <a:srgbClr val="262626"/>
                </a:solidFill>
                <a:latin typeface="Consolas"/>
              </a:rPr>
              <a:t>    </a:t>
            </a:r>
            <a:r>
              <a:rPr lang="pt-BR" sz="2000" b="0" i="0" dirty="0" err="1">
                <a:solidFill>
                  <a:srgbClr val="262626"/>
                </a:solidFill>
                <a:latin typeface="Consolas"/>
              </a:rPr>
              <a:t>resource_group_name</a:t>
            </a:r>
            <a:r>
              <a:rPr lang="pt-BR" sz="2000" b="0" i="0" dirty="0">
                <a:solidFill>
                  <a:srgbClr val="262626"/>
                </a:solidFill>
                <a:latin typeface="Consolas"/>
              </a:rPr>
              <a:t>=rg.name)</a:t>
            </a:r>
          </a:p>
          <a:p>
            <a:pPr algn="l">
              <a:spcBef>
                <a:spcPts val="0"/>
              </a:spcBef>
              <a:spcAft>
                <a:spcPts val="250"/>
              </a:spcAft>
            </a:pPr>
            <a:endParaRPr lang="pt-BR" sz="2000" b="0" i="0" dirty="0">
              <a:solidFill>
                <a:srgbClr val="262626"/>
              </a:solidFill>
              <a:latin typeface="Consolas"/>
            </a:endParaRPr>
          </a:p>
          <a:p>
            <a:pPr algn="l">
              <a:spcBef>
                <a:spcPts val="0"/>
              </a:spcBef>
              <a:spcAft>
                <a:spcPts val="250"/>
              </a:spcAft>
            </a:pPr>
            <a:r>
              <a:rPr lang="pt-BR" sz="2000" b="0" i="0" dirty="0" err="1">
                <a:solidFill>
                  <a:srgbClr val="262626"/>
                </a:solidFill>
                <a:latin typeface="Consolas"/>
              </a:rPr>
              <a:t>pulumi.export</a:t>
            </a:r>
            <a:r>
              <a:rPr lang="pt-BR" sz="2000" b="0" i="0" dirty="0">
                <a:solidFill>
                  <a:srgbClr val="262626"/>
                </a:solidFill>
                <a:latin typeface="Consolas"/>
              </a:rPr>
              <a:t>(</a:t>
            </a:r>
            <a:r>
              <a:rPr lang="pt-BR" sz="2000" b="0" i="0" dirty="0">
                <a:solidFill>
                  <a:srgbClr val="2E7D32"/>
                </a:solidFill>
                <a:latin typeface="Consolas"/>
              </a:rPr>
              <a:t>"</a:t>
            </a:r>
            <a:r>
              <a:rPr lang="pt-BR" sz="2000" b="0" i="0" dirty="0" err="1">
                <a:solidFill>
                  <a:srgbClr val="2E7D32"/>
                </a:solidFill>
                <a:latin typeface="Consolas"/>
              </a:rPr>
              <a:t>conta_criada</a:t>
            </a:r>
            <a:r>
              <a:rPr lang="pt-BR" sz="2000" b="0" i="0" dirty="0">
                <a:solidFill>
                  <a:srgbClr val="2E7D32"/>
                </a:solidFill>
                <a:latin typeface="Consolas"/>
              </a:rPr>
              <a:t>"</a:t>
            </a:r>
            <a:r>
              <a:rPr lang="pt-BR" sz="2000" b="0" i="0" dirty="0">
                <a:solidFill>
                  <a:srgbClr val="262626"/>
                </a:solidFill>
                <a:latin typeface="Consolas"/>
              </a:rPr>
              <a:t>, account.name)</a:t>
            </a:r>
          </a:p>
        </p:txBody>
      </p:sp>
      <p:cxnSp>
        <p:nvCxnSpPr>
          <p:cNvPr id="17" name="Conector de Seta Reta 16">
            <a:extLst>
              <a:ext uri="{FF2B5EF4-FFF2-40B4-BE49-F238E27FC236}">
                <a16:creationId xmlns:a16="http://schemas.microsoft.com/office/drawing/2014/main" id="{4EF18A98-358F-D508-9708-3BA5D7B769AD}"/>
              </a:ext>
            </a:extLst>
          </p:cNvPr>
          <p:cNvCxnSpPr/>
          <p:nvPr/>
        </p:nvCxnSpPr>
        <p:spPr>
          <a:xfrm flipH="1">
            <a:off x="5514975" y="6357938"/>
            <a:ext cx="3028950" cy="1857375"/>
          </a:xfrm>
          <a:prstGeom prst="straightConnector1">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13809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05F38-24DC-294F-EBD8-25B9291E0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C0D3C-BD66-7C55-2EAD-48BB676F0609}"/>
              </a:ext>
            </a:extLst>
          </p:cNvPr>
          <p:cNvSpPr>
            <a:spLocks noGrp="1"/>
          </p:cNvSpPr>
          <p:nvPr>
            <p:ph type="title"/>
          </p:nvPr>
        </p:nvSpPr>
        <p:spPr>
          <a:xfrm>
            <a:off x="1689100" y="1127125"/>
            <a:ext cx="19170650" cy="2286000"/>
          </a:xfrm>
        </p:spPr>
        <p:txBody>
          <a:bodyPr/>
          <a:lstStyle/>
          <a:p>
            <a:pPr algn="l"/>
            <a:r>
              <a:rPr sz="3400" b="1" dirty="0" err="1">
                <a:solidFill>
                  <a:srgbClr val="0070C0"/>
                </a:solidFill>
                <a:latin typeface="Calibri"/>
              </a:rPr>
              <a:t>Exemplo</a:t>
            </a:r>
            <a:r>
              <a:rPr sz="3400" b="1" dirty="0">
                <a:solidFill>
                  <a:srgbClr val="0070C0"/>
                </a:solidFill>
                <a:latin typeface="Calibri"/>
              </a:rPr>
              <a:t> 5 — </a:t>
            </a:r>
          </a:p>
        </p:txBody>
      </p:sp>
      <p:sp>
        <p:nvSpPr>
          <p:cNvPr id="4" name="TextBox 3">
            <a:extLst>
              <a:ext uri="{FF2B5EF4-FFF2-40B4-BE49-F238E27FC236}">
                <a16:creationId xmlns:a16="http://schemas.microsoft.com/office/drawing/2014/main" id="{A5129278-0FC8-CF04-3520-FC5055B8C5F5}"/>
              </a:ext>
            </a:extLst>
          </p:cNvPr>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63</a:t>
            </a:r>
          </a:p>
        </p:txBody>
      </p:sp>
      <p:sp>
        <p:nvSpPr>
          <p:cNvPr id="5" name="TextBox 4">
            <a:extLst>
              <a:ext uri="{FF2B5EF4-FFF2-40B4-BE49-F238E27FC236}">
                <a16:creationId xmlns:a16="http://schemas.microsoft.com/office/drawing/2014/main" id="{73592CDF-84B3-F2CD-6C15-ACB9B3BAD691}"/>
              </a:ext>
            </a:extLst>
          </p:cNvPr>
          <p:cNvSpPr txBox="1"/>
          <p:nvPr/>
        </p:nvSpPr>
        <p:spPr>
          <a:xfrm>
            <a:off x="3975100" y="2113125"/>
            <a:ext cx="19170650" cy="430887"/>
          </a:xfrm>
          <a:prstGeom prst="rect">
            <a:avLst/>
          </a:prstGeom>
          <a:noFill/>
        </p:spPr>
        <p:txBody>
          <a:bodyPr wrap="square" anchor="t">
            <a:spAutoFit/>
          </a:bodyPr>
          <a:lstStyle/>
          <a:p>
            <a:pPr algn="l">
              <a:spcBef>
                <a:spcPts val="0"/>
              </a:spcBef>
              <a:spcAft>
                <a:spcPts val="600"/>
              </a:spcAft>
            </a:pPr>
            <a:r>
              <a:rPr sz="2200" dirty="0">
                <a:solidFill>
                  <a:srgbClr val="262626"/>
                </a:solidFill>
                <a:latin typeface="Calibri"/>
              </a:rPr>
              <a:t>Rode </a:t>
            </a:r>
            <a:r>
              <a:rPr sz="2200" dirty="0" err="1">
                <a:solidFill>
                  <a:srgbClr val="262626"/>
                </a:solidFill>
                <a:latin typeface="Calibri"/>
              </a:rPr>
              <a:t>pulumi</a:t>
            </a:r>
            <a:r>
              <a:rPr sz="2200" dirty="0">
                <a:solidFill>
                  <a:srgbClr val="262626"/>
                </a:solidFill>
                <a:latin typeface="Calibri"/>
              </a:rPr>
              <a:t> up </a:t>
            </a:r>
            <a:r>
              <a:rPr sz="2200" dirty="0" err="1">
                <a:solidFill>
                  <a:srgbClr val="262626"/>
                </a:solidFill>
                <a:latin typeface="Calibri"/>
              </a:rPr>
              <a:t>na</a:t>
            </a:r>
            <a:r>
              <a:rPr sz="2200" dirty="0">
                <a:solidFill>
                  <a:srgbClr val="262626"/>
                </a:solidFill>
                <a:latin typeface="Calibri"/>
              </a:rPr>
              <a:t> pasta </a:t>
            </a:r>
            <a:r>
              <a:rPr sz="2200" dirty="0" err="1">
                <a:solidFill>
                  <a:srgbClr val="262626"/>
                </a:solidFill>
                <a:latin typeface="Calibri"/>
              </a:rPr>
              <a:t>pulumi</a:t>
            </a:r>
            <a:r>
              <a:rPr sz="2200" dirty="0">
                <a:solidFill>
                  <a:srgbClr val="262626"/>
                </a:solidFill>
                <a:latin typeface="Calibri"/>
              </a:rPr>
              <a:t>/ do</a:t>
            </a:r>
            <a:r>
              <a:rPr lang="en-US" sz="2200" dirty="0">
                <a:solidFill>
                  <a:srgbClr val="262626"/>
                </a:solidFill>
                <a:latin typeface="Calibri"/>
              </a:rPr>
              <a:t>s </a:t>
            </a:r>
            <a:r>
              <a:rPr lang="en-US" sz="2200" dirty="0" err="1">
                <a:solidFill>
                  <a:srgbClr val="262626"/>
                </a:solidFill>
                <a:latin typeface="Calibri"/>
              </a:rPr>
              <a:t>exemplos</a:t>
            </a:r>
            <a:endParaRPr sz="2200" dirty="0">
              <a:solidFill>
                <a:srgbClr val="262626"/>
              </a:solidFill>
              <a:latin typeface="Calibri"/>
            </a:endParaRPr>
          </a:p>
        </p:txBody>
      </p:sp>
      <p:pic>
        <p:nvPicPr>
          <p:cNvPr id="7" name="Imagem 6">
            <a:extLst>
              <a:ext uri="{FF2B5EF4-FFF2-40B4-BE49-F238E27FC236}">
                <a16:creationId xmlns:a16="http://schemas.microsoft.com/office/drawing/2014/main" id="{7BA6B276-58D3-FAEB-250B-4949F3437121}"/>
              </a:ext>
            </a:extLst>
          </p:cNvPr>
          <p:cNvPicPr>
            <a:picLocks noChangeAspect="1"/>
          </p:cNvPicPr>
          <p:nvPr/>
        </p:nvPicPr>
        <p:blipFill>
          <a:blip r:embed="rId2"/>
          <a:stretch>
            <a:fillRect/>
          </a:stretch>
        </p:blipFill>
        <p:spPr>
          <a:xfrm>
            <a:off x="1689100" y="2544012"/>
            <a:ext cx="11551487" cy="5115220"/>
          </a:xfrm>
          <a:prstGeom prst="rect">
            <a:avLst/>
          </a:prstGeom>
        </p:spPr>
      </p:pic>
      <p:pic>
        <p:nvPicPr>
          <p:cNvPr id="9" name="Imagem 8">
            <a:extLst>
              <a:ext uri="{FF2B5EF4-FFF2-40B4-BE49-F238E27FC236}">
                <a16:creationId xmlns:a16="http://schemas.microsoft.com/office/drawing/2014/main" id="{E0BDDF14-1E8C-3C07-C2AB-8553A5C70BAD}"/>
              </a:ext>
            </a:extLst>
          </p:cNvPr>
          <p:cNvPicPr>
            <a:picLocks noChangeAspect="1"/>
          </p:cNvPicPr>
          <p:nvPr/>
        </p:nvPicPr>
        <p:blipFill>
          <a:blip r:embed="rId3"/>
          <a:stretch>
            <a:fillRect/>
          </a:stretch>
        </p:blipFill>
        <p:spPr>
          <a:xfrm>
            <a:off x="10526050" y="3829724"/>
            <a:ext cx="9497750" cy="3629532"/>
          </a:xfrm>
          <a:prstGeom prst="rect">
            <a:avLst/>
          </a:prstGeom>
          <a:ln>
            <a:noFill/>
          </a:ln>
          <a:effectLst>
            <a:outerShdw blurRad="190500" algn="tl" rotWithShape="0">
              <a:srgbClr val="000000">
                <a:alpha val="70000"/>
              </a:srgbClr>
            </a:outerShdw>
          </a:effectLst>
        </p:spPr>
      </p:pic>
      <p:pic>
        <p:nvPicPr>
          <p:cNvPr id="12" name="Imagem 11">
            <a:extLst>
              <a:ext uri="{FF2B5EF4-FFF2-40B4-BE49-F238E27FC236}">
                <a16:creationId xmlns:a16="http://schemas.microsoft.com/office/drawing/2014/main" id="{46FE68C5-320D-5CEA-544C-F1A6E4157AD8}"/>
              </a:ext>
            </a:extLst>
          </p:cNvPr>
          <p:cNvPicPr>
            <a:picLocks noChangeAspect="1"/>
          </p:cNvPicPr>
          <p:nvPr/>
        </p:nvPicPr>
        <p:blipFill>
          <a:blip r:embed="rId4"/>
          <a:stretch>
            <a:fillRect/>
          </a:stretch>
        </p:blipFill>
        <p:spPr>
          <a:xfrm>
            <a:off x="7243091" y="7459256"/>
            <a:ext cx="9612066" cy="438211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63244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r>
              <a:rPr sz="4800" b="1" dirty="0" err="1">
                <a:solidFill>
                  <a:srgbClr val="004A8F"/>
                </a:solidFill>
                <a:latin typeface="Calibri"/>
              </a:rPr>
              <a:t>Exemplos</a:t>
            </a:r>
            <a:r>
              <a:rPr sz="4800" b="1" dirty="0">
                <a:solidFill>
                  <a:srgbClr val="004A8F"/>
                </a:solidFill>
                <a:latin typeface="Calibri"/>
              </a:rPr>
              <a:t> Lado a Lado: Terraform x </a:t>
            </a:r>
            <a:r>
              <a:rPr sz="4800" b="1" dirty="0" err="1">
                <a:solidFill>
                  <a:srgbClr val="004A8F"/>
                </a:solidFill>
                <a:latin typeface="Calibri"/>
              </a:rPr>
              <a:t>Pulumi</a:t>
            </a:r>
            <a:endParaRPr sz="4800" b="1" dirty="0">
              <a:solidFill>
                <a:srgbClr val="004A8F"/>
              </a:solidFill>
              <a:latin typeface="Calibri"/>
            </a:endParaRP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Os mesmos 4 exemplos locais da Aula 02, mais a demo do Azure — agora resolvidos também em Pulumi, um por um.</a:t>
            </a:r>
          </a:p>
        </p:txBody>
      </p:sp>
      <p:sp>
        <p:nvSpPr>
          <p:cNvPr id="4" name="TextBox 3"/>
          <p:cNvSpPr txBox="1"/>
          <p:nvPr/>
        </p:nvSpPr>
        <p:spPr>
          <a:xfrm>
            <a:off x="9867632" y="4750000"/>
            <a:ext cx="2813591" cy="1015663"/>
          </a:xfrm>
          <a:prstGeom prst="rect">
            <a:avLst/>
          </a:prstGeom>
          <a:noFill/>
        </p:spPr>
        <p:txBody>
          <a:bodyPr wrap="none">
            <a:spAutoFit/>
          </a:bodyPr>
          <a:lstStyle/>
          <a:p>
            <a:r>
              <a:rPr sz="6000" b="1" dirty="0">
                <a:solidFill>
                  <a:srgbClr val="F5AC00"/>
                </a:solidFill>
                <a:latin typeface="Calibri"/>
              </a:rPr>
              <a:t>PARTE 3</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46</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6000" b="1">
                <a:solidFill>
                  <a:srgbClr val="0070C0"/>
                </a:solidFill>
                <a:latin typeface="Calibri"/>
              </a:rPr>
              <a:t>Como Vamos Comparar</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800" b="1">
                <a:solidFill>
                  <a:srgbClr val="004A8F"/>
                </a:solidFill>
                <a:latin typeface="Calibri"/>
              </a:rPr>
              <a:t>Mesmo problema, dois códigos:  </a:t>
            </a:r>
            <a:r>
              <a:rPr sz="4800">
                <a:solidFill>
                  <a:srgbClr val="262626"/>
                </a:solidFill>
                <a:latin typeface="Calibri"/>
              </a:rPr>
              <a:t>cada exemplo mostra o HCL da Aula 02 à esquerda e o Python equivalente à direita.</a:t>
            </a:r>
          </a:p>
          <a:p>
            <a:pPr algn="l">
              <a:spcBef>
                <a:spcPts val="0"/>
              </a:spcBef>
              <a:spcAft>
                <a:spcPts val="2200"/>
              </a:spcAft>
            </a:pPr>
            <a:r>
              <a:rPr sz="4800" b="1">
                <a:solidFill>
                  <a:srgbClr val="004A8F"/>
                </a:solidFill>
                <a:latin typeface="Calibri"/>
              </a:rPr>
              <a:t>Rode os dois:  </a:t>
            </a:r>
            <a:r>
              <a:rPr sz="4800">
                <a:solidFill>
                  <a:srgbClr val="262626"/>
                </a:solidFill>
                <a:latin typeface="Calibri"/>
              </a:rPr>
              <a:t>sempre em pastas separadas — nunca misture Terraform e Pulumi no mesmo diretório.</a:t>
            </a:r>
          </a:p>
          <a:p>
            <a:pPr algn="l">
              <a:spcBef>
                <a:spcPts val="0"/>
              </a:spcBef>
              <a:spcAft>
                <a:spcPts val="2200"/>
              </a:spcAft>
            </a:pPr>
            <a:r>
              <a:rPr sz="4800" b="1">
                <a:solidFill>
                  <a:srgbClr val="004A8F"/>
                </a:solidFill>
                <a:latin typeface="Calibri"/>
              </a:rPr>
              <a:t>Espaço para print:  </a:t>
            </a:r>
            <a:r>
              <a:rPr sz="4800">
                <a:solidFill>
                  <a:srgbClr val="262626"/>
                </a:solidFill>
                <a:latin typeface="Calibri"/>
              </a:rPr>
              <a:t>depois de cada exemplo, rode o comando na sua máquina e cole a captura de tela no slide indicado.</a:t>
            </a:r>
          </a:p>
        </p:txBody>
      </p:sp>
      <p:sp>
        <p:nvSpPr>
          <p:cNvPr id="4" name="TextBox 3"/>
          <p:cNvSpPr txBox="1"/>
          <p:nvPr/>
        </p:nvSpPr>
        <p:spPr>
          <a:xfrm>
            <a:off x="1864025" y="12520000"/>
            <a:ext cx="550152" cy="523220"/>
          </a:xfrm>
          <a:prstGeom prst="rect">
            <a:avLst/>
          </a:prstGeom>
          <a:noFill/>
        </p:spPr>
        <p:txBody>
          <a:bodyPr wrap="none">
            <a:spAutoFit/>
          </a:bodyPr>
          <a:lstStyle/>
          <a:p>
            <a:r>
              <a:rPr sz="2800">
                <a:solidFill>
                  <a:srgbClr val="595959"/>
                </a:solidFill>
                <a:latin typeface="Calibri"/>
              </a:rPr>
              <a:t>47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dirty="0" err="1">
                <a:solidFill>
                  <a:srgbClr val="0070C0"/>
                </a:solidFill>
                <a:latin typeface="Calibri"/>
              </a:rPr>
              <a:t>Exemplo</a:t>
            </a:r>
            <a:r>
              <a:rPr sz="3000" b="1" dirty="0">
                <a:solidFill>
                  <a:srgbClr val="0070C0"/>
                </a:solidFill>
                <a:latin typeface="Calibri"/>
              </a:rPr>
              <a:t> 1 — </a:t>
            </a:r>
            <a:r>
              <a:rPr sz="3000" b="1" dirty="0" err="1">
                <a:solidFill>
                  <a:srgbClr val="0070C0"/>
                </a:solidFill>
                <a:latin typeface="Calibri"/>
              </a:rPr>
              <a:t>Credenciais</a:t>
            </a:r>
            <a:endParaRPr sz="3000" b="1" dirty="0">
              <a:solidFill>
                <a:srgbClr val="0070C0"/>
              </a:solidFill>
              <a:latin typeface="Calibri"/>
            </a:endParaRPr>
          </a:p>
        </p:txBody>
      </p:sp>
      <p:sp>
        <p:nvSpPr>
          <p:cNvPr id="4" name="TextBox 3"/>
          <p:cNvSpPr txBox="1"/>
          <p:nvPr/>
        </p:nvSpPr>
        <p:spPr>
          <a:xfrm>
            <a:off x="1864025" y="12520000"/>
            <a:ext cx="550152" cy="523220"/>
          </a:xfrm>
          <a:prstGeom prst="rect">
            <a:avLst/>
          </a:prstGeom>
          <a:noFill/>
        </p:spPr>
        <p:txBody>
          <a:bodyPr wrap="none">
            <a:spAutoFit/>
          </a:bodyPr>
          <a:lstStyle/>
          <a:p>
            <a:r>
              <a:rPr sz="2800">
                <a:solidFill>
                  <a:srgbClr val="595959"/>
                </a:solidFill>
                <a:latin typeface="Calibri"/>
              </a:rPr>
              <a:t>48</a:t>
            </a:r>
          </a:p>
        </p:txBody>
      </p:sp>
      <p:sp>
        <p:nvSpPr>
          <p:cNvPr id="5" name="TextBox 4"/>
          <p:cNvSpPr txBox="1"/>
          <p:nvPr/>
        </p:nvSpPr>
        <p:spPr>
          <a:xfrm>
            <a:off x="4473525" y="3050232"/>
            <a:ext cx="13601800" cy="584775"/>
          </a:xfrm>
          <a:prstGeom prst="rect">
            <a:avLst/>
          </a:prstGeom>
          <a:noFill/>
        </p:spPr>
        <p:txBody>
          <a:bodyPr wrap="none">
            <a:spAutoFit/>
          </a:bodyPr>
          <a:lstStyle/>
          <a:p>
            <a:r>
              <a:rPr sz="3200" i="1" dirty="0">
                <a:solidFill>
                  <a:srgbClr val="595959"/>
                </a:solidFill>
                <a:latin typeface="Calibri"/>
              </a:rPr>
              <a:t>providers random + local (Terraform) x </a:t>
            </a:r>
            <a:r>
              <a:rPr sz="3200" i="1" dirty="0" err="1">
                <a:solidFill>
                  <a:srgbClr val="595959"/>
                </a:solidFill>
                <a:latin typeface="Calibri"/>
              </a:rPr>
              <a:t>pulumi_random</a:t>
            </a:r>
            <a:r>
              <a:rPr sz="3200" i="1" dirty="0">
                <a:solidFill>
                  <a:srgbClr val="595959"/>
                </a:solidFill>
                <a:latin typeface="Calibri"/>
              </a:rPr>
              <a:t> + Python puro (</a:t>
            </a:r>
            <a:r>
              <a:rPr sz="3200" i="1" dirty="0" err="1">
                <a:solidFill>
                  <a:srgbClr val="595959"/>
                </a:solidFill>
                <a:latin typeface="Calibri"/>
              </a:rPr>
              <a:t>Pulumi</a:t>
            </a:r>
            <a:r>
              <a:rPr sz="3200" i="1" dirty="0">
                <a:solidFill>
                  <a:srgbClr val="595959"/>
                </a:solidFill>
                <a:latin typeface="Calibri"/>
              </a:rPr>
              <a:t>)</a:t>
            </a:r>
          </a:p>
        </p:txBody>
      </p:sp>
      <p:sp>
        <p:nvSpPr>
          <p:cNvPr id="6" name="Rounded Rectangle 5"/>
          <p:cNvSpPr/>
          <p:nvPr/>
        </p:nvSpPr>
        <p:spPr>
          <a:xfrm>
            <a:off x="1689100" y="4480000"/>
            <a:ext cx="9455325" cy="340000"/>
          </a:xfrm>
          <a:prstGeom prst="roundRect">
            <a:avLst>
              <a:gd name="adj" fmla="val 50000"/>
            </a:avLst>
          </a:prstGeom>
          <a:solidFill>
            <a:srgbClr val="00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TERRAFORM</a:t>
            </a:r>
          </a:p>
        </p:txBody>
      </p:sp>
      <p:sp>
        <p:nvSpPr>
          <p:cNvPr id="7" name="Rounded Rectangle 6"/>
          <p:cNvSpPr/>
          <p:nvPr/>
        </p:nvSpPr>
        <p:spPr>
          <a:xfrm>
            <a:off x="11404425" y="4480000"/>
            <a:ext cx="9455325" cy="340000"/>
          </a:xfrm>
          <a:prstGeom prst="roundRect">
            <a:avLst>
              <a:gd name="adj" fmla="val 50000"/>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200" b="1">
                <a:solidFill>
                  <a:srgbClr val="FFFFFF"/>
                </a:solidFill>
                <a:latin typeface="Calibri"/>
              </a:rPr>
              <a:t>PULUMI</a:t>
            </a:r>
          </a:p>
        </p:txBody>
      </p:sp>
      <p:sp>
        <p:nvSpPr>
          <p:cNvPr id="8" name="Rounded Rectangle 7"/>
          <p:cNvSpPr/>
          <p:nvPr/>
        </p:nvSpPr>
        <p:spPr>
          <a:xfrm>
            <a:off x="1689100"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9" name="Rounded Rectangle 8"/>
          <p:cNvSpPr/>
          <p:nvPr/>
        </p:nvSpPr>
        <p:spPr>
          <a:xfrm>
            <a:off x="1689100"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0" name="Rectangle 9"/>
          <p:cNvSpPr/>
          <p:nvPr/>
        </p:nvSpPr>
        <p:spPr>
          <a:xfrm>
            <a:off x="1689100"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1" name="Oval 10"/>
          <p:cNvSpPr/>
          <p:nvPr/>
        </p:nvSpPr>
        <p:spPr>
          <a:xfrm>
            <a:off x="1869100"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2" name="Oval 11"/>
          <p:cNvSpPr/>
          <p:nvPr/>
        </p:nvSpPr>
        <p:spPr>
          <a:xfrm>
            <a:off x="2109100"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3" name="Oval 12"/>
          <p:cNvSpPr/>
          <p:nvPr/>
        </p:nvSpPr>
        <p:spPr>
          <a:xfrm>
            <a:off x="2349100"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4" name="TextBox 13"/>
          <p:cNvSpPr txBox="1"/>
          <p:nvPr/>
        </p:nvSpPr>
        <p:spPr>
          <a:xfrm>
            <a:off x="5644757" y="4945000"/>
            <a:ext cx="1544012" cy="461665"/>
          </a:xfrm>
          <a:prstGeom prst="rect">
            <a:avLst/>
          </a:prstGeom>
          <a:noFill/>
        </p:spPr>
        <p:txBody>
          <a:bodyPr wrap="none">
            <a:spAutoFit/>
          </a:bodyPr>
          <a:lstStyle/>
          <a:p>
            <a:pPr algn="ctr"/>
            <a:r>
              <a:rPr sz="2400">
                <a:solidFill>
                  <a:srgbClr val="595959"/>
                </a:solidFill>
                <a:latin typeface="Consolas"/>
              </a:rPr>
              <a:t>main1.tf</a:t>
            </a:r>
          </a:p>
        </p:txBody>
      </p:sp>
      <p:sp>
        <p:nvSpPr>
          <p:cNvPr id="15" name="TextBox 14"/>
          <p:cNvSpPr txBox="1"/>
          <p:nvPr/>
        </p:nvSpPr>
        <p:spPr>
          <a:xfrm>
            <a:off x="1869100" y="5380000"/>
            <a:ext cx="9115325" cy="6286336"/>
          </a:xfrm>
          <a:prstGeom prst="rect">
            <a:avLst/>
          </a:prstGeom>
          <a:noFill/>
        </p:spPr>
        <p:txBody>
          <a:bodyPr wrap="square" anchor="t">
            <a:spAutoFit/>
          </a:bodyPr>
          <a:lstStyle/>
          <a:p>
            <a:pPr algn="l">
              <a:spcBef>
                <a:spcPts val="0"/>
              </a:spcBef>
              <a:spcAft>
                <a:spcPts val="250"/>
              </a:spcAft>
            </a:pPr>
            <a:r>
              <a:rPr sz="2000" b="1" i="0" dirty="0">
                <a:solidFill>
                  <a:srgbClr val="F5AC00"/>
                </a:solidFill>
                <a:latin typeface="Consolas"/>
              </a:rPr>
              <a:t>resource</a:t>
            </a:r>
            <a:r>
              <a:rPr sz="2000" b="0" i="0" dirty="0">
                <a:solidFill>
                  <a:srgbClr val="262626"/>
                </a:solidFill>
                <a:latin typeface="Consolas"/>
              </a:rPr>
              <a:t> "</a:t>
            </a:r>
            <a:r>
              <a:rPr sz="2000" b="0" i="1" dirty="0" err="1">
                <a:solidFill>
                  <a:srgbClr val="218CD6"/>
                </a:solidFill>
                <a:latin typeface="Consolas"/>
              </a:rPr>
              <a:t>random_pet</a:t>
            </a:r>
            <a:r>
              <a:rPr sz="2000" b="0" i="0" dirty="0">
                <a:solidFill>
                  <a:srgbClr val="262626"/>
                </a:solidFill>
                <a:latin typeface="Consolas"/>
              </a:rPr>
              <a:t>" "</a:t>
            </a:r>
            <a:r>
              <a:rPr sz="2000" b="0" i="0" dirty="0" err="1">
                <a:solidFill>
                  <a:srgbClr val="262626"/>
                </a:solidFill>
                <a:latin typeface="Consolas"/>
              </a:rPr>
              <a:t>usuario</a:t>
            </a:r>
            <a:r>
              <a:rPr sz="2000" b="0" i="0" dirty="0">
                <a:solidFill>
                  <a:srgbClr val="262626"/>
                </a:solidFill>
                <a:latin typeface="Consolas"/>
              </a:rPr>
              <a:t>" {</a:t>
            </a:r>
          </a:p>
          <a:p>
            <a:pPr algn="l">
              <a:spcBef>
                <a:spcPts val="0"/>
              </a:spcBef>
              <a:spcAft>
                <a:spcPts val="250"/>
              </a:spcAft>
            </a:pPr>
            <a:r>
              <a:rPr sz="2000" b="0" i="0" dirty="0">
                <a:solidFill>
                  <a:srgbClr val="262626"/>
                </a:solidFill>
                <a:latin typeface="Consolas"/>
              </a:rPr>
              <a:t>  length = 2</a:t>
            </a:r>
          </a:p>
          <a:p>
            <a:pPr algn="l">
              <a:spcBef>
                <a:spcPts val="0"/>
              </a:spcBef>
              <a:spcAft>
                <a:spcPts val="250"/>
              </a:spcAft>
            </a:pPr>
            <a:r>
              <a:rPr sz="2000" b="0" i="0" dirty="0">
                <a:solidFill>
                  <a:srgbClr val="262626"/>
                </a:solidFill>
                <a:latin typeface="Consolas"/>
              </a:rPr>
              <a:t>  separator = "_"</a:t>
            </a:r>
          </a:p>
          <a:p>
            <a:pPr algn="l">
              <a:spcBef>
                <a:spcPts val="0"/>
              </a:spcBef>
              <a:spcAft>
                <a:spcPts val="250"/>
              </a:spcAft>
            </a:pPr>
            <a:r>
              <a:rPr sz="2000" b="0" i="0" dirty="0">
                <a:solidFill>
                  <a:srgbClr val="262626"/>
                </a:solidFill>
                <a:latin typeface="Consolas"/>
              </a:rPr>
              <a:t>}</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1" i="0" dirty="0">
                <a:solidFill>
                  <a:srgbClr val="F5AC00"/>
                </a:solidFill>
                <a:latin typeface="Consolas"/>
              </a:rPr>
              <a:t>resource</a:t>
            </a:r>
            <a:r>
              <a:rPr sz="2000" b="0" i="0" dirty="0">
                <a:solidFill>
                  <a:srgbClr val="262626"/>
                </a:solidFill>
                <a:latin typeface="Consolas"/>
              </a:rPr>
              <a:t> "</a:t>
            </a:r>
            <a:r>
              <a:rPr sz="2000" b="0" i="1" dirty="0" err="1">
                <a:solidFill>
                  <a:srgbClr val="218CD6"/>
                </a:solidFill>
                <a:latin typeface="Consolas"/>
              </a:rPr>
              <a:t>random_password</a:t>
            </a:r>
            <a:r>
              <a:rPr sz="2000" b="0" i="0" dirty="0">
                <a:solidFill>
                  <a:srgbClr val="262626"/>
                </a:solidFill>
                <a:latin typeface="Consolas"/>
              </a:rPr>
              <a:t>" "</a:t>
            </a:r>
            <a:r>
              <a:rPr sz="2000" b="0" i="0" dirty="0" err="1">
                <a:solidFill>
                  <a:srgbClr val="262626"/>
                </a:solidFill>
                <a:latin typeface="Consolas"/>
              </a:rPr>
              <a:t>senha</a:t>
            </a:r>
            <a:r>
              <a:rPr sz="2000" b="0" i="0" dirty="0">
                <a:solidFill>
                  <a:srgbClr val="262626"/>
                </a:solidFill>
                <a:latin typeface="Consolas"/>
              </a:rPr>
              <a:t>" {</a:t>
            </a:r>
          </a:p>
          <a:p>
            <a:pPr algn="l">
              <a:spcBef>
                <a:spcPts val="0"/>
              </a:spcBef>
              <a:spcAft>
                <a:spcPts val="250"/>
              </a:spcAft>
            </a:pPr>
            <a:r>
              <a:rPr sz="2000" b="0" i="0" dirty="0">
                <a:solidFill>
                  <a:srgbClr val="262626"/>
                </a:solidFill>
                <a:latin typeface="Consolas"/>
              </a:rPr>
              <a:t>  length = 16</a:t>
            </a:r>
          </a:p>
          <a:p>
            <a:pPr algn="l">
              <a:spcBef>
                <a:spcPts val="0"/>
              </a:spcBef>
              <a:spcAft>
                <a:spcPts val="250"/>
              </a:spcAft>
            </a:pPr>
            <a:r>
              <a:rPr sz="2000" b="0" i="0" dirty="0">
                <a:solidFill>
                  <a:srgbClr val="262626"/>
                </a:solidFill>
                <a:latin typeface="Consolas"/>
              </a:rPr>
              <a:t>  special = </a:t>
            </a:r>
            <a:r>
              <a:rPr sz="2000" b="1" i="0" dirty="0">
                <a:solidFill>
                  <a:srgbClr val="F5AC00"/>
                </a:solidFill>
                <a:latin typeface="Consolas"/>
              </a:rPr>
              <a:t>true</a:t>
            </a:r>
          </a:p>
          <a:p>
            <a:pPr algn="l">
              <a:spcBef>
                <a:spcPts val="0"/>
              </a:spcBef>
              <a:spcAft>
                <a:spcPts val="250"/>
              </a:spcAft>
            </a:pPr>
            <a:r>
              <a:rPr sz="2000" b="0" i="0" dirty="0">
                <a:solidFill>
                  <a:srgbClr val="262626"/>
                </a:solidFill>
                <a:latin typeface="Consolas"/>
              </a:rPr>
              <a:t>}</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1" i="0" dirty="0">
                <a:solidFill>
                  <a:srgbClr val="F5AC00"/>
                </a:solidFill>
                <a:latin typeface="Consolas"/>
              </a:rPr>
              <a:t>resource</a:t>
            </a:r>
            <a:r>
              <a:rPr sz="2000" b="0" i="0" dirty="0">
                <a:solidFill>
                  <a:srgbClr val="262626"/>
                </a:solidFill>
                <a:latin typeface="Consolas"/>
              </a:rPr>
              <a:t> "</a:t>
            </a:r>
            <a:r>
              <a:rPr sz="2000" b="0" i="1" dirty="0" err="1">
                <a:solidFill>
                  <a:srgbClr val="218CD6"/>
                </a:solidFill>
                <a:latin typeface="Consolas"/>
              </a:rPr>
              <a:t>local_sensitive_file</a:t>
            </a:r>
            <a:r>
              <a:rPr sz="2000" b="0" i="0" dirty="0">
                <a:solidFill>
                  <a:srgbClr val="262626"/>
                </a:solidFill>
                <a:latin typeface="Consolas"/>
              </a:rPr>
              <a:t>" "</a:t>
            </a:r>
            <a:r>
              <a:rPr sz="2000" b="0" i="0" dirty="0" err="1">
                <a:solidFill>
                  <a:srgbClr val="262626"/>
                </a:solidFill>
                <a:latin typeface="Consolas"/>
              </a:rPr>
              <a:t>credenciais</a:t>
            </a:r>
            <a:r>
              <a:rPr sz="2000" b="0" i="0" dirty="0">
                <a:solidFill>
                  <a:srgbClr val="262626"/>
                </a:solidFill>
                <a:latin typeface="Consolas"/>
              </a:rPr>
              <a:t>" {</a:t>
            </a:r>
          </a:p>
          <a:p>
            <a:pPr algn="l">
              <a:spcBef>
                <a:spcPts val="0"/>
              </a:spcBef>
              <a:spcAft>
                <a:spcPts val="250"/>
              </a:spcAft>
            </a:pPr>
            <a:r>
              <a:rPr sz="2000" b="0" i="0" dirty="0">
                <a:solidFill>
                  <a:srgbClr val="262626"/>
                </a:solidFill>
                <a:latin typeface="Consolas"/>
              </a:rPr>
              <a:t>  filename = "credenciais.txt"</a:t>
            </a:r>
          </a:p>
          <a:p>
            <a:pPr algn="l">
              <a:spcBef>
                <a:spcPts val="0"/>
              </a:spcBef>
              <a:spcAft>
                <a:spcPts val="250"/>
              </a:spcAft>
            </a:pPr>
            <a:r>
              <a:rPr sz="2000" b="0" i="0" dirty="0">
                <a:solidFill>
                  <a:srgbClr val="262626"/>
                </a:solidFill>
                <a:latin typeface="Consolas"/>
              </a:rPr>
              <a:t>  content = "</a:t>
            </a:r>
            <a:r>
              <a:rPr sz="2000" b="0" i="0" dirty="0" err="1">
                <a:solidFill>
                  <a:srgbClr val="262626"/>
                </a:solidFill>
                <a:latin typeface="Consolas"/>
              </a:rPr>
              <a:t>usuario</a:t>
            </a:r>
            <a:r>
              <a:rPr sz="2000" b="0" i="0" dirty="0">
                <a:solidFill>
                  <a:srgbClr val="262626"/>
                </a:solidFill>
                <a:latin typeface="Consolas"/>
              </a:rPr>
              <a:t>: ${random_pet.usuario.id}..."</a:t>
            </a:r>
          </a:p>
          <a:p>
            <a:pPr algn="l">
              <a:spcBef>
                <a:spcPts val="0"/>
              </a:spcBef>
              <a:spcAft>
                <a:spcPts val="250"/>
              </a:spcAft>
            </a:pPr>
            <a:r>
              <a:rPr sz="2000" b="0" i="0" dirty="0">
                <a:solidFill>
                  <a:srgbClr val="262626"/>
                </a:solidFill>
                <a:latin typeface="Consolas"/>
              </a:rPr>
              <a:t>}</a:t>
            </a:r>
          </a:p>
          <a:p>
            <a:pPr algn="l">
              <a:spcBef>
                <a:spcPts val="0"/>
              </a:spcBef>
              <a:spcAft>
                <a:spcPts val="250"/>
              </a:spcAft>
            </a:pPr>
            <a:endParaRPr sz="2000" b="0" i="0" dirty="0">
              <a:solidFill>
                <a:srgbClr val="262626"/>
              </a:solidFill>
              <a:latin typeface="Consolas"/>
            </a:endParaRPr>
          </a:p>
          <a:p>
            <a:pPr algn="l">
              <a:spcBef>
                <a:spcPts val="0"/>
              </a:spcBef>
              <a:spcAft>
                <a:spcPts val="250"/>
              </a:spcAft>
            </a:pPr>
            <a:r>
              <a:rPr sz="2000" b="1" i="0" dirty="0">
                <a:solidFill>
                  <a:srgbClr val="F5AC00"/>
                </a:solidFill>
                <a:latin typeface="Consolas"/>
              </a:rPr>
              <a:t>output</a:t>
            </a:r>
            <a:r>
              <a:rPr sz="2000" b="0" i="0" dirty="0">
                <a:solidFill>
                  <a:srgbClr val="262626"/>
                </a:solidFill>
                <a:latin typeface="Consolas"/>
              </a:rPr>
              <a:t> "</a:t>
            </a:r>
            <a:r>
              <a:rPr sz="2000" b="0" i="0" dirty="0" err="1">
                <a:solidFill>
                  <a:srgbClr val="262626"/>
                </a:solidFill>
                <a:latin typeface="Consolas"/>
              </a:rPr>
              <a:t>usuario_gerado</a:t>
            </a:r>
            <a:r>
              <a:rPr sz="2000" b="0" i="0" dirty="0">
                <a:solidFill>
                  <a:srgbClr val="262626"/>
                </a:solidFill>
                <a:latin typeface="Consolas"/>
              </a:rPr>
              <a:t>" {</a:t>
            </a:r>
          </a:p>
          <a:p>
            <a:pPr algn="l">
              <a:spcBef>
                <a:spcPts val="0"/>
              </a:spcBef>
              <a:spcAft>
                <a:spcPts val="250"/>
              </a:spcAft>
            </a:pPr>
            <a:r>
              <a:rPr sz="2000" b="0" i="0" dirty="0">
                <a:solidFill>
                  <a:srgbClr val="262626"/>
                </a:solidFill>
                <a:latin typeface="Consolas"/>
              </a:rPr>
              <a:t>  </a:t>
            </a:r>
            <a:r>
              <a:rPr sz="2000" b="1" i="0" dirty="0">
                <a:solidFill>
                  <a:srgbClr val="F5AC00"/>
                </a:solidFill>
                <a:latin typeface="Consolas"/>
              </a:rPr>
              <a:t>value</a:t>
            </a:r>
            <a:r>
              <a:rPr sz="2000" b="0" i="0" dirty="0">
                <a:solidFill>
                  <a:srgbClr val="262626"/>
                </a:solidFill>
                <a:latin typeface="Consolas"/>
              </a:rPr>
              <a:t> = random_pet.usuario.id</a:t>
            </a:r>
          </a:p>
          <a:p>
            <a:pPr algn="l">
              <a:spcBef>
                <a:spcPts val="0"/>
              </a:spcBef>
              <a:spcAft>
                <a:spcPts val="250"/>
              </a:spcAft>
            </a:pPr>
            <a:r>
              <a:rPr sz="2000" b="0" i="0" dirty="0">
                <a:solidFill>
                  <a:srgbClr val="262626"/>
                </a:solidFill>
                <a:latin typeface="Consolas"/>
              </a:rPr>
              <a:t>}</a:t>
            </a:r>
          </a:p>
        </p:txBody>
      </p:sp>
      <p:sp>
        <p:nvSpPr>
          <p:cNvPr id="16" name="Rounded Rectangle 15"/>
          <p:cNvSpPr/>
          <p:nvPr/>
        </p:nvSpPr>
        <p:spPr>
          <a:xfrm>
            <a:off x="11404425"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7" name="Rounded Rectangle 16"/>
          <p:cNvSpPr/>
          <p:nvPr/>
        </p:nvSpPr>
        <p:spPr>
          <a:xfrm>
            <a:off x="11404425"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8" name="Rectangle 17"/>
          <p:cNvSpPr/>
          <p:nvPr/>
        </p:nvSpPr>
        <p:spPr>
          <a:xfrm>
            <a:off x="11404425"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19" name="Oval 18"/>
          <p:cNvSpPr/>
          <p:nvPr/>
        </p:nvSpPr>
        <p:spPr>
          <a:xfrm>
            <a:off x="11584425"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0" name="Oval 19"/>
          <p:cNvSpPr/>
          <p:nvPr/>
        </p:nvSpPr>
        <p:spPr>
          <a:xfrm>
            <a:off x="11824425"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1" name="Oval 20"/>
          <p:cNvSpPr/>
          <p:nvPr/>
        </p:nvSpPr>
        <p:spPr>
          <a:xfrm>
            <a:off x="12064425"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a:p>
        </p:txBody>
      </p:sp>
      <p:sp>
        <p:nvSpPr>
          <p:cNvPr id="22" name="TextBox 21"/>
          <p:cNvSpPr txBox="1"/>
          <p:nvPr/>
        </p:nvSpPr>
        <p:spPr>
          <a:xfrm>
            <a:off x="15360082" y="4945000"/>
            <a:ext cx="1544012" cy="461665"/>
          </a:xfrm>
          <a:prstGeom prst="rect">
            <a:avLst/>
          </a:prstGeom>
          <a:noFill/>
        </p:spPr>
        <p:txBody>
          <a:bodyPr wrap="none">
            <a:spAutoFit/>
          </a:bodyPr>
          <a:lstStyle/>
          <a:p>
            <a:pPr algn="ctr"/>
            <a:r>
              <a:rPr sz="2400">
                <a:solidFill>
                  <a:srgbClr val="595959"/>
                </a:solidFill>
                <a:latin typeface="Consolas"/>
              </a:rPr>
              <a:t>main1.py</a:t>
            </a:r>
          </a:p>
        </p:txBody>
      </p:sp>
      <p:sp>
        <p:nvSpPr>
          <p:cNvPr id="23" name="TextBox 22"/>
          <p:cNvSpPr txBox="1"/>
          <p:nvPr/>
        </p:nvSpPr>
        <p:spPr>
          <a:xfrm>
            <a:off x="11584425" y="5380000"/>
            <a:ext cx="9115325" cy="6286336"/>
          </a:xfrm>
          <a:prstGeom prst="rect">
            <a:avLst/>
          </a:prstGeom>
          <a:noFill/>
        </p:spPr>
        <p:txBody>
          <a:bodyPr wrap="square" anchor="t">
            <a:spAutoFit/>
          </a:bodyPr>
          <a:lstStyle/>
          <a:p>
            <a:pPr algn="l">
              <a:spcBef>
                <a:spcPts val="0"/>
              </a:spcBef>
              <a:spcAft>
                <a:spcPts val="250"/>
              </a:spcAft>
            </a:pPr>
            <a:r>
              <a:rPr sz="2000" b="1" i="0">
                <a:solidFill>
                  <a:srgbClr val="F5AC00"/>
                </a:solidFill>
                <a:latin typeface="Consolas"/>
              </a:rPr>
              <a:t>import</a:t>
            </a:r>
            <a:r>
              <a:rPr sz="2000" b="0" i="0">
                <a:solidFill>
                  <a:srgbClr val="262626"/>
                </a:solidFill>
                <a:latin typeface="Consolas"/>
              </a:rPr>
              <a:t> pulumi</a:t>
            </a:r>
          </a:p>
          <a:p>
            <a:pPr algn="l">
              <a:spcBef>
                <a:spcPts val="0"/>
              </a:spcBef>
              <a:spcAft>
                <a:spcPts val="250"/>
              </a:spcAft>
            </a:pPr>
            <a:r>
              <a:rPr sz="2000" b="1" i="0">
                <a:solidFill>
                  <a:srgbClr val="F5AC00"/>
                </a:solidFill>
                <a:latin typeface="Consolas"/>
              </a:rPr>
              <a:t>import</a:t>
            </a:r>
            <a:r>
              <a:rPr sz="2000" b="0" i="0">
                <a:solidFill>
                  <a:srgbClr val="262626"/>
                </a:solidFill>
                <a:latin typeface="Consolas"/>
              </a:rPr>
              <a:t> pulumi_random </a:t>
            </a:r>
            <a:r>
              <a:rPr sz="2000" b="1" i="0">
                <a:solidFill>
                  <a:srgbClr val="F5AC00"/>
                </a:solidFill>
                <a:latin typeface="Consolas"/>
              </a:rPr>
              <a:t>as</a:t>
            </a:r>
            <a:r>
              <a:rPr sz="2000" b="0" i="0">
                <a:solidFill>
                  <a:srgbClr val="262626"/>
                </a:solidFill>
                <a:latin typeface="Consolas"/>
              </a:rPr>
              <a:t> random</a:t>
            </a:r>
          </a:p>
          <a:p>
            <a:pPr algn="l">
              <a:spcBef>
                <a:spcPts val="0"/>
              </a:spcBef>
              <a:spcAft>
                <a:spcPts val="250"/>
              </a:spcAft>
            </a:pPr>
            <a:endParaRPr sz="2000" b="0" i="0">
              <a:solidFill>
                <a:srgbClr val="262626"/>
              </a:solidFill>
              <a:latin typeface="Consolas"/>
            </a:endParaRPr>
          </a:p>
          <a:p>
            <a:pPr algn="l">
              <a:spcBef>
                <a:spcPts val="0"/>
              </a:spcBef>
              <a:spcAft>
                <a:spcPts val="250"/>
              </a:spcAft>
            </a:pPr>
            <a:r>
              <a:rPr sz="2000" b="0" i="0">
                <a:solidFill>
                  <a:srgbClr val="262626"/>
                </a:solidFill>
                <a:latin typeface="Consolas"/>
              </a:rPr>
              <a:t>usuario = random.RandomPet(</a:t>
            </a:r>
            <a:r>
              <a:rPr sz="2000" b="0" i="0">
                <a:solidFill>
                  <a:srgbClr val="2E7D32"/>
                </a:solidFill>
                <a:latin typeface="Consolas"/>
              </a:rPr>
              <a:t>"usuario"</a:t>
            </a:r>
            <a:r>
              <a:rPr sz="2000" b="0" i="0">
                <a:solidFill>
                  <a:srgbClr val="262626"/>
                </a:solidFill>
                <a:latin typeface="Consolas"/>
              </a:rPr>
              <a:t>,</a:t>
            </a:r>
          </a:p>
          <a:p>
            <a:pPr algn="l">
              <a:spcBef>
                <a:spcPts val="0"/>
              </a:spcBef>
              <a:spcAft>
                <a:spcPts val="250"/>
              </a:spcAft>
            </a:pPr>
            <a:r>
              <a:rPr sz="2000" b="0" i="0">
                <a:solidFill>
                  <a:srgbClr val="262626"/>
                </a:solidFill>
                <a:latin typeface="Consolas"/>
              </a:rPr>
              <a:t>    length=2, separator=</a:t>
            </a:r>
            <a:r>
              <a:rPr sz="2000" b="0" i="0">
                <a:solidFill>
                  <a:srgbClr val="2E7D32"/>
                </a:solidFill>
                <a:latin typeface="Consolas"/>
              </a:rPr>
              <a:t>"_"</a:t>
            </a:r>
            <a:r>
              <a:rPr sz="2000" b="0" i="0">
                <a:solidFill>
                  <a:srgbClr val="262626"/>
                </a:solidFill>
                <a:latin typeface="Consolas"/>
              </a:rPr>
              <a:t>)</a:t>
            </a:r>
          </a:p>
          <a:p>
            <a:pPr algn="l">
              <a:spcBef>
                <a:spcPts val="0"/>
              </a:spcBef>
              <a:spcAft>
                <a:spcPts val="250"/>
              </a:spcAft>
            </a:pPr>
            <a:endParaRPr sz="2000" b="0" i="0">
              <a:solidFill>
                <a:srgbClr val="262626"/>
              </a:solidFill>
              <a:latin typeface="Consolas"/>
            </a:endParaRPr>
          </a:p>
          <a:p>
            <a:pPr algn="l">
              <a:spcBef>
                <a:spcPts val="0"/>
              </a:spcBef>
              <a:spcAft>
                <a:spcPts val="250"/>
              </a:spcAft>
            </a:pPr>
            <a:r>
              <a:rPr sz="2000" b="0" i="0">
                <a:solidFill>
                  <a:srgbClr val="262626"/>
                </a:solidFill>
                <a:latin typeface="Consolas"/>
              </a:rPr>
              <a:t>senha = random.RandomPassword(</a:t>
            </a:r>
            <a:r>
              <a:rPr sz="2000" b="0" i="0">
                <a:solidFill>
                  <a:srgbClr val="2E7D32"/>
                </a:solidFill>
                <a:latin typeface="Consolas"/>
              </a:rPr>
              <a:t>"senha"</a:t>
            </a:r>
            <a:r>
              <a:rPr sz="2000" b="0" i="0">
                <a:solidFill>
                  <a:srgbClr val="262626"/>
                </a:solidFill>
                <a:latin typeface="Consolas"/>
              </a:rPr>
              <a:t>,</a:t>
            </a:r>
          </a:p>
          <a:p>
            <a:pPr algn="l">
              <a:spcBef>
                <a:spcPts val="0"/>
              </a:spcBef>
              <a:spcAft>
                <a:spcPts val="250"/>
              </a:spcAft>
            </a:pPr>
            <a:r>
              <a:rPr sz="2000" b="0" i="0">
                <a:solidFill>
                  <a:srgbClr val="262626"/>
                </a:solidFill>
                <a:latin typeface="Consolas"/>
              </a:rPr>
              <a:t>    length=16, special=</a:t>
            </a:r>
            <a:r>
              <a:rPr sz="2000" b="1" i="0">
                <a:solidFill>
                  <a:srgbClr val="F5AC00"/>
                </a:solidFill>
                <a:latin typeface="Consolas"/>
              </a:rPr>
              <a:t>True</a:t>
            </a:r>
            <a:r>
              <a:rPr sz="2000" b="0" i="0">
                <a:solidFill>
                  <a:srgbClr val="262626"/>
                </a:solidFill>
                <a:latin typeface="Consolas"/>
              </a:rPr>
              <a:t>)</a:t>
            </a:r>
          </a:p>
          <a:p>
            <a:pPr algn="l">
              <a:spcBef>
                <a:spcPts val="0"/>
              </a:spcBef>
              <a:spcAft>
                <a:spcPts val="250"/>
              </a:spcAft>
            </a:pPr>
            <a:endParaRPr sz="2000" b="0" i="0">
              <a:solidFill>
                <a:srgbClr val="262626"/>
              </a:solidFill>
              <a:latin typeface="Consolas"/>
            </a:endParaRPr>
          </a:p>
          <a:p>
            <a:pPr algn="l">
              <a:spcBef>
                <a:spcPts val="0"/>
              </a:spcBef>
              <a:spcAft>
                <a:spcPts val="250"/>
              </a:spcAft>
            </a:pPr>
            <a:r>
              <a:rPr sz="2000" b="1" i="0">
                <a:solidFill>
                  <a:srgbClr val="F5AC00"/>
                </a:solidFill>
                <a:latin typeface="Consolas"/>
              </a:rPr>
              <a:t>def</a:t>
            </a:r>
            <a:r>
              <a:rPr sz="2000" b="0" i="0">
                <a:solidFill>
                  <a:srgbClr val="262626"/>
                </a:solidFill>
                <a:latin typeface="Consolas"/>
              </a:rPr>
              <a:t> salvar(vals):</a:t>
            </a:r>
          </a:p>
          <a:p>
            <a:pPr algn="l">
              <a:spcBef>
                <a:spcPts val="0"/>
              </a:spcBef>
              <a:spcAft>
                <a:spcPts val="250"/>
              </a:spcAft>
            </a:pPr>
            <a:r>
              <a:rPr sz="2000" b="0" i="0">
                <a:solidFill>
                  <a:srgbClr val="262626"/>
                </a:solidFill>
                <a:latin typeface="Consolas"/>
              </a:rPr>
              <a:t>    uid, pwd = vals</a:t>
            </a:r>
          </a:p>
          <a:p>
            <a:pPr algn="l">
              <a:spcBef>
                <a:spcPts val="0"/>
              </a:spcBef>
              <a:spcAft>
                <a:spcPts val="250"/>
              </a:spcAft>
            </a:pPr>
            <a:r>
              <a:rPr sz="2000" b="0" i="0">
                <a:solidFill>
                  <a:srgbClr val="262626"/>
                </a:solidFill>
                <a:latin typeface="Consolas"/>
              </a:rPr>
              <a:t>    </a:t>
            </a:r>
            <a:r>
              <a:rPr sz="2000" b="1" i="0">
                <a:solidFill>
                  <a:srgbClr val="F5AC00"/>
                </a:solidFill>
                <a:latin typeface="Consolas"/>
              </a:rPr>
              <a:t>with</a:t>
            </a:r>
            <a:r>
              <a:rPr sz="2000" b="0" i="0">
                <a:solidFill>
                  <a:srgbClr val="262626"/>
                </a:solidFill>
                <a:latin typeface="Consolas"/>
              </a:rPr>
              <a:t> </a:t>
            </a:r>
            <a:r>
              <a:rPr sz="2000" b="1" i="0">
                <a:solidFill>
                  <a:srgbClr val="F5AC00"/>
                </a:solidFill>
                <a:latin typeface="Consolas"/>
              </a:rPr>
              <a:t>open</a:t>
            </a:r>
            <a:r>
              <a:rPr sz="2000" b="0" i="0">
                <a:solidFill>
                  <a:srgbClr val="262626"/>
                </a:solidFill>
                <a:latin typeface="Consolas"/>
              </a:rPr>
              <a:t>(</a:t>
            </a:r>
            <a:r>
              <a:rPr sz="2000" b="0" i="0">
                <a:solidFill>
                  <a:srgbClr val="2E7D32"/>
                </a:solidFill>
                <a:latin typeface="Consolas"/>
              </a:rPr>
              <a:t>"credenciais.txt"</a:t>
            </a:r>
            <a:r>
              <a:rPr sz="2000" b="0" i="0">
                <a:solidFill>
                  <a:srgbClr val="262626"/>
                </a:solidFill>
                <a:latin typeface="Consolas"/>
              </a:rPr>
              <a:t>, </a:t>
            </a:r>
            <a:r>
              <a:rPr sz="2000" b="0" i="0">
                <a:solidFill>
                  <a:srgbClr val="2E7D32"/>
                </a:solidFill>
                <a:latin typeface="Consolas"/>
              </a:rPr>
              <a:t>"w"</a:t>
            </a:r>
            <a:r>
              <a:rPr sz="2000" b="0" i="0">
                <a:solidFill>
                  <a:srgbClr val="262626"/>
                </a:solidFill>
                <a:latin typeface="Consolas"/>
              </a:rPr>
              <a:t>) </a:t>
            </a:r>
            <a:r>
              <a:rPr sz="2000" b="1" i="0">
                <a:solidFill>
                  <a:srgbClr val="F5AC00"/>
                </a:solidFill>
                <a:latin typeface="Consolas"/>
              </a:rPr>
              <a:t>as</a:t>
            </a:r>
            <a:r>
              <a:rPr sz="2000" b="0" i="0">
                <a:solidFill>
                  <a:srgbClr val="262626"/>
                </a:solidFill>
                <a:latin typeface="Consolas"/>
              </a:rPr>
              <a:t> f:</a:t>
            </a:r>
          </a:p>
          <a:p>
            <a:pPr algn="l">
              <a:spcBef>
                <a:spcPts val="0"/>
              </a:spcBef>
              <a:spcAft>
                <a:spcPts val="250"/>
              </a:spcAft>
            </a:pPr>
            <a:r>
              <a:rPr sz="2000" b="0" i="0">
                <a:solidFill>
                  <a:srgbClr val="262626"/>
                </a:solidFill>
                <a:latin typeface="Consolas"/>
              </a:rPr>
              <a:t>        f.write(f</a:t>
            </a:r>
            <a:r>
              <a:rPr sz="2000" b="0" i="0">
                <a:solidFill>
                  <a:srgbClr val="2E7D32"/>
                </a:solidFill>
                <a:latin typeface="Consolas"/>
              </a:rPr>
              <a:t>"usuario: {uid}\nsenha: {pwd}"</a:t>
            </a:r>
            <a:r>
              <a:rPr sz="2000" b="0" i="0">
                <a:solidFill>
                  <a:srgbClr val="262626"/>
                </a:solidFill>
                <a:latin typeface="Consolas"/>
              </a:rPr>
              <a:t>)</a:t>
            </a:r>
          </a:p>
          <a:p>
            <a:pPr algn="l">
              <a:spcBef>
                <a:spcPts val="0"/>
              </a:spcBef>
              <a:spcAft>
                <a:spcPts val="250"/>
              </a:spcAft>
            </a:pPr>
            <a:endParaRPr sz="2000" b="0" i="0">
              <a:solidFill>
                <a:srgbClr val="262626"/>
              </a:solidFill>
              <a:latin typeface="Consolas"/>
            </a:endParaRPr>
          </a:p>
          <a:p>
            <a:pPr algn="l">
              <a:spcBef>
                <a:spcPts val="0"/>
              </a:spcBef>
              <a:spcAft>
                <a:spcPts val="250"/>
              </a:spcAft>
            </a:pPr>
            <a:r>
              <a:rPr sz="2000" b="0" i="0">
                <a:solidFill>
                  <a:srgbClr val="262626"/>
                </a:solidFill>
                <a:latin typeface="Consolas"/>
              </a:rPr>
              <a:t>pulumi.Output.all(usuario.id, senha.result)\</a:t>
            </a:r>
          </a:p>
          <a:p>
            <a:pPr algn="l">
              <a:spcBef>
                <a:spcPts val="0"/>
              </a:spcBef>
              <a:spcAft>
                <a:spcPts val="250"/>
              </a:spcAft>
            </a:pPr>
            <a:r>
              <a:rPr sz="2000" b="0" i="0">
                <a:solidFill>
                  <a:srgbClr val="262626"/>
                </a:solidFill>
                <a:latin typeface="Consolas"/>
              </a:rPr>
              <a:t>    .apply(salvar)</a:t>
            </a:r>
          </a:p>
          <a:p>
            <a:pPr algn="l">
              <a:spcBef>
                <a:spcPts val="0"/>
              </a:spcBef>
              <a:spcAft>
                <a:spcPts val="250"/>
              </a:spcAft>
            </a:pPr>
            <a:endParaRPr sz="2000" b="0" i="0">
              <a:solidFill>
                <a:srgbClr val="262626"/>
              </a:solidFill>
              <a:latin typeface="Consolas"/>
            </a:endParaRPr>
          </a:p>
          <a:p>
            <a:pPr algn="l">
              <a:spcBef>
                <a:spcPts val="0"/>
              </a:spcBef>
              <a:spcAft>
                <a:spcPts val="250"/>
              </a:spcAft>
            </a:pPr>
            <a:r>
              <a:rPr sz="2000" b="0" i="0">
                <a:solidFill>
                  <a:srgbClr val="262626"/>
                </a:solidFill>
                <a:latin typeface="Consolas"/>
              </a:rPr>
              <a:t>pulumi.export(</a:t>
            </a:r>
            <a:r>
              <a:rPr sz="2000" b="0" i="0">
                <a:solidFill>
                  <a:srgbClr val="2E7D32"/>
                </a:solidFill>
                <a:latin typeface="Consolas"/>
              </a:rPr>
              <a:t>"usuario_gerado"</a:t>
            </a:r>
            <a:r>
              <a:rPr sz="2000" b="0" i="0">
                <a:solidFill>
                  <a:srgbClr val="262626"/>
                </a:solidFill>
                <a:latin typeface="Consolas"/>
              </a:rPr>
              <a:t>, usuario.id)</a:t>
            </a:r>
          </a:p>
        </p:txBody>
      </p:sp>
      <p:cxnSp>
        <p:nvCxnSpPr>
          <p:cNvPr id="25" name="Conector de Seta Reta 24">
            <a:extLst>
              <a:ext uri="{FF2B5EF4-FFF2-40B4-BE49-F238E27FC236}">
                <a16:creationId xmlns:a16="http://schemas.microsoft.com/office/drawing/2014/main" id="{1762681E-F2D6-BE51-EA09-E8D0C4D563DD}"/>
              </a:ext>
            </a:extLst>
          </p:cNvPr>
          <p:cNvCxnSpPr/>
          <p:nvPr/>
        </p:nvCxnSpPr>
        <p:spPr>
          <a:xfrm>
            <a:off x="6715845" y="5547872"/>
            <a:ext cx="4868580" cy="106808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Conector de Seta Reta 27">
            <a:extLst>
              <a:ext uri="{FF2B5EF4-FFF2-40B4-BE49-F238E27FC236}">
                <a16:creationId xmlns:a16="http://schemas.microsoft.com/office/drawing/2014/main" id="{F4034860-A81E-AB1B-F30C-6F0A56AD353E}"/>
              </a:ext>
            </a:extLst>
          </p:cNvPr>
          <p:cNvCxnSpPr>
            <a:cxnSpLocks/>
          </p:cNvCxnSpPr>
          <p:nvPr/>
        </p:nvCxnSpPr>
        <p:spPr>
          <a:xfrm>
            <a:off x="7046259" y="7343825"/>
            <a:ext cx="4538166" cy="27873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Conector de Seta Reta 30">
            <a:extLst>
              <a:ext uri="{FF2B5EF4-FFF2-40B4-BE49-F238E27FC236}">
                <a16:creationId xmlns:a16="http://schemas.microsoft.com/office/drawing/2014/main" id="{9911D744-752D-58C7-CA1D-A09749FAB0BA}"/>
              </a:ext>
            </a:extLst>
          </p:cNvPr>
          <p:cNvCxnSpPr>
            <a:cxnSpLocks/>
          </p:cNvCxnSpPr>
          <p:nvPr/>
        </p:nvCxnSpPr>
        <p:spPr>
          <a:xfrm flipV="1">
            <a:off x="8701411" y="8721378"/>
            <a:ext cx="2883014" cy="28808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Conector de Seta Reta 32">
            <a:extLst>
              <a:ext uri="{FF2B5EF4-FFF2-40B4-BE49-F238E27FC236}">
                <a16:creationId xmlns:a16="http://schemas.microsoft.com/office/drawing/2014/main" id="{A5C18C86-0C31-3934-2B72-EE862E5427EA}"/>
              </a:ext>
            </a:extLst>
          </p:cNvPr>
          <p:cNvCxnSpPr>
            <a:cxnSpLocks/>
          </p:cNvCxnSpPr>
          <p:nvPr/>
        </p:nvCxnSpPr>
        <p:spPr>
          <a:xfrm>
            <a:off x="6199735" y="10761939"/>
            <a:ext cx="5384690" cy="68727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Exemplo 1 — O Que Muda de Verdade</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random_pet e random_password:  </a:t>
            </a:r>
            <a:r>
              <a:rPr sz="2800">
                <a:solidFill>
                  <a:srgbClr val="262626"/>
                </a:solidFill>
                <a:latin typeface="Calibri"/>
              </a:rPr>
              <a:t>viram RandomPet e RandomPassword do pulumi_random — nome e parâmetros quase idênticos, porque vêm do mesmo schema.</a:t>
            </a:r>
          </a:p>
          <a:p>
            <a:pPr algn="l">
              <a:spcBef>
                <a:spcPts val="0"/>
              </a:spcBef>
              <a:spcAft>
                <a:spcPts val="2000"/>
              </a:spcAft>
            </a:pPr>
            <a:r>
              <a:rPr sz="2800" b="1">
                <a:solidFill>
                  <a:srgbClr val="004A8F"/>
                </a:solidFill>
                <a:latin typeface="Calibri"/>
              </a:rPr>
              <a:t>Sem provider "local":  </a:t>
            </a:r>
            <a:r>
              <a:rPr sz="2800">
                <a:solidFill>
                  <a:srgbClr val="262626"/>
                </a:solidFill>
                <a:latin typeface="Calibri"/>
              </a:rPr>
              <a:t>para escrever um arquivo, o Pulumi não precisa de um resource dedicado — você usa open() do Python direto, dentro de um .apply().</a:t>
            </a:r>
          </a:p>
          <a:p>
            <a:pPr algn="l">
              <a:spcBef>
                <a:spcPts val="0"/>
              </a:spcBef>
              <a:spcAft>
                <a:spcPts val="2000"/>
              </a:spcAft>
            </a:pPr>
            <a:r>
              <a:rPr sz="2800" b="1">
                <a:solidFill>
                  <a:srgbClr val="004A8F"/>
                </a:solidFill>
                <a:latin typeface="Calibri"/>
              </a:rPr>
              <a:t>senha.result já nasce "secret":  </a:t>
            </a:r>
            <a:r>
              <a:rPr sz="2800">
                <a:solidFill>
                  <a:srgbClr val="262626"/>
                </a:solidFill>
                <a:latin typeface="Calibri"/>
              </a:rPr>
              <a:t>o campo result de RandomPassword é automaticamente marcado como secreto pelo Pulumi (bridged do sensitive = true do Terraform) — mascarado no terminal e criptografado no state, sem flag extra.</a:t>
            </a:r>
          </a:p>
          <a:p>
            <a:pPr algn="l">
              <a:spcBef>
                <a:spcPts val="0"/>
              </a:spcBef>
              <a:spcAft>
                <a:spcPts val="2000"/>
              </a:spcAft>
            </a:pPr>
            <a:r>
              <a:rPr sz="2800" b="1">
                <a:solidFill>
                  <a:srgbClr val="004A8F"/>
                </a:solidFill>
                <a:latin typeface="Calibri"/>
              </a:rPr>
              <a:t>Output.all(...).apply(...):  </a:t>
            </a:r>
            <a:r>
              <a:rPr sz="2800">
                <a:solidFill>
                  <a:srgbClr val="262626"/>
                </a:solidFill>
                <a:latin typeface="Calibri"/>
              </a:rPr>
              <a:t>padrão idiomático do Pulumi para combinar valores que só existem depois do deploy (equivalente a referenciar dois resources no mesmo content do Terraform).</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49</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a:solidFill>
                  <a:srgbClr val="0070C0"/>
                </a:solidFill>
                <a:latin typeface="Calibri"/>
              </a:rPr>
              <a:t>Exemplo 2 — Par de Chaves SSH</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51</a:t>
            </a:r>
          </a:p>
        </p:txBody>
      </p:sp>
      <p:sp>
        <p:nvSpPr>
          <p:cNvPr id="5" name="TextBox 4"/>
          <p:cNvSpPr txBox="1"/>
          <p:nvPr/>
        </p:nvSpPr>
        <p:spPr>
          <a:xfrm>
            <a:off x="1689100" y="3980000"/>
            <a:ext cx="19170650" cy="400000"/>
          </a:xfrm>
          <a:prstGeom prst="rect">
            <a:avLst/>
          </a:prstGeom>
          <a:noFill/>
        </p:spPr>
        <p:txBody>
          <a:bodyPr wrap="none">
            <a:spAutoFit/>
          </a:bodyPr>
          <a:lstStyle/>
          <a:p>
            <a:r>
              <a:rPr sz="1900" i="1">
                <a:solidFill>
                  <a:srgbClr val="595959"/>
                </a:solidFill>
                <a:latin typeface="Calibri"/>
              </a:rPr>
              <a:t>provider tls (Terraform) x pulumi_tls (Pulumi) — mesmo schema, mesmos nomes</a:t>
            </a:r>
          </a:p>
        </p:txBody>
      </p:sp>
      <p:sp>
        <p:nvSpPr>
          <p:cNvPr id="6" name="Rounded Rectangle 5"/>
          <p:cNvSpPr/>
          <p:nvPr/>
        </p:nvSpPr>
        <p:spPr>
          <a:xfrm>
            <a:off x="1689100" y="4480000"/>
            <a:ext cx="9455325" cy="340000"/>
          </a:xfrm>
          <a:prstGeom prst="roundRect">
            <a:avLst>
              <a:gd name="adj" fmla="val 50000"/>
            </a:avLst>
          </a:prstGeom>
          <a:solidFill>
            <a:srgbClr val="00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TERRAFORM</a:t>
            </a:r>
          </a:p>
        </p:txBody>
      </p:sp>
      <p:sp>
        <p:nvSpPr>
          <p:cNvPr id="7" name="Rounded Rectangle 6"/>
          <p:cNvSpPr/>
          <p:nvPr/>
        </p:nvSpPr>
        <p:spPr>
          <a:xfrm>
            <a:off x="11404425" y="4480000"/>
            <a:ext cx="9455325" cy="340000"/>
          </a:xfrm>
          <a:prstGeom prst="roundRect">
            <a:avLst>
              <a:gd name="adj" fmla="val 50000"/>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PULUMI</a:t>
            </a:r>
          </a:p>
        </p:txBody>
      </p:sp>
      <p:sp>
        <p:nvSpPr>
          <p:cNvPr id="8" name="Rounded Rectangle 7"/>
          <p:cNvSpPr/>
          <p:nvPr/>
        </p:nvSpPr>
        <p:spPr>
          <a:xfrm>
            <a:off x="1689100"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89100"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89100"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869100"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109100"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49100"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89100" y="4945000"/>
            <a:ext cx="9455325" cy="280000"/>
          </a:xfrm>
          <a:prstGeom prst="rect">
            <a:avLst/>
          </a:prstGeom>
          <a:noFill/>
        </p:spPr>
        <p:txBody>
          <a:bodyPr wrap="none">
            <a:spAutoFit/>
          </a:bodyPr>
          <a:lstStyle/>
          <a:p>
            <a:pPr algn="ctr"/>
            <a:r>
              <a:rPr sz="1300">
                <a:solidFill>
                  <a:srgbClr val="595959"/>
                </a:solidFill>
                <a:latin typeface="Consolas"/>
              </a:rPr>
              <a:t>main2.tf</a:t>
            </a:r>
          </a:p>
        </p:txBody>
      </p:sp>
      <p:sp>
        <p:nvSpPr>
          <p:cNvPr id="15" name="TextBox 14"/>
          <p:cNvSpPr txBox="1"/>
          <p:nvPr/>
        </p:nvSpPr>
        <p:spPr>
          <a:xfrm>
            <a:off x="1869100" y="5380000"/>
            <a:ext cx="9115325" cy="6810100"/>
          </a:xfrm>
          <a:prstGeom prst="rect">
            <a:avLst/>
          </a:prstGeom>
          <a:noFill/>
        </p:spPr>
        <p:txBody>
          <a:bodyPr wrap="square" anchor="t">
            <a:spAutoFit/>
          </a:bodyPr>
          <a:lstStyle/>
          <a:p>
            <a:pPr algn="l">
              <a:spcBef>
                <a:spcPts val="0"/>
              </a:spcBef>
              <a:spcAft>
                <a:spcPts val="250"/>
              </a:spcAft>
            </a:pPr>
            <a:r>
              <a:rPr sz="1100" b="1" i="0">
                <a:solidFill>
                  <a:srgbClr val="F5AC00"/>
                </a:solidFill>
                <a:latin typeface="Consolas"/>
              </a:rPr>
              <a:t>resource</a:t>
            </a:r>
            <a:r>
              <a:rPr sz="1100" b="0" i="0">
                <a:solidFill>
                  <a:srgbClr val="262626"/>
                </a:solidFill>
                <a:latin typeface="Consolas"/>
              </a:rPr>
              <a:t> "</a:t>
            </a:r>
            <a:r>
              <a:rPr sz="1100" b="0" i="1">
                <a:solidFill>
                  <a:srgbClr val="218CD6"/>
                </a:solidFill>
                <a:latin typeface="Consolas"/>
              </a:rPr>
              <a:t>tls_private_key</a:t>
            </a:r>
            <a:r>
              <a:rPr sz="1100" b="0" i="0">
                <a:solidFill>
                  <a:srgbClr val="262626"/>
                </a:solidFill>
                <a:latin typeface="Consolas"/>
              </a:rPr>
              <a:t>" "chave" {</a:t>
            </a:r>
          </a:p>
          <a:p>
            <a:pPr algn="l">
              <a:spcBef>
                <a:spcPts val="0"/>
              </a:spcBef>
              <a:spcAft>
                <a:spcPts val="250"/>
              </a:spcAft>
            </a:pPr>
            <a:r>
              <a:rPr sz="1100" b="0" i="0">
                <a:solidFill>
                  <a:srgbClr val="262626"/>
                </a:solidFill>
                <a:latin typeface="Consolas"/>
              </a:rPr>
              <a:t>  algorithm = "RSA"</a:t>
            </a:r>
          </a:p>
          <a:p>
            <a:pPr algn="l">
              <a:spcBef>
                <a:spcPts val="0"/>
              </a:spcBef>
              <a:spcAft>
                <a:spcPts val="250"/>
              </a:spcAft>
            </a:pPr>
            <a:r>
              <a:rPr sz="1100" b="0" i="0">
                <a:solidFill>
                  <a:srgbClr val="262626"/>
                </a:solidFill>
                <a:latin typeface="Consolas"/>
              </a:rPr>
              <a:t>  rsa_bits = 4096</a:t>
            </a:r>
          </a:p>
          <a:p>
            <a:pPr algn="l">
              <a:spcBef>
                <a:spcPts val="0"/>
              </a:spcBef>
              <a:spcAft>
                <a:spcPts val="250"/>
              </a:spcAft>
            </a:pPr>
            <a:r>
              <a:rPr sz="1100" b="0" i="0">
                <a:solidFill>
                  <a:srgbClr val="262626"/>
                </a:solidFill>
                <a:latin typeface="Consolas"/>
              </a:rPr>
              <a:t>}</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resource</a:t>
            </a:r>
            <a:r>
              <a:rPr sz="1100" b="0" i="0">
                <a:solidFill>
                  <a:srgbClr val="262626"/>
                </a:solidFill>
                <a:latin typeface="Consolas"/>
              </a:rPr>
              <a:t> "</a:t>
            </a:r>
            <a:r>
              <a:rPr sz="1100" b="0" i="1">
                <a:solidFill>
                  <a:srgbClr val="218CD6"/>
                </a:solidFill>
                <a:latin typeface="Consolas"/>
              </a:rPr>
              <a:t>local_file</a:t>
            </a:r>
            <a:r>
              <a:rPr sz="1100" b="0" i="0">
                <a:solidFill>
                  <a:srgbClr val="262626"/>
                </a:solidFill>
                <a:latin typeface="Consolas"/>
              </a:rPr>
              <a:t>" "chave_privada" {</a:t>
            </a:r>
          </a:p>
          <a:p>
            <a:pPr algn="l">
              <a:spcBef>
                <a:spcPts val="0"/>
              </a:spcBef>
              <a:spcAft>
                <a:spcPts val="250"/>
              </a:spcAft>
            </a:pPr>
            <a:r>
              <a:rPr sz="1100" b="0" i="0">
                <a:solidFill>
                  <a:srgbClr val="262626"/>
                </a:solidFill>
                <a:latin typeface="Consolas"/>
              </a:rPr>
              <a:t>  content = tls_private_key.chave.private_key_pem</a:t>
            </a:r>
          </a:p>
          <a:p>
            <a:pPr algn="l">
              <a:spcBef>
                <a:spcPts val="0"/>
              </a:spcBef>
              <a:spcAft>
                <a:spcPts val="250"/>
              </a:spcAft>
            </a:pPr>
            <a:r>
              <a:rPr sz="1100" b="0" i="0">
                <a:solidFill>
                  <a:srgbClr val="262626"/>
                </a:solidFill>
                <a:latin typeface="Consolas"/>
              </a:rPr>
              <a:t>  filename = "id_rsa"</a:t>
            </a:r>
          </a:p>
          <a:p>
            <a:pPr algn="l">
              <a:spcBef>
                <a:spcPts val="0"/>
              </a:spcBef>
              <a:spcAft>
                <a:spcPts val="250"/>
              </a:spcAft>
            </a:pPr>
            <a:r>
              <a:rPr sz="1100" b="0" i="0">
                <a:solidFill>
                  <a:srgbClr val="262626"/>
                </a:solidFill>
                <a:latin typeface="Consolas"/>
              </a:rPr>
              <a:t>}</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resource</a:t>
            </a:r>
            <a:r>
              <a:rPr sz="1100" b="0" i="0">
                <a:solidFill>
                  <a:srgbClr val="262626"/>
                </a:solidFill>
                <a:latin typeface="Consolas"/>
              </a:rPr>
              <a:t> "</a:t>
            </a:r>
            <a:r>
              <a:rPr sz="1100" b="0" i="1">
                <a:solidFill>
                  <a:srgbClr val="218CD6"/>
                </a:solidFill>
                <a:latin typeface="Consolas"/>
              </a:rPr>
              <a:t>local_file</a:t>
            </a:r>
            <a:r>
              <a:rPr sz="1100" b="0" i="0">
                <a:solidFill>
                  <a:srgbClr val="262626"/>
                </a:solidFill>
                <a:latin typeface="Consolas"/>
              </a:rPr>
              <a:t>" "chave_publica" {</a:t>
            </a:r>
          </a:p>
          <a:p>
            <a:pPr algn="l">
              <a:spcBef>
                <a:spcPts val="0"/>
              </a:spcBef>
              <a:spcAft>
                <a:spcPts val="250"/>
              </a:spcAft>
            </a:pPr>
            <a:r>
              <a:rPr sz="1100" b="0" i="0">
                <a:solidFill>
                  <a:srgbClr val="262626"/>
                </a:solidFill>
                <a:latin typeface="Consolas"/>
              </a:rPr>
              <a:t>  content = tls_private_key.chave.public_key_openssh</a:t>
            </a:r>
          </a:p>
          <a:p>
            <a:pPr algn="l">
              <a:spcBef>
                <a:spcPts val="0"/>
              </a:spcBef>
              <a:spcAft>
                <a:spcPts val="250"/>
              </a:spcAft>
            </a:pPr>
            <a:r>
              <a:rPr sz="1100" b="0" i="0">
                <a:solidFill>
                  <a:srgbClr val="262626"/>
                </a:solidFill>
                <a:latin typeface="Consolas"/>
              </a:rPr>
              <a:t>  filename = "id_rsa.pub"</a:t>
            </a:r>
          </a:p>
          <a:p>
            <a:pPr algn="l">
              <a:spcBef>
                <a:spcPts val="0"/>
              </a:spcBef>
              <a:spcAft>
                <a:spcPts val="250"/>
              </a:spcAft>
            </a:pPr>
            <a:r>
              <a:rPr sz="1100" b="0" i="0">
                <a:solidFill>
                  <a:srgbClr val="262626"/>
                </a:solidFill>
                <a:latin typeface="Consolas"/>
              </a:rPr>
              <a:t>}</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output</a:t>
            </a:r>
            <a:r>
              <a:rPr sz="1100" b="0" i="0">
                <a:solidFill>
                  <a:srgbClr val="262626"/>
                </a:solidFill>
                <a:latin typeface="Consolas"/>
              </a:rPr>
              <a:t> "fingerprint" {</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value</a:t>
            </a:r>
            <a:r>
              <a:rPr sz="1100" b="0" i="0">
                <a:solidFill>
                  <a:srgbClr val="262626"/>
                </a:solidFill>
                <a:latin typeface="Consolas"/>
              </a:rPr>
              <a:t> = tls_private_key.chave.public_key_fingerprint_sha256</a:t>
            </a:r>
          </a:p>
          <a:p>
            <a:pPr algn="l">
              <a:spcBef>
                <a:spcPts val="0"/>
              </a:spcBef>
              <a:spcAft>
                <a:spcPts val="250"/>
              </a:spcAft>
            </a:pPr>
            <a:r>
              <a:rPr sz="1100" b="0" i="0">
                <a:solidFill>
                  <a:srgbClr val="262626"/>
                </a:solidFill>
                <a:latin typeface="Consolas"/>
              </a:rPr>
              <a:t>}</a:t>
            </a:r>
          </a:p>
        </p:txBody>
      </p:sp>
      <p:sp>
        <p:nvSpPr>
          <p:cNvPr id="16" name="Rounded Rectangle 15"/>
          <p:cNvSpPr/>
          <p:nvPr/>
        </p:nvSpPr>
        <p:spPr>
          <a:xfrm>
            <a:off x="11404425"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1404425"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404425"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584425"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824425"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2064425"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04425" y="4945000"/>
            <a:ext cx="9455325" cy="280000"/>
          </a:xfrm>
          <a:prstGeom prst="rect">
            <a:avLst/>
          </a:prstGeom>
          <a:noFill/>
        </p:spPr>
        <p:txBody>
          <a:bodyPr wrap="none">
            <a:spAutoFit/>
          </a:bodyPr>
          <a:lstStyle/>
          <a:p>
            <a:pPr algn="ctr"/>
            <a:r>
              <a:rPr sz="1300">
                <a:solidFill>
                  <a:srgbClr val="595959"/>
                </a:solidFill>
                <a:latin typeface="Consolas"/>
              </a:rPr>
              <a:t>main2.py</a:t>
            </a:r>
          </a:p>
        </p:txBody>
      </p:sp>
      <p:sp>
        <p:nvSpPr>
          <p:cNvPr id="23" name="TextBox 22"/>
          <p:cNvSpPr txBox="1"/>
          <p:nvPr/>
        </p:nvSpPr>
        <p:spPr>
          <a:xfrm>
            <a:off x="11584425" y="5380000"/>
            <a:ext cx="9115325" cy="6810100"/>
          </a:xfrm>
          <a:prstGeom prst="rect">
            <a:avLst/>
          </a:prstGeom>
          <a:noFill/>
        </p:spPr>
        <p:txBody>
          <a:bodyPr wrap="square" anchor="t">
            <a:spAutoFit/>
          </a:bodyPr>
          <a:lstStyle/>
          <a:p>
            <a:pPr algn="l">
              <a:spcBef>
                <a:spcPts val="0"/>
              </a:spcBef>
              <a:spcAft>
                <a:spcPts val="250"/>
              </a:spcAft>
            </a:pPr>
            <a:r>
              <a:rPr sz="1100" b="1" i="0">
                <a:solidFill>
                  <a:srgbClr val="F5AC00"/>
                </a:solidFill>
                <a:latin typeface="Consolas"/>
              </a:rPr>
              <a:t>import</a:t>
            </a:r>
            <a:r>
              <a:rPr sz="1100" b="0" i="0">
                <a:solidFill>
                  <a:srgbClr val="262626"/>
                </a:solidFill>
                <a:latin typeface="Consolas"/>
              </a:rPr>
              <a:t> pulumi</a:t>
            </a:r>
          </a:p>
          <a:p>
            <a:pPr algn="l">
              <a:spcBef>
                <a:spcPts val="0"/>
              </a:spcBef>
              <a:spcAft>
                <a:spcPts val="250"/>
              </a:spcAft>
            </a:pPr>
            <a:r>
              <a:rPr sz="1100" b="1" i="0">
                <a:solidFill>
                  <a:srgbClr val="F5AC00"/>
                </a:solidFill>
                <a:latin typeface="Consolas"/>
              </a:rPr>
              <a:t>import</a:t>
            </a:r>
            <a:r>
              <a:rPr sz="1100" b="0" i="0">
                <a:solidFill>
                  <a:srgbClr val="262626"/>
                </a:solidFill>
                <a:latin typeface="Consolas"/>
              </a:rPr>
              <a:t> pulumi_tls </a:t>
            </a:r>
            <a:r>
              <a:rPr sz="1100" b="1" i="0">
                <a:solidFill>
                  <a:srgbClr val="F5AC00"/>
                </a:solidFill>
                <a:latin typeface="Consolas"/>
              </a:rPr>
              <a:t>as</a:t>
            </a:r>
            <a:r>
              <a:rPr sz="1100" b="0" i="0">
                <a:solidFill>
                  <a:srgbClr val="262626"/>
                </a:solidFill>
                <a:latin typeface="Consolas"/>
              </a:rPr>
              <a:t> tls</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0" i="0">
                <a:solidFill>
                  <a:srgbClr val="262626"/>
                </a:solidFill>
                <a:latin typeface="Consolas"/>
              </a:rPr>
              <a:t>chave = tls.PrivateKey(</a:t>
            </a:r>
            <a:r>
              <a:rPr sz="1100" b="0" i="0">
                <a:solidFill>
                  <a:srgbClr val="2E7D32"/>
                </a:solidFill>
                <a:latin typeface="Consolas"/>
              </a:rPr>
              <a:t>"chave"</a:t>
            </a:r>
            <a:r>
              <a:rPr sz="1100" b="0" i="0">
                <a:solidFill>
                  <a:srgbClr val="262626"/>
                </a:solidFill>
                <a:latin typeface="Consolas"/>
              </a:rPr>
              <a:t>,</a:t>
            </a:r>
          </a:p>
          <a:p>
            <a:pPr algn="l">
              <a:spcBef>
                <a:spcPts val="0"/>
              </a:spcBef>
              <a:spcAft>
                <a:spcPts val="250"/>
              </a:spcAft>
            </a:pPr>
            <a:r>
              <a:rPr sz="1100" b="0" i="0">
                <a:solidFill>
                  <a:srgbClr val="262626"/>
                </a:solidFill>
                <a:latin typeface="Consolas"/>
              </a:rPr>
              <a:t>    algorithm=</a:t>
            </a:r>
            <a:r>
              <a:rPr sz="1100" b="0" i="0">
                <a:solidFill>
                  <a:srgbClr val="2E7D32"/>
                </a:solidFill>
                <a:latin typeface="Consolas"/>
              </a:rPr>
              <a:t>"RSA"</a:t>
            </a:r>
            <a:r>
              <a:rPr sz="1100" b="0" i="0">
                <a:solidFill>
                  <a:srgbClr val="262626"/>
                </a:solidFill>
                <a:latin typeface="Consolas"/>
              </a:rPr>
              <a:t>, rsa_bits=4096)</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def</a:t>
            </a:r>
            <a:r>
              <a:rPr sz="1100" b="0" i="0">
                <a:solidFill>
                  <a:srgbClr val="262626"/>
                </a:solidFill>
                <a:latin typeface="Consolas"/>
              </a:rPr>
              <a:t> salvar(vals):</a:t>
            </a:r>
          </a:p>
          <a:p>
            <a:pPr algn="l">
              <a:spcBef>
                <a:spcPts val="0"/>
              </a:spcBef>
              <a:spcAft>
                <a:spcPts val="250"/>
              </a:spcAft>
            </a:pPr>
            <a:r>
              <a:rPr sz="1100" b="0" i="0">
                <a:solidFill>
                  <a:srgbClr val="262626"/>
                </a:solidFill>
                <a:latin typeface="Consolas"/>
              </a:rPr>
              <a:t>    priv, pub = vals</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open</a:t>
            </a:r>
            <a:r>
              <a:rPr sz="1100" b="0" i="0">
                <a:solidFill>
                  <a:srgbClr val="262626"/>
                </a:solidFill>
                <a:latin typeface="Consolas"/>
              </a:rPr>
              <a:t>(</a:t>
            </a:r>
            <a:r>
              <a:rPr sz="1100" b="0" i="0">
                <a:solidFill>
                  <a:srgbClr val="2E7D32"/>
                </a:solidFill>
                <a:latin typeface="Consolas"/>
              </a:rPr>
              <a:t>"id_rsa"</a:t>
            </a:r>
            <a:r>
              <a:rPr sz="1100" b="0" i="0">
                <a:solidFill>
                  <a:srgbClr val="262626"/>
                </a:solidFill>
                <a:latin typeface="Consolas"/>
              </a:rPr>
              <a:t>, </a:t>
            </a:r>
            <a:r>
              <a:rPr sz="1100" b="0" i="0">
                <a:solidFill>
                  <a:srgbClr val="2E7D32"/>
                </a:solidFill>
                <a:latin typeface="Consolas"/>
              </a:rPr>
              <a:t>"w"</a:t>
            </a:r>
            <a:r>
              <a:rPr sz="1100" b="0" i="0">
                <a:solidFill>
                  <a:srgbClr val="262626"/>
                </a:solidFill>
                <a:latin typeface="Consolas"/>
              </a:rPr>
              <a:t>).write(priv)</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open</a:t>
            </a:r>
            <a:r>
              <a:rPr sz="1100" b="0" i="0">
                <a:solidFill>
                  <a:srgbClr val="262626"/>
                </a:solidFill>
                <a:latin typeface="Consolas"/>
              </a:rPr>
              <a:t>(</a:t>
            </a:r>
            <a:r>
              <a:rPr sz="1100" b="0" i="0">
                <a:solidFill>
                  <a:srgbClr val="2E7D32"/>
                </a:solidFill>
                <a:latin typeface="Consolas"/>
              </a:rPr>
              <a:t>"id_rsa.pub"</a:t>
            </a:r>
            <a:r>
              <a:rPr sz="1100" b="0" i="0">
                <a:solidFill>
                  <a:srgbClr val="262626"/>
                </a:solidFill>
                <a:latin typeface="Consolas"/>
              </a:rPr>
              <a:t>, </a:t>
            </a:r>
            <a:r>
              <a:rPr sz="1100" b="0" i="0">
                <a:solidFill>
                  <a:srgbClr val="2E7D32"/>
                </a:solidFill>
                <a:latin typeface="Consolas"/>
              </a:rPr>
              <a:t>"w"</a:t>
            </a:r>
            <a:r>
              <a:rPr sz="1100" b="0" i="0">
                <a:solidFill>
                  <a:srgbClr val="262626"/>
                </a:solidFill>
                <a:latin typeface="Consolas"/>
              </a:rPr>
              <a:t>).write(pub)</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0" i="0">
                <a:solidFill>
                  <a:srgbClr val="262626"/>
                </a:solidFill>
                <a:latin typeface="Consolas"/>
              </a:rPr>
              <a:t>pulumi.Output.all(</a:t>
            </a:r>
          </a:p>
          <a:p>
            <a:pPr algn="l">
              <a:spcBef>
                <a:spcPts val="0"/>
              </a:spcBef>
              <a:spcAft>
                <a:spcPts val="250"/>
              </a:spcAft>
            </a:pPr>
            <a:r>
              <a:rPr sz="1100" b="0" i="0">
                <a:solidFill>
                  <a:srgbClr val="262626"/>
                </a:solidFill>
                <a:latin typeface="Consolas"/>
              </a:rPr>
              <a:t>    chave.private_key_pem,</a:t>
            </a:r>
          </a:p>
          <a:p>
            <a:pPr algn="l">
              <a:spcBef>
                <a:spcPts val="0"/>
              </a:spcBef>
              <a:spcAft>
                <a:spcPts val="250"/>
              </a:spcAft>
            </a:pPr>
            <a:r>
              <a:rPr sz="1100" b="0" i="0">
                <a:solidFill>
                  <a:srgbClr val="262626"/>
                </a:solidFill>
                <a:latin typeface="Consolas"/>
              </a:rPr>
              <a:t>    chave.public_key_openssh,</a:t>
            </a:r>
          </a:p>
          <a:p>
            <a:pPr algn="l">
              <a:spcBef>
                <a:spcPts val="0"/>
              </a:spcBef>
              <a:spcAft>
                <a:spcPts val="250"/>
              </a:spcAft>
            </a:pPr>
            <a:r>
              <a:rPr sz="1100" b="0" i="0">
                <a:solidFill>
                  <a:srgbClr val="262626"/>
                </a:solidFill>
                <a:latin typeface="Consolas"/>
              </a:rPr>
              <a:t>).apply(salvar)</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0" i="0">
                <a:solidFill>
                  <a:srgbClr val="262626"/>
                </a:solidFill>
                <a:latin typeface="Consolas"/>
              </a:rPr>
              <a:t>pulumi.export(</a:t>
            </a:r>
            <a:r>
              <a:rPr sz="1100" b="0" i="0">
                <a:solidFill>
                  <a:srgbClr val="2E7D32"/>
                </a:solidFill>
                <a:latin typeface="Consolas"/>
              </a:rPr>
              <a:t>"fingerprint"</a:t>
            </a:r>
            <a:r>
              <a:rPr sz="1100" b="0" i="0">
                <a:solidFill>
                  <a:srgbClr val="262626"/>
                </a:solidFill>
                <a:latin typeface="Consolas"/>
              </a:rPr>
              <a:t>,</a:t>
            </a:r>
          </a:p>
          <a:p>
            <a:pPr algn="l">
              <a:spcBef>
                <a:spcPts val="0"/>
              </a:spcBef>
              <a:spcAft>
                <a:spcPts val="250"/>
              </a:spcAft>
            </a:pPr>
            <a:r>
              <a:rPr sz="1100" b="0" i="0">
                <a:solidFill>
                  <a:srgbClr val="262626"/>
                </a:solidFill>
                <a:latin typeface="Consolas"/>
              </a:rPr>
              <a:t>    chave.public_key_fingerprint_sha256)</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Exemplo 2 — O Que Muda de Verdade</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tls.PrivateKey:  </a:t>
            </a:r>
            <a:r>
              <a:rPr sz="3000">
                <a:solidFill>
                  <a:srgbClr val="262626"/>
                </a:solidFill>
                <a:latin typeface="Calibri"/>
              </a:rPr>
              <a:t>mesmo algoritmo, mesmos parâmetros (algorithm, rsa_bits) do tls_private_key do Terraform.</a:t>
            </a:r>
          </a:p>
          <a:p>
            <a:pPr algn="l">
              <a:spcBef>
                <a:spcPts val="0"/>
              </a:spcBef>
              <a:spcAft>
                <a:spcPts val="2200"/>
              </a:spcAft>
            </a:pPr>
            <a:r>
              <a:rPr sz="3000" b="1">
                <a:solidFill>
                  <a:srgbClr val="004A8F"/>
                </a:solidFill>
                <a:latin typeface="Calibri"/>
              </a:rPr>
              <a:t>private_key_pem também nasce "secret":  </a:t>
            </a:r>
            <a:r>
              <a:rPr sz="3000">
                <a:solidFill>
                  <a:srgbClr val="262626"/>
                </a:solidFill>
                <a:latin typeface="Calibri"/>
              </a:rPr>
              <a:t>assim como a senha do Exemplo 1 — o Pulumi propaga a marcação de sensível vinda do schema do provider.</a:t>
            </a:r>
          </a:p>
          <a:p>
            <a:pPr algn="l">
              <a:spcBef>
                <a:spcPts val="0"/>
              </a:spcBef>
              <a:spcAft>
                <a:spcPts val="2200"/>
              </a:spcAft>
            </a:pPr>
            <a:r>
              <a:rPr sz="3000" b="1">
                <a:solidFill>
                  <a:srgbClr val="004A8F"/>
                </a:solidFill>
                <a:latin typeface="Calibri"/>
              </a:rPr>
              <a:t>Depois do apply:  </a:t>
            </a:r>
            <a:r>
              <a:rPr sz="3000">
                <a:solidFill>
                  <a:srgbClr val="262626"/>
                </a:solidFill>
                <a:latin typeface="Calibri"/>
              </a:rPr>
              <a:t>teste igual à Aula 02: ssh-keygen -lf id_rsa.pub.</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Antes do Exemplo 3: Crie a Pasta app/ (Igual à Aula 02)</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54</a:t>
            </a:r>
          </a:p>
        </p:txBody>
      </p:sp>
      <p:sp>
        <p:nvSpPr>
          <p:cNvPr id="5" name="TextBox 4"/>
          <p:cNvSpPr txBox="1"/>
          <p:nvPr/>
        </p:nvSpPr>
        <p:spPr>
          <a:xfrm>
            <a:off x="1689100" y="4406900"/>
            <a:ext cx="19170650" cy="1500000"/>
          </a:xfrm>
          <a:prstGeom prst="rect">
            <a:avLst/>
          </a:prstGeom>
          <a:noFill/>
        </p:spPr>
        <p:txBody>
          <a:bodyPr wrap="square" anchor="t">
            <a:spAutoFit/>
          </a:bodyPr>
          <a:lstStyle/>
          <a:p>
            <a:pPr algn="l">
              <a:spcBef>
                <a:spcPts val="0"/>
              </a:spcBef>
              <a:spcAft>
                <a:spcPts val="600"/>
              </a:spcAft>
            </a:pPr>
            <a:r>
              <a:rPr sz="2200">
                <a:solidFill>
                  <a:srgbClr val="262626"/>
                </a:solidFill>
                <a:latin typeface="Calibri"/>
              </a:rPr>
              <a:t>archive.get_file também precisa que ./app já exista com algo dentro</a:t>
            </a:r>
          </a:p>
        </p:txBody>
      </p:sp>
      <p:sp>
        <p:nvSpPr>
          <p:cNvPr id="6" name="Rounded Rectangle 5"/>
          <p:cNvSpPr/>
          <p:nvPr/>
        </p:nvSpPr>
        <p:spPr>
          <a:xfrm>
            <a:off x="1689100" y="6056900"/>
            <a:ext cx="19170650" cy="6173200"/>
          </a:xfrm>
          <a:prstGeom prst="roundRect">
            <a:avLst>
              <a:gd name="adj" fmla="val 4000"/>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wrap="square" lIns="220000" tIns="160000" rIns="150000" rtlCol="0" anchor="ctr"/>
          <a:lstStyle/>
          <a:p>
            <a:pPr algn="l"/>
            <a:r>
              <a:rPr sz="2300">
                <a:solidFill>
                  <a:srgbClr val="E8E8E8"/>
                </a:solidFill>
                <a:latin typeface="Consolas"/>
              </a:rPr>
              <a:t>mkdir app</a:t>
            </a:r>
          </a:p>
          <a:p>
            <a:pPr algn="l"/>
            <a:r>
              <a:rPr sz="2300">
                <a:solidFill>
                  <a:srgbClr val="E8E8E8"/>
                </a:solidFill>
                <a:latin typeface="Consolas"/>
              </a:rPr>
              <a:t>echo 'console.log("Olá do app de exemplo!");' &gt; app/index.js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a:solidFill>
                  <a:srgbClr val="0070C0"/>
                </a:solidFill>
                <a:latin typeface="Calibri"/>
              </a:rPr>
              <a:t>Exemplo 3 — Empacotando um App em .zip</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55</a:t>
            </a:r>
          </a:p>
        </p:txBody>
      </p:sp>
      <p:sp>
        <p:nvSpPr>
          <p:cNvPr id="5" name="TextBox 4"/>
          <p:cNvSpPr txBox="1"/>
          <p:nvPr/>
        </p:nvSpPr>
        <p:spPr>
          <a:xfrm>
            <a:off x="1689100" y="3980000"/>
            <a:ext cx="19170650" cy="400000"/>
          </a:xfrm>
          <a:prstGeom prst="rect">
            <a:avLst/>
          </a:prstGeom>
          <a:noFill/>
        </p:spPr>
        <p:txBody>
          <a:bodyPr wrap="none">
            <a:spAutoFit/>
          </a:bodyPr>
          <a:lstStyle/>
          <a:p>
            <a:r>
              <a:rPr sz="1900" i="1">
                <a:solidFill>
                  <a:srgbClr val="595959"/>
                </a:solidFill>
                <a:latin typeface="Calibri"/>
              </a:rPr>
              <a:t>provider archive (Terraform) x pulumi_archive (Pulumi) — os dois são "data sources", não resources geridos</a:t>
            </a:r>
          </a:p>
        </p:txBody>
      </p:sp>
      <p:sp>
        <p:nvSpPr>
          <p:cNvPr id="6" name="Rounded Rectangle 5"/>
          <p:cNvSpPr/>
          <p:nvPr/>
        </p:nvSpPr>
        <p:spPr>
          <a:xfrm>
            <a:off x="1689100" y="4480000"/>
            <a:ext cx="9455325" cy="340000"/>
          </a:xfrm>
          <a:prstGeom prst="roundRect">
            <a:avLst>
              <a:gd name="adj" fmla="val 50000"/>
            </a:avLst>
          </a:prstGeom>
          <a:solidFill>
            <a:srgbClr val="00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TERRAFORM</a:t>
            </a:r>
          </a:p>
        </p:txBody>
      </p:sp>
      <p:sp>
        <p:nvSpPr>
          <p:cNvPr id="7" name="Rounded Rectangle 6"/>
          <p:cNvSpPr/>
          <p:nvPr/>
        </p:nvSpPr>
        <p:spPr>
          <a:xfrm>
            <a:off x="11404425" y="4480000"/>
            <a:ext cx="9455325" cy="340000"/>
          </a:xfrm>
          <a:prstGeom prst="roundRect">
            <a:avLst>
              <a:gd name="adj" fmla="val 50000"/>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PULUMI</a:t>
            </a:r>
          </a:p>
        </p:txBody>
      </p:sp>
      <p:sp>
        <p:nvSpPr>
          <p:cNvPr id="8" name="Rounded Rectangle 7"/>
          <p:cNvSpPr/>
          <p:nvPr/>
        </p:nvSpPr>
        <p:spPr>
          <a:xfrm>
            <a:off x="1689100"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89100"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89100"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869100"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109100"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49100"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89100" y="4945000"/>
            <a:ext cx="9455325" cy="280000"/>
          </a:xfrm>
          <a:prstGeom prst="rect">
            <a:avLst/>
          </a:prstGeom>
          <a:noFill/>
        </p:spPr>
        <p:txBody>
          <a:bodyPr wrap="none">
            <a:spAutoFit/>
          </a:bodyPr>
          <a:lstStyle/>
          <a:p>
            <a:pPr algn="ctr"/>
            <a:r>
              <a:rPr sz="1300">
                <a:solidFill>
                  <a:srgbClr val="595959"/>
                </a:solidFill>
                <a:latin typeface="Consolas"/>
              </a:rPr>
              <a:t>main3.tf</a:t>
            </a:r>
          </a:p>
        </p:txBody>
      </p:sp>
      <p:sp>
        <p:nvSpPr>
          <p:cNvPr id="15" name="TextBox 14"/>
          <p:cNvSpPr txBox="1"/>
          <p:nvPr/>
        </p:nvSpPr>
        <p:spPr>
          <a:xfrm>
            <a:off x="1869100" y="5380000"/>
            <a:ext cx="9115325" cy="6810100"/>
          </a:xfrm>
          <a:prstGeom prst="rect">
            <a:avLst/>
          </a:prstGeom>
          <a:noFill/>
        </p:spPr>
        <p:txBody>
          <a:bodyPr wrap="square" anchor="t">
            <a:spAutoFit/>
          </a:bodyPr>
          <a:lstStyle/>
          <a:p>
            <a:pPr algn="l">
              <a:spcBef>
                <a:spcPts val="0"/>
              </a:spcBef>
              <a:spcAft>
                <a:spcPts val="250"/>
              </a:spcAft>
            </a:pPr>
            <a:r>
              <a:rPr sz="1100" b="1" i="0">
                <a:solidFill>
                  <a:srgbClr val="F5AC00"/>
                </a:solidFill>
                <a:latin typeface="Consolas"/>
              </a:rPr>
              <a:t>data</a:t>
            </a:r>
            <a:r>
              <a:rPr sz="1100" b="0" i="0">
                <a:solidFill>
                  <a:srgbClr val="262626"/>
                </a:solidFill>
                <a:latin typeface="Consolas"/>
              </a:rPr>
              <a:t> "</a:t>
            </a:r>
            <a:r>
              <a:rPr sz="1100" b="0" i="1">
                <a:solidFill>
                  <a:srgbClr val="218CD6"/>
                </a:solidFill>
                <a:latin typeface="Consolas"/>
              </a:rPr>
              <a:t>archive_file</a:t>
            </a:r>
            <a:r>
              <a:rPr sz="1100" b="0" i="0">
                <a:solidFill>
                  <a:srgbClr val="262626"/>
                </a:solidFill>
                <a:latin typeface="Consolas"/>
              </a:rPr>
              <a:t>" "pacote" {</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type</a:t>
            </a:r>
            <a:r>
              <a:rPr sz="1100" b="0" i="0">
                <a:solidFill>
                  <a:srgbClr val="262626"/>
                </a:solidFill>
                <a:latin typeface="Consolas"/>
              </a:rPr>
              <a:t> = "zip"</a:t>
            </a:r>
          </a:p>
          <a:p>
            <a:pPr algn="l">
              <a:spcBef>
                <a:spcPts val="0"/>
              </a:spcBef>
              <a:spcAft>
                <a:spcPts val="250"/>
              </a:spcAft>
            </a:pPr>
            <a:r>
              <a:rPr sz="1100" b="0" i="0">
                <a:solidFill>
                  <a:srgbClr val="262626"/>
                </a:solidFill>
                <a:latin typeface="Consolas"/>
              </a:rPr>
              <a:t>  source_dir = "app"</a:t>
            </a:r>
          </a:p>
          <a:p>
            <a:pPr algn="l">
              <a:spcBef>
                <a:spcPts val="0"/>
              </a:spcBef>
              <a:spcAft>
                <a:spcPts val="250"/>
              </a:spcAft>
            </a:pPr>
            <a:r>
              <a:rPr sz="1100" b="0" i="0">
                <a:solidFill>
                  <a:srgbClr val="262626"/>
                </a:solidFill>
                <a:latin typeface="Consolas"/>
              </a:rPr>
              <a:t>  output_path = "app.zip"</a:t>
            </a:r>
          </a:p>
          <a:p>
            <a:pPr algn="l">
              <a:spcBef>
                <a:spcPts val="0"/>
              </a:spcBef>
              <a:spcAft>
                <a:spcPts val="250"/>
              </a:spcAft>
            </a:pPr>
            <a:r>
              <a:rPr sz="1100" b="0" i="0">
                <a:solidFill>
                  <a:srgbClr val="262626"/>
                </a:solidFill>
                <a:latin typeface="Consolas"/>
              </a:rPr>
              <a:t>}</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resource</a:t>
            </a:r>
            <a:r>
              <a:rPr sz="1100" b="0" i="0">
                <a:solidFill>
                  <a:srgbClr val="262626"/>
                </a:solidFill>
                <a:latin typeface="Consolas"/>
              </a:rPr>
              <a:t> "</a:t>
            </a:r>
            <a:r>
              <a:rPr sz="1100" b="0" i="1">
                <a:solidFill>
                  <a:srgbClr val="218CD6"/>
                </a:solidFill>
                <a:latin typeface="Consolas"/>
              </a:rPr>
              <a:t>terraform_data</a:t>
            </a:r>
            <a:r>
              <a:rPr sz="1100" b="0" i="0">
                <a:solidFill>
                  <a:srgbClr val="262626"/>
                </a:solidFill>
                <a:latin typeface="Consolas"/>
              </a:rPr>
              <a:t>" "info" {</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input</a:t>
            </a:r>
            <a:r>
              <a:rPr sz="1100" b="0" i="0">
                <a:solidFill>
                  <a:srgbClr val="262626"/>
                </a:solidFill>
                <a:latin typeface="Consolas"/>
              </a:rPr>
              <a:t> = </a:t>
            </a:r>
            <a:r>
              <a:rPr sz="1100" b="1" i="0">
                <a:solidFill>
                  <a:srgbClr val="F5AC00"/>
                </a:solidFill>
                <a:latin typeface="Consolas"/>
              </a:rPr>
              <a:t>data.archive_file.pacote.output_sha</a:t>
            </a:r>
          </a:p>
          <a:p>
            <a:pPr algn="l">
              <a:spcBef>
                <a:spcPts val="0"/>
              </a:spcBef>
              <a:spcAft>
                <a:spcPts val="250"/>
              </a:spcAft>
            </a:pPr>
            <a:endParaRPr sz="1100" b="1" i="0">
              <a:solidFill>
                <a:srgbClr val="F5AC00"/>
              </a:solidFill>
              <a:latin typeface="Consolas"/>
            </a:endParaRPr>
          </a:p>
          <a:p>
            <a:pPr algn="l">
              <a:spcBef>
                <a:spcPts val="0"/>
              </a:spcBef>
              <a:spcAft>
                <a:spcPts val="250"/>
              </a:spcAft>
            </a:pPr>
            <a:r>
              <a:rPr sz="1100" b="0" i="0">
                <a:solidFill>
                  <a:srgbClr val="262626"/>
                </a:solidFill>
                <a:latin typeface="Consolas"/>
              </a:rPr>
              <a:t>  provisioner "local-exec" {</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command</a:t>
            </a:r>
            <a:r>
              <a:rPr sz="1100" b="0" i="0">
                <a:solidFill>
                  <a:srgbClr val="262626"/>
                </a:solidFill>
                <a:latin typeface="Consolas"/>
              </a:rPr>
              <a:t> = "echo Pacote gerado"</a:t>
            </a:r>
          </a:p>
          <a:p>
            <a:pPr algn="l">
              <a:spcBef>
                <a:spcPts val="0"/>
              </a:spcBef>
              <a:spcAft>
                <a:spcPts val="250"/>
              </a:spcAft>
            </a:pPr>
            <a:r>
              <a:rPr sz="1100" b="0" i="0">
                <a:solidFill>
                  <a:srgbClr val="262626"/>
                </a:solidFill>
                <a:latin typeface="Consolas"/>
              </a:rPr>
              <a:t>  }</a:t>
            </a:r>
          </a:p>
          <a:p>
            <a:pPr algn="l">
              <a:spcBef>
                <a:spcPts val="0"/>
              </a:spcBef>
              <a:spcAft>
                <a:spcPts val="250"/>
              </a:spcAft>
            </a:pPr>
            <a:r>
              <a:rPr sz="1100" b="0" i="0">
                <a:solidFill>
                  <a:srgbClr val="262626"/>
                </a:solidFill>
                <a:latin typeface="Consolas"/>
              </a:rPr>
              <a:t>}</a:t>
            </a:r>
          </a:p>
          <a:p>
            <a:pPr algn="l">
              <a:spcBef>
                <a:spcPts val="0"/>
              </a:spcBef>
              <a:spcAft>
                <a:spcPts val="250"/>
              </a:spcAft>
            </a:pPr>
            <a:endParaRPr sz="1100" b="0" i="0">
              <a:solidFill>
                <a:srgbClr val="262626"/>
              </a:solidFill>
              <a:latin typeface="Consolas"/>
            </a:endParaRPr>
          </a:p>
          <a:p>
            <a:pPr algn="l">
              <a:spcBef>
                <a:spcPts val="0"/>
              </a:spcBef>
              <a:spcAft>
                <a:spcPts val="250"/>
              </a:spcAft>
            </a:pPr>
            <a:r>
              <a:rPr sz="1100" b="1" i="0">
                <a:solidFill>
                  <a:srgbClr val="F5AC00"/>
                </a:solidFill>
                <a:latin typeface="Consolas"/>
              </a:rPr>
              <a:t>output</a:t>
            </a:r>
            <a:r>
              <a:rPr sz="1100" b="0" i="0">
                <a:solidFill>
                  <a:srgbClr val="262626"/>
                </a:solidFill>
                <a:latin typeface="Consolas"/>
              </a:rPr>
              <a:t> "sha256_do_pacote" {</a:t>
            </a:r>
          </a:p>
          <a:p>
            <a:pPr algn="l">
              <a:spcBef>
                <a:spcPts val="0"/>
              </a:spcBef>
              <a:spcAft>
                <a:spcPts val="250"/>
              </a:spcAft>
            </a:pPr>
            <a:r>
              <a:rPr sz="1100" b="0" i="0">
                <a:solidFill>
                  <a:srgbClr val="262626"/>
                </a:solidFill>
                <a:latin typeface="Consolas"/>
              </a:rPr>
              <a:t>  </a:t>
            </a:r>
            <a:r>
              <a:rPr sz="1100" b="1" i="0">
                <a:solidFill>
                  <a:srgbClr val="F5AC00"/>
                </a:solidFill>
                <a:latin typeface="Consolas"/>
              </a:rPr>
              <a:t>value</a:t>
            </a:r>
            <a:r>
              <a:rPr sz="1100" b="0" i="0">
                <a:solidFill>
                  <a:srgbClr val="262626"/>
                </a:solidFill>
                <a:latin typeface="Consolas"/>
              </a:rPr>
              <a:t> = </a:t>
            </a:r>
            <a:r>
              <a:rPr sz="1100" b="1" i="0">
                <a:solidFill>
                  <a:srgbClr val="F5AC00"/>
                </a:solidFill>
                <a:latin typeface="Consolas"/>
              </a:rPr>
              <a:t>data.archive_file.pacote.output_sha</a:t>
            </a:r>
          </a:p>
          <a:p>
            <a:pPr algn="l">
              <a:spcBef>
                <a:spcPts val="0"/>
              </a:spcBef>
              <a:spcAft>
                <a:spcPts val="250"/>
              </a:spcAft>
            </a:pPr>
            <a:r>
              <a:rPr sz="1100" b="0" i="0">
                <a:solidFill>
                  <a:srgbClr val="262626"/>
                </a:solidFill>
                <a:latin typeface="Consolas"/>
              </a:rPr>
              <a:t>}</a:t>
            </a:r>
          </a:p>
        </p:txBody>
      </p:sp>
      <p:sp>
        <p:nvSpPr>
          <p:cNvPr id="16" name="Rounded Rectangle 15"/>
          <p:cNvSpPr/>
          <p:nvPr/>
        </p:nvSpPr>
        <p:spPr>
          <a:xfrm>
            <a:off x="11404425"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1404425"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404425"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584425"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824425"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2064425"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04425" y="4945000"/>
            <a:ext cx="9455325" cy="280000"/>
          </a:xfrm>
          <a:prstGeom prst="rect">
            <a:avLst/>
          </a:prstGeom>
          <a:noFill/>
        </p:spPr>
        <p:txBody>
          <a:bodyPr wrap="none">
            <a:spAutoFit/>
          </a:bodyPr>
          <a:lstStyle/>
          <a:p>
            <a:pPr algn="ctr"/>
            <a:r>
              <a:rPr sz="1300">
                <a:solidFill>
                  <a:srgbClr val="595959"/>
                </a:solidFill>
                <a:latin typeface="Consolas"/>
              </a:rPr>
              <a:t>main3.py</a:t>
            </a:r>
          </a:p>
        </p:txBody>
      </p:sp>
      <p:sp>
        <p:nvSpPr>
          <p:cNvPr id="23" name="TextBox 22"/>
          <p:cNvSpPr txBox="1"/>
          <p:nvPr/>
        </p:nvSpPr>
        <p:spPr>
          <a:xfrm>
            <a:off x="11584425" y="5380000"/>
            <a:ext cx="9115325" cy="6810100"/>
          </a:xfrm>
          <a:prstGeom prst="rect">
            <a:avLst/>
          </a:prstGeom>
          <a:noFill/>
        </p:spPr>
        <p:txBody>
          <a:bodyPr wrap="square" anchor="t">
            <a:spAutoFit/>
          </a:bodyPr>
          <a:lstStyle/>
          <a:p>
            <a:pPr algn="l">
              <a:spcBef>
                <a:spcPts val="0"/>
              </a:spcBef>
              <a:spcAft>
                <a:spcPts val="350"/>
              </a:spcAft>
            </a:pPr>
            <a:r>
              <a:rPr sz="1300" b="1" i="0">
                <a:solidFill>
                  <a:srgbClr val="F5AC00"/>
                </a:solidFill>
                <a:latin typeface="Consolas"/>
              </a:rPr>
              <a:t>import</a:t>
            </a:r>
            <a:r>
              <a:rPr sz="1300" b="0" i="0">
                <a:solidFill>
                  <a:srgbClr val="262626"/>
                </a:solidFill>
                <a:latin typeface="Consolas"/>
              </a:rPr>
              <a:t> pulumi</a:t>
            </a:r>
          </a:p>
          <a:p>
            <a:pPr algn="l">
              <a:spcBef>
                <a:spcPts val="0"/>
              </a:spcBef>
              <a:spcAft>
                <a:spcPts val="350"/>
              </a:spcAft>
            </a:pPr>
            <a:r>
              <a:rPr sz="1300" b="1" i="0">
                <a:solidFill>
                  <a:srgbClr val="F5AC00"/>
                </a:solidFill>
                <a:latin typeface="Consolas"/>
              </a:rPr>
              <a:t>import</a:t>
            </a:r>
            <a:r>
              <a:rPr sz="1300" b="0" i="0">
                <a:solidFill>
                  <a:srgbClr val="262626"/>
                </a:solidFill>
                <a:latin typeface="Consolas"/>
              </a:rPr>
              <a:t> pulumi_archive </a:t>
            </a:r>
            <a:r>
              <a:rPr sz="1300" b="1" i="0">
                <a:solidFill>
                  <a:srgbClr val="F5AC00"/>
                </a:solidFill>
                <a:latin typeface="Consolas"/>
              </a:rPr>
              <a:t>as</a:t>
            </a:r>
            <a:r>
              <a:rPr sz="1300" b="0" i="0">
                <a:solidFill>
                  <a:srgbClr val="262626"/>
                </a:solidFill>
                <a:latin typeface="Consolas"/>
              </a:rPr>
              <a:t> archive</a:t>
            </a:r>
          </a:p>
          <a:p>
            <a:pPr algn="l">
              <a:spcBef>
                <a:spcPts val="0"/>
              </a:spcBef>
              <a:spcAft>
                <a:spcPts val="350"/>
              </a:spcAft>
            </a:pPr>
            <a:endParaRPr sz="1300" b="0" i="0">
              <a:solidFill>
                <a:srgbClr val="262626"/>
              </a:solidFill>
              <a:latin typeface="Consolas"/>
            </a:endParaRPr>
          </a:p>
          <a:p>
            <a:pPr algn="l">
              <a:spcBef>
                <a:spcPts val="0"/>
              </a:spcBef>
              <a:spcAft>
                <a:spcPts val="350"/>
              </a:spcAft>
            </a:pPr>
            <a:r>
              <a:rPr sz="1300" b="0" i="0">
                <a:solidFill>
                  <a:srgbClr val="262626"/>
                </a:solidFill>
                <a:latin typeface="Consolas"/>
              </a:rPr>
              <a:t>pacote = archive.get_file(</a:t>
            </a:r>
          </a:p>
          <a:p>
            <a:pPr algn="l">
              <a:spcBef>
                <a:spcPts val="0"/>
              </a:spcBef>
              <a:spcAft>
                <a:spcPts val="350"/>
              </a:spcAft>
            </a:pPr>
            <a:r>
              <a:rPr sz="1300" b="0" i="0">
                <a:solidFill>
                  <a:srgbClr val="262626"/>
                </a:solidFill>
                <a:latin typeface="Consolas"/>
              </a:rPr>
              <a:t>    type=</a:t>
            </a:r>
            <a:r>
              <a:rPr sz="1300" b="0" i="0">
                <a:solidFill>
                  <a:srgbClr val="2E7D32"/>
                </a:solidFill>
                <a:latin typeface="Consolas"/>
              </a:rPr>
              <a:t>"zip"</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source_dir=</a:t>
            </a:r>
            <a:r>
              <a:rPr sz="1300" b="0" i="0">
                <a:solidFill>
                  <a:srgbClr val="2E7D32"/>
                </a:solidFill>
                <a:latin typeface="Consolas"/>
              </a:rPr>
              <a:t>"app"</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output_path=</a:t>
            </a:r>
            <a:r>
              <a:rPr sz="1300" b="0" i="0">
                <a:solidFill>
                  <a:srgbClr val="2E7D32"/>
                </a:solidFill>
                <a:latin typeface="Consolas"/>
              </a:rPr>
              <a:t>"app.zip"</a:t>
            </a:r>
            <a:r>
              <a:rPr sz="1300" b="0" i="0">
                <a:solidFill>
                  <a:srgbClr val="262626"/>
                </a:solidFill>
                <a:latin typeface="Consolas"/>
              </a:rPr>
              <a:t>)</a:t>
            </a:r>
          </a:p>
          <a:p>
            <a:pPr algn="l">
              <a:spcBef>
                <a:spcPts val="0"/>
              </a:spcBef>
              <a:spcAft>
                <a:spcPts val="350"/>
              </a:spcAft>
            </a:pPr>
            <a:endParaRPr sz="1300" b="0" i="0">
              <a:solidFill>
                <a:srgbClr val="262626"/>
              </a:solidFill>
              <a:latin typeface="Consolas"/>
            </a:endParaRPr>
          </a:p>
          <a:p>
            <a:pPr algn="l">
              <a:spcBef>
                <a:spcPts val="0"/>
              </a:spcBef>
              <a:spcAft>
                <a:spcPts val="350"/>
              </a:spcAft>
            </a:pPr>
            <a:r>
              <a:rPr sz="1300" b="1" i="0">
                <a:solidFill>
                  <a:srgbClr val="F5AC00"/>
                </a:solidFill>
                <a:latin typeface="Consolas"/>
              </a:rPr>
              <a:t>print</a:t>
            </a:r>
            <a:r>
              <a:rPr sz="1300" b="0" i="0">
                <a:solidFill>
                  <a:srgbClr val="262626"/>
                </a:solidFill>
                <a:latin typeface="Consolas"/>
              </a:rPr>
              <a:t>(</a:t>
            </a:r>
            <a:r>
              <a:rPr sz="1300" b="0" i="0">
                <a:solidFill>
                  <a:srgbClr val="2E7D32"/>
                </a:solidFill>
                <a:latin typeface="Consolas"/>
              </a:rPr>
              <a:t>"Pacote gerado"</a:t>
            </a:r>
            <a:r>
              <a:rPr sz="1300" b="0" i="0">
                <a:solidFill>
                  <a:srgbClr val="262626"/>
                </a:solidFill>
                <a:latin typeface="Consolas"/>
              </a:rPr>
              <a:t>)</a:t>
            </a:r>
          </a:p>
          <a:p>
            <a:pPr algn="l">
              <a:spcBef>
                <a:spcPts val="0"/>
              </a:spcBef>
              <a:spcAft>
                <a:spcPts val="350"/>
              </a:spcAft>
            </a:pPr>
            <a:r>
              <a:rPr sz="1300" b="0" i="1">
                <a:solidFill>
                  <a:srgbClr val="595959"/>
                </a:solidFill>
                <a:latin typeface="Consolas"/>
              </a:rPr>
              <a:t># não precisa de provisioner: é só</a:t>
            </a:r>
          </a:p>
          <a:p>
            <a:pPr algn="l">
              <a:spcBef>
                <a:spcPts val="0"/>
              </a:spcBef>
              <a:spcAft>
                <a:spcPts val="350"/>
              </a:spcAft>
            </a:pPr>
            <a:r>
              <a:rPr sz="1300" b="0" i="1">
                <a:solidFill>
                  <a:srgbClr val="595959"/>
                </a:solidFill>
                <a:latin typeface="Consolas"/>
              </a:rPr>
              <a:t># mais uma linha do seu programa Python</a:t>
            </a:r>
          </a:p>
          <a:p>
            <a:pPr algn="l">
              <a:spcBef>
                <a:spcPts val="0"/>
              </a:spcBef>
              <a:spcAft>
                <a:spcPts val="350"/>
              </a:spcAft>
            </a:pPr>
            <a:endParaRPr sz="1300" b="0" i="1">
              <a:solidFill>
                <a:srgbClr val="595959"/>
              </a:solidFill>
              <a:latin typeface="Consolas"/>
            </a:endParaRPr>
          </a:p>
          <a:p>
            <a:pPr algn="l">
              <a:spcBef>
                <a:spcPts val="0"/>
              </a:spcBef>
              <a:spcAft>
                <a:spcPts val="350"/>
              </a:spcAft>
            </a:pPr>
            <a:r>
              <a:rPr sz="1300" b="0" i="0">
                <a:solidFill>
                  <a:srgbClr val="262626"/>
                </a:solidFill>
                <a:latin typeface="Consolas"/>
              </a:rPr>
              <a:t>pulumi.export(</a:t>
            </a:r>
            <a:r>
              <a:rPr sz="1300" b="0" i="0">
                <a:solidFill>
                  <a:srgbClr val="2E7D32"/>
                </a:solidFill>
                <a:latin typeface="Consolas"/>
              </a:rPr>
              <a:t>"sha256_do_pacote"</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pacote.output_sha)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Exemplo 3 — O Que Muda de Verdade</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Os dois são "leituras", não recursos geridos:  </a:t>
            </a:r>
            <a:r>
              <a:rPr sz="3000">
                <a:solidFill>
                  <a:srgbClr val="262626"/>
                </a:solidFill>
                <a:latin typeface="Calibri"/>
              </a:rPr>
              <a:t>data "archive_file" no Terraform e archive.get_file(...) no Pulumi — ambos calculam um valor, sem manter ciclo de vida próprio.</a:t>
            </a:r>
          </a:p>
          <a:p>
            <a:pPr algn="l">
              <a:spcBef>
                <a:spcPts val="0"/>
              </a:spcBef>
              <a:spcAft>
                <a:spcPts val="2200"/>
              </a:spcAft>
            </a:pPr>
            <a:r>
              <a:rPr sz="3000" b="1">
                <a:solidFill>
                  <a:srgbClr val="004A8F"/>
                </a:solidFill>
                <a:latin typeface="Calibri"/>
              </a:rPr>
              <a:t>Sem provisioner:  </a:t>
            </a:r>
            <a:r>
              <a:rPr sz="3000">
                <a:solidFill>
                  <a:srgbClr val="262626"/>
                </a:solidFill>
                <a:latin typeface="Calibri"/>
              </a:rPr>
              <a:t>o Terraform precisa de terraform_data + provisioner "local-exec" como último recurso para rodar um comando pós-criação. No Pulumi, é só mais uma linha de Python — print(), uma chamada de função, o que for.</a:t>
            </a:r>
          </a:p>
          <a:p>
            <a:pPr algn="l">
              <a:spcBef>
                <a:spcPts val="0"/>
              </a:spcBef>
              <a:spcAft>
                <a:spcPts val="2200"/>
              </a:spcAft>
            </a:pPr>
            <a:r>
              <a:rPr sz="3000" b="1">
                <a:solidFill>
                  <a:srgbClr val="004A8F"/>
                </a:solidFill>
                <a:latin typeface="Calibri"/>
              </a:rPr>
              <a:t>Esse é o contraste mais didático de hoje:  </a:t>
            </a:r>
            <a:r>
              <a:rPr sz="3000">
                <a:solidFill>
                  <a:srgbClr val="262626"/>
                </a:solidFill>
                <a:latin typeface="Calibri"/>
              </a:rPr>
              <a:t>onde o Terraform precisa de uma "válvula de escape" (provisioner), o Pulumi simplesmente... continua sendo um programa.</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000" b="1">
                <a:solidFill>
                  <a:srgbClr val="0070C0"/>
                </a:solidFill>
                <a:latin typeface="Calibri"/>
              </a:rPr>
              <a:t>Exemplo 4 — Container Docker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58</a:t>
            </a:r>
          </a:p>
        </p:txBody>
      </p:sp>
      <p:sp>
        <p:nvSpPr>
          <p:cNvPr id="5" name="TextBox 4"/>
          <p:cNvSpPr txBox="1"/>
          <p:nvPr/>
        </p:nvSpPr>
        <p:spPr>
          <a:xfrm>
            <a:off x="1689100" y="3980000"/>
            <a:ext cx="19170650" cy="400000"/>
          </a:xfrm>
          <a:prstGeom prst="rect">
            <a:avLst/>
          </a:prstGeom>
          <a:noFill/>
        </p:spPr>
        <p:txBody>
          <a:bodyPr wrap="none">
            <a:spAutoFit/>
          </a:bodyPr>
          <a:lstStyle/>
          <a:p>
            <a:r>
              <a:rPr sz="1900" i="1">
                <a:solidFill>
                  <a:srgbClr val="595959"/>
                </a:solidFill>
                <a:latin typeface="Calibri"/>
              </a:rPr>
              <a:t>provider docker/kreuzwerker (Terraform) x pulumi_docker (Pulumi) — pré-requisito: Docker Desktop rodando</a:t>
            </a:r>
          </a:p>
        </p:txBody>
      </p:sp>
      <p:sp>
        <p:nvSpPr>
          <p:cNvPr id="6" name="Rounded Rectangle 5"/>
          <p:cNvSpPr/>
          <p:nvPr/>
        </p:nvSpPr>
        <p:spPr>
          <a:xfrm>
            <a:off x="1689100" y="4480000"/>
            <a:ext cx="9455325" cy="340000"/>
          </a:xfrm>
          <a:prstGeom prst="roundRect">
            <a:avLst>
              <a:gd name="adj" fmla="val 50000"/>
            </a:avLst>
          </a:prstGeom>
          <a:solidFill>
            <a:srgbClr val="004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TERRAFORM</a:t>
            </a:r>
          </a:p>
        </p:txBody>
      </p:sp>
      <p:sp>
        <p:nvSpPr>
          <p:cNvPr id="7" name="Rounded Rectangle 6"/>
          <p:cNvSpPr/>
          <p:nvPr/>
        </p:nvSpPr>
        <p:spPr>
          <a:xfrm>
            <a:off x="11404425" y="4480000"/>
            <a:ext cx="9455325" cy="340000"/>
          </a:xfrm>
          <a:prstGeom prst="roundRect">
            <a:avLst>
              <a:gd name="adj" fmla="val 50000"/>
            </a:avLst>
          </a:prstGeom>
          <a:solidFill>
            <a:srgbClr val="F5A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PULUMI</a:t>
            </a:r>
          </a:p>
        </p:txBody>
      </p:sp>
      <p:sp>
        <p:nvSpPr>
          <p:cNvPr id="8" name="Rounded Rectangle 7"/>
          <p:cNvSpPr/>
          <p:nvPr/>
        </p:nvSpPr>
        <p:spPr>
          <a:xfrm>
            <a:off x="1689100"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689100"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689100"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869100"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2109100"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349100"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89100" y="4945000"/>
            <a:ext cx="9455325" cy="280000"/>
          </a:xfrm>
          <a:prstGeom prst="rect">
            <a:avLst/>
          </a:prstGeom>
          <a:noFill/>
        </p:spPr>
        <p:txBody>
          <a:bodyPr wrap="none">
            <a:spAutoFit/>
          </a:bodyPr>
          <a:lstStyle/>
          <a:p>
            <a:pPr algn="ctr"/>
            <a:r>
              <a:rPr sz="1300">
                <a:solidFill>
                  <a:srgbClr val="595959"/>
                </a:solidFill>
                <a:latin typeface="Consolas"/>
              </a:rPr>
              <a:t>Main4.tf</a:t>
            </a:r>
          </a:p>
        </p:txBody>
      </p:sp>
      <p:sp>
        <p:nvSpPr>
          <p:cNvPr id="15" name="TextBox 14"/>
          <p:cNvSpPr txBox="1"/>
          <p:nvPr/>
        </p:nvSpPr>
        <p:spPr>
          <a:xfrm>
            <a:off x="1869100" y="5380000"/>
            <a:ext cx="9115325" cy="6810100"/>
          </a:xfrm>
          <a:prstGeom prst="rect">
            <a:avLst/>
          </a:prstGeom>
          <a:noFill/>
        </p:spPr>
        <p:txBody>
          <a:bodyPr wrap="square" anchor="t">
            <a:spAutoFit/>
          </a:bodyPr>
          <a:lstStyle/>
          <a:p>
            <a:pPr algn="l">
              <a:spcBef>
                <a:spcPts val="0"/>
              </a:spcBef>
              <a:spcAft>
                <a:spcPts val="150"/>
              </a:spcAft>
            </a:pPr>
            <a:r>
              <a:rPr sz="1000" b="1" i="0">
                <a:solidFill>
                  <a:srgbClr val="F5AC00"/>
                </a:solidFill>
                <a:latin typeface="Consolas"/>
              </a:rPr>
              <a:t>provider</a:t>
            </a:r>
            <a:r>
              <a:rPr sz="1000" b="0" i="0">
                <a:solidFill>
                  <a:srgbClr val="262626"/>
                </a:solidFill>
                <a:latin typeface="Consolas"/>
              </a:rPr>
              <a:t> "</a:t>
            </a:r>
            <a:r>
              <a:rPr sz="1000" b="0" i="1">
                <a:solidFill>
                  <a:srgbClr val="218CD6"/>
                </a:solidFill>
                <a:latin typeface="Consolas"/>
              </a:rPr>
              <a:t>docker</a:t>
            </a:r>
            <a:r>
              <a:rPr sz="1000" b="0" i="0">
                <a:solidFill>
                  <a:srgbClr val="262626"/>
                </a:solidFill>
                <a:latin typeface="Consolas"/>
              </a:rPr>
              <a:t>" {}</a:t>
            </a:r>
          </a:p>
          <a:p>
            <a:pPr algn="l">
              <a:spcBef>
                <a:spcPts val="0"/>
              </a:spcBef>
              <a:spcAft>
                <a:spcPts val="150"/>
              </a:spcAft>
            </a:pPr>
            <a:endParaRPr sz="1000" b="0" i="0">
              <a:solidFill>
                <a:srgbClr val="262626"/>
              </a:solidFill>
              <a:latin typeface="Consolas"/>
            </a:endParaRPr>
          </a:p>
          <a:p>
            <a:pPr algn="l">
              <a:spcBef>
                <a:spcPts val="0"/>
              </a:spcBef>
              <a:spcAft>
                <a:spcPts val="150"/>
              </a:spcAft>
            </a:pPr>
            <a:r>
              <a:rPr sz="1000" b="1" i="0">
                <a:solidFill>
                  <a:srgbClr val="F5AC00"/>
                </a:solidFill>
                <a:latin typeface="Consolas"/>
              </a:rPr>
              <a:t>resource</a:t>
            </a:r>
            <a:r>
              <a:rPr sz="1000" b="0" i="0">
                <a:solidFill>
                  <a:srgbClr val="262626"/>
                </a:solidFill>
                <a:latin typeface="Consolas"/>
              </a:rPr>
              <a:t> "</a:t>
            </a:r>
            <a:r>
              <a:rPr sz="1000" b="0" i="1">
                <a:solidFill>
                  <a:srgbClr val="218CD6"/>
                </a:solidFill>
                <a:latin typeface="Consolas"/>
              </a:rPr>
              <a:t>docker_image</a:t>
            </a:r>
            <a:r>
              <a:rPr sz="1000" b="0" i="0">
                <a:solidFill>
                  <a:srgbClr val="262626"/>
                </a:solidFill>
                <a:latin typeface="Consolas"/>
              </a:rPr>
              <a:t>" "nginx" {</a:t>
            </a:r>
          </a:p>
          <a:p>
            <a:pPr algn="l">
              <a:spcBef>
                <a:spcPts val="0"/>
              </a:spcBef>
              <a:spcAft>
                <a:spcPts val="150"/>
              </a:spcAft>
            </a:pPr>
            <a:r>
              <a:rPr sz="1000" b="0" i="0">
                <a:solidFill>
                  <a:srgbClr val="262626"/>
                </a:solidFill>
                <a:latin typeface="Consolas"/>
              </a:rPr>
              <a:t>  name = "nginx:latest"</a:t>
            </a:r>
          </a:p>
          <a:p>
            <a:pPr algn="l">
              <a:spcBef>
                <a:spcPts val="0"/>
              </a:spcBef>
              <a:spcAft>
                <a:spcPts val="150"/>
              </a:spcAft>
            </a:pPr>
            <a:r>
              <a:rPr sz="1000" b="0" i="0">
                <a:solidFill>
                  <a:srgbClr val="262626"/>
                </a:solidFill>
                <a:latin typeface="Consolas"/>
              </a:rPr>
              <a:t>}</a:t>
            </a:r>
          </a:p>
          <a:p>
            <a:pPr algn="l">
              <a:spcBef>
                <a:spcPts val="0"/>
              </a:spcBef>
              <a:spcAft>
                <a:spcPts val="150"/>
              </a:spcAft>
            </a:pPr>
            <a:endParaRPr sz="1000" b="0" i="0">
              <a:solidFill>
                <a:srgbClr val="262626"/>
              </a:solidFill>
              <a:latin typeface="Consolas"/>
            </a:endParaRPr>
          </a:p>
          <a:p>
            <a:pPr algn="l">
              <a:spcBef>
                <a:spcPts val="0"/>
              </a:spcBef>
              <a:spcAft>
                <a:spcPts val="150"/>
              </a:spcAft>
            </a:pPr>
            <a:r>
              <a:rPr sz="1000" b="1" i="0">
                <a:solidFill>
                  <a:srgbClr val="F5AC00"/>
                </a:solidFill>
                <a:latin typeface="Consolas"/>
              </a:rPr>
              <a:t>resource</a:t>
            </a:r>
            <a:r>
              <a:rPr sz="1000" b="0" i="0">
                <a:solidFill>
                  <a:srgbClr val="262626"/>
                </a:solidFill>
                <a:latin typeface="Consolas"/>
              </a:rPr>
              <a:t> "</a:t>
            </a:r>
            <a:r>
              <a:rPr sz="1000" b="0" i="1">
                <a:solidFill>
                  <a:srgbClr val="218CD6"/>
                </a:solidFill>
                <a:latin typeface="Consolas"/>
              </a:rPr>
              <a:t>docker_container</a:t>
            </a:r>
            <a:r>
              <a:rPr sz="1000" b="0" i="0">
                <a:solidFill>
                  <a:srgbClr val="262626"/>
                </a:solidFill>
                <a:latin typeface="Consolas"/>
              </a:rPr>
              <a:t>" "site" {</a:t>
            </a:r>
          </a:p>
          <a:p>
            <a:pPr algn="l">
              <a:spcBef>
                <a:spcPts val="0"/>
              </a:spcBef>
              <a:spcAft>
                <a:spcPts val="150"/>
              </a:spcAft>
            </a:pPr>
            <a:r>
              <a:rPr sz="1000" b="0" i="0">
                <a:solidFill>
                  <a:srgbClr val="262626"/>
                </a:solidFill>
                <a:latin typeface="Consolas"/>
              </a:rPr>
              <a:t>  name = "meu-site-local"</a:t>
            </a:r>
          </a:p>
          <a:p>
            <a:pPr algn="l">
              <a:spcBef>
                <a:spcPts val="0"/>
              </a:spcBef>
              <a:spcAft>
                <a:spcPts val="150"/>
              </a:spcAft>
            </a:pPr>
            <a:r>
              <a:rPr sz="1000" b="0" i="0">
                <a:solidFill>
                  <a:srgbClr val="262626"/>
                </a:solidFill>
                <a:latin typeface="Consolas"/>
              </a:rPr>
              <a:t>  image = docker_image.nginx.image_id</a:t>
            </a:r>
          </a:p>
          <a:p>
            <a:pPr algn="l">
              <a:spcBef>
                <a:spcPts val="0"/>
              </a:spcBef>
              <a:spcAft>
                <a:spcPts val="150"/>
              </a:spcAft>
            </a:pPr>
            <a:endParaRPr sz="1000" b="0" i="0">
              <a:solidFill>
                <a:srgbClr val="262626"/>
              </a:solidFill>
              <a:latin typeface="Consolas"/>
            </a:endParaRPr>
          </a:p>
          <a:p>
            <a:pPr algn="l">
              <a:spcBef>
                <a:spcPts val="0"/>
              </a:spcBef>
              <a:spcAft>
                <a:spcPts val="150"/>
              </a:spcAft>
            </a:pPr>
            <a:r>
              <a:rPr sz="1000" b="0" i="0">
                <a:solidFill>
                  <a:srgbClr val="262626"/>
                </a:solidFill>
                <a:latin typeface="Consolas"/>
              </a:rPr>
              <a:t>  ports {</a:t>
            </a:r>
          </a:p>
          <a:p>
            <a:pPr algn="l">
              <a:spcBef>
                <a:spcPts val="0"/>
              </a:spcBef>
              <a:spcAft>
                <a:spcPts val="150"/>
              </a:spcAft>
            </a:pPr>
            <a:r>
              <a:rPr sz="1000" b="0" i="0">
                <a:solidFill>
                  <a:srgbClr val="262626"/>
                </a:solidFill>
                <a:latin typeface="Consolas"/>
              </a:rPr>
              <a:t>    internal = 80</a:t>
            </a:r>
          </a:p>
          <a:p>
            <a:pPr algn="l">
              <a:spcBef>
                <a:spcPts val="0"/>
              </a:spcBef>
              <a:spcAft>
                <a:spcPts val="150"/>
              </a:spcAft>
            </a:pPr>
            <a:r>
              <a:rPr sz="1000" b="0" i="0">
                <a:solidFill>
                  <a:srgbClr val="262626"/>
                </a:solidFill>
                <a:latin typeface="Consolas"/>
              </a:rPr>
              <a:t>    external = 8080</a:t>
            </a:r>
          </a:p>
          <a:p>
            <a:pPr algn="l">
              <a:spcBef>
                <a:spcPts val="0"/>
              </a:spcBef>
              <a:spcAft>
                <a:spcPts val="150"/>
              </a:spcAft>
            </a:pPr>
            <a:r>
              <a:rPr sz="1000" b="0" i="0">
                <a:solidFill>
                  <a:srgbClr val="262626"/>
                </a:solidFill>
                <a:latin typeface="Consolas"/>
              </a:rPr>
              <a:t>  }</a:t>
            </a:r>
          </a:p>
          <a:p>
            <a:pPr algn="l">
              <a:spcBef>
                <a:spcPts val="0"/>
              </a:spcBef>
              <a:spcAft>
                <a:spcPts val="150"/>
              </a:spcAft>
            </a:pPr>
            <a:r>
              <a:rPr sz="1000" b="0" i="0">
                <a:solidFill>
                  <a:srgbClr val="262626"/>
                </a:solidFill>
                <a:latin typeface="Consolas"/>
              </a:rPr>
              <a:t>}</a:t>
            </a:r>
          </a:p>
          <a:p>
            <a:pPr algn="l">
              <a:spcBef>
                <a:spcPts val="0"/>
              </a:spcBef>
              <a:spcAft>
                <a:spcPts val="150"/>
              </a:spcAft>
            </a:pPr>
            <a:endParaRPr sz="1000" b="0" i="0">
              <a:solidFill>
                <a:srgbClr val="262626"/>
              </a:solidFill>
              <a:latin typeface="Consolas"/>
            </a:endParaRPr>
          </a:p>
          <a:p>
            <a:pPr algn="l">
              <a:spcBef>
                <a:spcPts val="0"/>
              </a:spcBef>
              <a:spcAft>
                <a:spcPts val="150"/>
              </a:spcAft>
            </a:pPr>
            <a:r>
              <a:rPr sz="1000" b="1" i="0">
                <a:solidFill>
                  <a:srgbClr val="F5AC00"/>
                </a:solidFill>
                <a:latin typeface="Consolas"/>
              </a:rPr>
              <a:t>output</a:t>
            </a:r>
            <a:r>
              <a:rPr sz="1000" b="0" i="0">
                <a:solidFill>
                  <a:srgbClr val="262626"/>
                </a:solidFill>
                <a:latin typeface="Consolas"/>
              </a:rPr>
              <a:t> "acesse_em" {</a:t>
            </a:r>
          </a:p>
          <a:p>
            <a:pPr algn="l">
              <a:spcBef>
                <a:spcPts val="0"/>
              </a:spcBef>
              <a:spcAft>
                <a:spcPts val="150"/>
              </a:spcAft>
            </a:pPr>
            <a:r>
              <a:rPr sz="1000" b="0" i="0">
                <a:solidFill>
                  <a:srgbClr val="262626"/>
                </a:solidFill>
                <a:latin typeface="Consolas"/>
              </a:rPr>
              <a:t>  </a:t>
            </a:r>
            <a:r>
              <a:rPr sz="1000" b="1" i="0">
                <a:solidFill>
                  <a:srgbClr val="F5AC00"/>
                </a:solidFill>
                <a:latin typeface="Consolas"/>
              </a:rPr>
              <a:t>value</a:t>
            </a:r>
            <a:r>
              <a:rPr sz="1000" b="0" i="0">
                <a:solidFill>
                  <a:srgbClr val="262626"/>
                </a:solidFill>
                <a:latin typeface="Consolas"/>
              </a:rPr>
              <a:t> = "http://localhost:8080"</a:t>
            </a:r>
          </a:p>
          <a:p>
            <a:pPr algn="l">
              <a:spcBef>
                <a:spcPts val="0"/>
              </a:spcBef>
              <a:spcAft>
                <a:spcPts val="150"/>
              </a:spcAft>
            </a:pPr>
            <a:r>
              <a:rPr sz="1000" b="0" i="0">
                <a:solidFill>
                  <a:srgbClr val="262626"/>
                </a:solidFill>
                <a:latin typeface="Consolas"/>
              </a:rPr>
              <a:t>}</a:t>
            </a:r>
          </a:p>
        </p:txBody>
      </p:sp>
      <p:sp>
        <p:nvSpPr>
          <p:cNvPr id="16" name="Rounded Rectangle 15"/>
          <p:cNvSpPr/>
          <p:nvPr/>
        </p:nvSpPr>
        <p:spPr>
          <a:xfrm>
            <a:off x="11404425" y="4870000"/>
            <a:ext cx="9455325" cy="7360100"/>
          </a:xfrm>
          <a:prstGeom prst="roundRect">
            <a:avLst>
              <a:gd name="adj" fmla="val 3000"/>
            </a:avLst>
          </a:prstGeom>
          <a:solidFill>
            <a:srgbClr val="FFFFFF"/>
          </a:solidFill>
          <a:ln w="12700">
            <a:solidFill>
              <a:srgbClr val="D9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1404425" y="4870000"/>
            <a:ext cx="9455325" cy="400000"/>
          </a:xfrm>
          <a:prstGeom prst="roundRect">
            <a:avLst>
              <a:gd name="adj" fmla="val 22000"/>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404425" y="5070000"/>
            <a:ext cx="9455325" cy="200000"/>
          </a:xfrm>
          <a:prstGeom prst="rect">
            <a:avLst/>
          </a:prstGeom>
          <a:solidFill>
            <a:srgbClr val="E9EC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584425" y="5000000"/>
            <a:ext cx="130000" cy="13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824425" y="5000000"/>
            <a:ext cx="130000" cy="13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2064425" y="5000000"/>
            <a:ext cx="130000" cy="13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404425" y="4945000"/>
            <a:ext cx="9455325" cy="280000"/>
          </a:xfrm>
          <a:prstGeom prst="rect">
            <a:avLst/>
          </a:prstGeom>
          <a:noFill/>
        </p:spPr>
        <p:txBody>
          <a:bodyPr wrap="none">
            <a:spAutoFit/>
          </a:bodyPr>
          <a:lstStyle/>
          <a:p>
            <a:pPr algn="ctr"/>
            <a:r>
              <a:rPr sz="1300">
                <a:solidFill>
                  <a:srgbClr val="595959"/>
                </a:solidFill>
                <a:latin typeface="Consolas"/>
              </a:rPr>
              <a:t>main4.py</a:t>
            </a:r>
          </a:p>
        </p:txBody>
      </p:sp>
      <p:sp>
        <p:nvSpPr>
          <p:cNvPr id="23" name="TextBox 22"/>
          <p:cNvSpPr txBox="1"/>
          <p:nvPr/>
        </p:nvSpPr>
        <p:spPr>
          <a:xfrm>
            <a:off x="11584425" y="5380000"/>
            <a:ext cx="9115325" cy="6810100"/>
          </a:xfrm>
          <a:prstGeom prst="rect">
            <a:avLst/>
          </a:prstGeom>
          <a:noFill/>
        </p:spPr>
        <p:txBody>
          <a:bodyPr wrap="square" anchor="t">
            <a:spAutoFit/>
          </a:bodyPr>
          <a:lstStyle/>
          <a:p>
            <a:pPr algn="l">
              <a:spcBef>
                <a:spcPts val="0"/>
              </a:spcBef>
              <a:spcAft>
                <a:spcPts val="350"/>
              </a:spcAft>
            </a:pPr>
            <a:r>
              <a:rPr sz="1300" b="1" i="0">
                <a:solidFill>
                  <a:srgbClr val="F5AC00"/>
                </a:solidFill>
                <a:latin typeface="Consolas"/>
              </a:rPr>
              <a:t>import</a:t>
            </a:r>
            <a:r>
              <a:rPr sz="1300" b="0" i="0">
                <a:solidFill>
                  <a:srgbClr val="262626"/>
                </a:solidFill>
                <a:latin typeface="Consolas"/>
              </a:rPr>
              <a:t> pulumi</a:t>
            </a:r>
          </a:p>
          <a:p>
            <a:pPr algn="l">
              <a:spcBef>
                <a:spcPts val="0"/>
              </a:spcBef>
              <a:spcAft>
                <a:spcPts val="350"/>
              </a:spcAft>
            </a:pPr>
            <a:r>
              <a:rPr sz="1300" b="1" i="0">
                <a:solidFill>
                  <a:srgbClr val="F5AC00"/>
                </a:solidFill>
                <a:latin typeface="Consolas"/>
              </a:rPr>
              <a:t>import</a:t>
            </a:r>
            <a:r>
              <a:rPr sz="1300" b="0" i="0">
                <a:solidFill>
                  <a:srgbClr val="262626"/>
                </a:solidFill>
                <a:latin typeface="Consolas"/>
              </a:rPr>
              <a:t> pulumi_docker </a:t>
            </a:r>
            <a:r>
              <a:rPr sz="1300" b="1" i="0">
                <a:solidFill>
                  <a:srgbClr val="F5AC00"/>
                </a:solidFill>
                <a:latin typeface="Consolas"/>
              </a:rPr>
              <a:t>as</a:t>
            </a:r>
            <a:r>
              <a:rPr sz="1300" b="0" i="0">
                <a:solidFill>
                  <a:srgbClr val="262626"/>
                </a:solidFill>
                <a:latin typeface="Consolas"/>
              </a:rPr>
              <a:t> docker</a:t>
            </a:r>
          </a:p>
          <a:p>
            <a:pPr algn="l">
              <a:spcBef>
                <a:spcPts val="0"/>
              </a:spcBef>
              <a:spcAft>
                <a:spcPts val="350"/>
              </a:spcAft>
            </a:pPr>
            <a:endParaRPr sz="1300" b="0" i="0">
              <a:solidFill>
                <a:srgbClr val="262626"/>
              </a:solidFill>
              <a:latin typeface="Consolas"/>
            </a:endParaRPr>
          </a:p>
          <a:p>
            <a:pPr algn="l">
              <a:spcBef>
                <a:spcPts val="0"/>
              </a:spcBef>
              <a:spcAft>
                <a:spcPts val="350"/>
              </a:spcAft>
            </a:pPr>
            <a:r>
              <a:rPr sz="1300" b="0" i="0">
                <a:solidFill>
                  <a:srgbClr val="262626"/>
                </a:solidFill>
                <a:latin typeface="Consolas"/>
              </a:rPr>
              <a:t>nginx = docker.RemoteImage(</a:t>
            </a:r>
            <a:r>
              <a:rPr sz="1300" b="0" i="0">
                <a:solidFill>
                  <a:srgbClr val="2E7D32"/>
                </a:solidFill>
                <a:latin typeface="Consolas"/>
              </a:rPr>
              <a:t>"nginx"</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name=</a:t>
            </a:r>
            <a:r>
              <a:rPr sz="1300" b="0" i="0">
                <a:solidFill>
                  <a:srgbClr val="2E7D32"/>
                </a:solidFill>
                <a:latin typeface="Consolas"/>
              </a:rPr>
              <a:t>"nginx:latest"</a:t>
            </a:r>
            <a:r>
              <a:rPr sz="1300" b="0" i="0">
                <a:solidFill>
                  <a:srgbClr val="262626"/>
                </a:solidFill>
                <a:latin typeface="Consolas"/>
              </a:rPr>
              <a:t>)</a:t>
            </a:r>
          </a:p>
          <a:p>
            <a:pPr algn="l">
              <a:spcBef>
                <a:spcPts val="0"/>
              </a:spcBef>
              <a:spcAft>
                <a:spcPts val="350"/>
              </a:spcAft>
            </a:pPr>
            <a:endParaRPr sz="1300" b="0" i="0">
              <a:solidFill>
                <a:srgbClr val="262626"/>
              </a:solidFill>
              <a:latin typeface="Consolas"/>
            </a:endParaRPr>
          </a:p>
          <a:p>
            <a:pPr algn="l">
              <a:spcBef>
                <a:spcPts val="0"/>
              </a:spcBef>
              <a:spcAft>
                <a:spcPts val="350"/>
              </a:spcAft>
            </a:pPr>
            <a:r>
              <a:rPr sz="1300" b="0" i="0">
                <a:solidFill>
                  <a:srgbClr val="262626"/>
                </a:solidFill>
                <a:latin typeface="Consolas"/>
              </a:rPr>
              <a:t>site = docker.Container(</a:t>
            </a:r>
            <a:r>
              <a:rPr sz="1300" b="0" i="0">
                <a:solidFill>
                  <a:srgbClr val="2E7D32"/>
                </a:solidFill>
                <a:latin typeface="Consolas"/>
              </a:rPr>
              <a:t>"site"</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name=</a:t>
            </a:r>
            <a:r>
              <a:rPr sz="1300" b="0" i="0">
                <a:solidFill>
                  <a:srgbClr val="2E7D32"/>
                </a:solidFill>
                <a:latin typeface="Consolas"/>
              </a:rPr>
              <a:t>"meu-site-local"</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image=nginx.image_id,</a:t>
            </a:r>
          </a:p>
          <a:p>
            <a:pPr algn="l">
              <a:spcBef>
                <a:spcPts val="0"/>
              </a:spcBef>
              <a:spcAft>
                <a:spcPts val="350"/>
              </a:spcAft>
            </a:pPr>
            <a:r>
              <a:rPr sz="1300" b="0" i="0">
                <a:solidFill>
                  <a:srgbClr val="262626"/>
                </a:solidFill>
                <a:latin typeface="Consolas"/>
              </a:rPr>
              <a:t>    ports=[docker.ContainerPortArgs(</a:t>
            </a:r>
          </a:p>
          <a:p>
            <a:pPr algn="l">
              <a:spcBef>
                <a:spcPts val="0"/>
              </a:spcBef>
              <a:spcAft>
                <a:spcPts val="350"/>
              </a:spcAft>
            </a:pPr>
            <a:r>
              <a:rPr sz="1300" b="0" i="0">
                <a:solidFill>
                  <a:srgbClr val="262626"/>
                </a:solidFill>
                <a:latin typeface="Consolas"/>
              </a:rPr>
              <a:t>        internal=80, external=8080)])</a:t>
            </a:r>
          </a:p>
          <a:p>
            <a:pPr algn="l">
              <a:spcBef>
                <a:spcPts val="0"/>
              </a:spcBef>
              <a:spcAft>
                <a:spcPts val="350"/>
              </a:spcAft>
            </a:pPr>
            <a:endParaRPr sz="1300" b="0" i="0">
              <a:solidFill>
                <a:srgbClr val="262626"/>
              </a:solidFill>
              <a:latin typeface="Consolas"/>
            </a:endParaRPr>
          </a:p>
          <a:p>
            <a:pPr algn="l">
              <a:spcBef>
                <a:spcPts val="0"/>
              </a:spcBef>
              <a:spcAft>
                <a:spcPts val="350"/>
              </a:spcAft>
            </a:pPr>
            <a:r>
              <a:rPr sz="1300" b="0" i="0">
                <a:solidFill>
                  <a:srgbClr val="262626"/>
                </a:solidFill>
                <a:latin typeface="Consolas"/>
              </a:rPr>
              <a:t>pulumi.export(</a:t>
            </a:r>
            <a:r>
              <a:rPr sz="1300" b="0" i="0">
                <a:solidFill>
                  <a:srgbClr val="2E7D32"/>
                </a:solidFill>
                <a:latin typeface="Consolas"/>
              </a:rPr>
              <a:t>"acesse_em"</a:t>
            </a:r>
            <a:r>
              <a:rPr sz="1300" b="0" i="0">
                <a:solidFill>
                  <a:srgbClr val="262626"/>
                </a:solidFill>
                <a:latin typeface="Consolas"/>
              </a:rPr>
              <a:t>,</a:t>
            </a:r>
          </a:p>
          <a:p>
            <a:pPr algn="l">
              <a:spcBef>
                <a:spcPts val="0"/>
              </a:spcBef>
              <a:spcAft>
                <a:spcPts val="350"/>
              </a:spcAft>
            </a:pPr>
            <a:r>
              <a:rPr sz="1300" b="0" i="0">
                <a:solidFill>
                  <a:srgbClr val="262626"/>
                </a:solidFill>
                <a:latin typeface="Consolas"/>
              </a:rPr>
              <a:t>    </a:t>
            </a:r>
            <a:r>
              <a:rPr sz="1300" b="0" i="0">
                <a:solidFill>
                  <a:srgbClr val="2E7D32"/>
                </a:solidFill>
                <a:latin typeface="Consolas"/>
              </a:rPr>
              <a:t>"http://localhost:8080"</a:t>
            </a:r>
            <a:r>
              <a:rPr sz="1300" b="0" i="0">
                <a:solidFill>
                  <a:srgbClr val="262626"/>
                </a:solidFill>
                <a:latin typeface="Consolas"/>
              </a:rPr>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Exemplo 4 — O Que Muda de Verdade</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docker_image → RemoteImage:  </a:t>
            </a:r>
            <a:r>
              <a:rPr sz="3000">
                <a:solidFill>
                  <a:srgbClr val="262626"/>
                </a:solidFill>
                <a:latin typeface="Calibri"/>
              </a:rPr>
              <a:t>e docker_container → Container — mesmo par de recursos, nomes adaptados à convenção Python (PascalCase).</a:t>
            </a:r>
          </a:p>
          <a:p>
            <a:pPr algn="l">
              <a:spcBef>
                <a:spcPts val="0"/>
              </a:spcBef>
              <a:spcAft>
                <a:spcPts val="2200"/>
              </a:spcAft>
            </a:pPr>
            <a:r>
              <a:rPr sz="3000" b="1">
                <a:solidFill>
                  <a:srgbClr val="004A8F"/>
                </a:solidFill>
                <a:latin typeface="Calibri"/>
              </a:rPr>
              <a:t>ContainerPortArgs:  </a:t>
            </a:r>
            <a:r>
              <a:rPr sz="3000">
                <a:solidFill>
                  <a:srgbClr val="262626"/>
                </a:solidFill>
                <a:latin typeface="Calibri"/>
              </a:rPr>
              <a:t>substitui o bloco ports {} do HCL por um objeto de argumentos tipado — o autocomplete da sua IDE já mostra os campos disponíveis.</a:t>
            </a:r>
          </a:p>
          <a:p>
            <a:pPr algn="l">
              <a:spcBef>
                <a:spcPts val="0"/>
              </a:spcBef>
              <a:spcAft>
                <a:spcPts val="2200"/>
              </a:spcAft>
            </a:pPr>
            <a:r>
              <a:rPr sz="3000" b="1">
                <a:solidFill>
                  <a:srgbClr val="004A8F"/>
                </a:solidFill>
                <a:latin typeface="Calibri"/>
              </a:rPr>
              <a:t>Depois do apply:  </a:t>
            </a:r>
            <a:r>
              <a:rPr sz="3000">
                <a:solidFill>
                  <a:srgbClr val="262626"/>
                </a:solidFill>
                <a:latin typeface="Calibri"/>
              </a:rPr>
              <a:t>abra localhost:8080, igual à Aula 02.</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Terraform x Pulumi: Prós, Contras e Quando Usar Cada Um</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Depois de ver os dois lado a lado, a pergunta que fica: quando escolher qual?</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6</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Terraform — Prós e Contras</a:t>
            </a:r>
          </a:p>
        </p:txBody>
      </p:sp>
      <p:sp>
        <p:nvSpPr>
          <p:cNvPr id="3" name="Content Placeholder 2"/>
          <p:cNvSpPr>
            <a:spLocks noGrp="1"/>
          </p:cNvSpPr>
          <p:nvPr>
            <p:ph idx="1"/>
          </p:nvPr>
        </p:nvSpPr>
        <p:spPr/>
        <p:txBody>
          <a:bodyPr wrap="square" anchor="t"/>
          <a:lstStyle/>
          <a:p>
            <a:pPr algn="l">
              <a:spcBef>
                <a:spcPts val="0"/>
              </a:spcBef>
              <a:spcAft>
                <a:spcPts val="1800"/>
              </a:spcAft>
            </a:pPr>
            <a:r>
              <a:rPr sz="2600" b="1">
                <a:solidFill>
                  <a:srgbClr val="004A8F"/>
                </a:solidFill>
                <a:latin typeface="Calibri"/>
              </a:rPr>
              <a:t>Prós — maturidade:  </a:t>
            </a:r>
            <a:r>
              <a:rPr sz="2600">
                <a:solidFill>
                  <a:srgbClr val="262626"/>
                </a:solidFill>
                <a:latin typeface="Calibri"/>
              </a:rPr>
              <a:t>ecossistema enorme, padrão de facto do mercado, grande base de módulos prontos no Registry.</a:t>
            </a:r>
          </a:p>
          <a:p>
            <a:pPr algn="l">
              <a:spcBef>
                <a:spcPts val="0"/>
              </a:spcBef>
              <a:spcAft>
                <a:spcPts val="1800"/>
              </a:spcAft>
            </a:pPr>
            <a:r>
              <a:rPr sz="2600" b="1">
                <a:solidFill>
                  <a:srgbClr val="004A8F"/>
                </a:solidFill>
                <a:latin typeface="Calibri"/>
              </a:rPr>
              <a:t>Prós — HCL é uma DSL restrita:  </a:t>
            </a:r>
            <a:r>
              <a:rPr sz="2600">
                <a:solidFill>
                  <a:srgbClr val="262626"/>
                </a:solidFill>
                <a:latin typeface="Calibri"/>
              </a:rPr>
              <a:t>mesmo quem não programa consegue ler e revisar um main.tf com pouco treino — menor superfície para "gambiarras".</a:t>
            </a:r>
          </a:p>
          <a:p>
            <a:pPr algn="l">
              <a:spcBef>
                <a:spcPts val="0"/>
              </a:spcBef>
              <a:spcAft>
                <a:spcPts val="1800"/>
              </a:spcAft>
            </a:pPr>
            <a:r>
              <a:rPr sz="2600" b="1">
                <a:solidFill>
                  <a:srgbClr val="004A8F"/>
                </a:solidFill>
                <a:latin typeface="Calibri"/>
              </a:rPr>
              <a:t>Contras — DSL limitada para lógica complexa:  </a:t>
            </a:r>
            <a:r>
              <a:rPr sz="2600">
                <a:solidFill>
                  <a:srgbClr val="262626"/>
                </a:solidFill>
                <a:latin typeface="Calibri"/>
              </a:rPr>
              <a:t>count, for_each e dynamic ficam verbosos rapidamente quando a lógica foge do trivial.</a:t>
            </a:r>
          </a:p>
          <a:p>
            <a:pPr algn="l">
              <a:spcBef>
                <a:spcPts val="0"/>
              </a:spcBef>
              <a:spcAft>
                <a:spcPts val="1800"/>
              </a:spcAft>
            </a:pPr>
            <a:r>
              <a:rPr sz="2600" b="1">
                <a:solidFill>
                  <a:srgbClr val="004A8F"/>
                </a:solidFill>
                <a:latin typeface="Calibri"/>
              </a:rPr>
              <a:t>Contras — testes automatizados são mais trabalhosos:  </a:t>
            </a:r>
            <a:r>
              <a:rPr sz="2600">
                <a:solidFill>
                  <a:srgbClr val="262626"/>
                </a:solidFill>
                <a:latin typeface="Calibri"/>
              </a:rPr>
              <a:t>sem suporte nativo a unit tests; ferramentas como Terratest exigem escrever Go.</a:t>
            </a:r>
          </a:p>
          <a:p>
            <a:pPr algn="l">
              <a:spcBef>
                <a:spcPts val="0"/>
              </a:spcBef>
              <a:spcAft>
                <a:spcPts val="1800"/>
              </a:spcAft>
            </a:pPr>
            <a:r>
              <a:rPr sz="2600" b="1">
                <a:solidFill>
                  <a:srgbClr val="004A8F"/>
                </a:solidFill>
                <a:latin typeface="Calibri"/>
              </a:rPr>
              <a:t>Contras — provisioners são um escape hatch tosco:  </a:t>
            </a:r>
            <a:r>
              <a:rPr sz="2600">
                <a:solidFill>
                  <a:srgbClr val="262626"/>
                </a:solidFill>
                <a:latin typeface="Calibri"/>
              </a:rPr>
              <a:t>para qualquer lógica que a DSL não cobre, a saída é um comando shell dentro de um provisioner.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Pulumi — Prós e Contras</a:t>
            </a:r>
          </a:p>
        </p:txBody>
      </p:sp>
      <p:sp>
        <p:nvSpPr>
          <p:cNvPr id="3" name="Content Placeholder 2"/>
          <p:cNvSpPr>
            <a:spLocks noGrp="1"/>
          </p:cNvSpPr>
          <p:nvPr>
            <p:ph idx="1"/>
          </p:nvPr>
        </p:nvSpPr>
        <p:spPr/>
        <p:txBody>
          <a:bodyPr wrap="square" anchor="t"/>
          <a:lstStyle/>
          <a:p>
            <a:pPr algn="l">
              <a:spcBef>
                <a:spcPts val="0"/>
              </a:spcBef>
              <a:spcAft>
                <a:spcPts val="1600"/>
              </a:spcAft>
            </a:pPr>
            <a:r>
              <a:rPr sz="2400" b="1">
                <a:solidFill>
                  <a:srgbClr val="004A8F"/>
                </a:solidFill>
                <a:latin typeface="Calibri"/>
              </a:rPr>
              <a:t>Prós — linguagem real:  </a:t>
            </a:r>
            <a:r>
              <a:rPr sz="2400">
                <a:solidFill>
                  <a:srgbClr val="262626"/>
                </a:solidFill>
                <a:latin typeface="Calibri"/>
              </a:rPr>
              <a:t>loops, funções, classes, autocomplete e checagem de tipos da própria IDE — Python de verdade, não uma DSL.</a:t>
            </a:r>
          </a:p>
          <a:p>
            <a:pPr algn="l">
              <a:spcBef>
                <a:spcPts val="0"/>
              </a:spcBef>
              <a:spcAft>
                <a:spcPts val="1600"/>
              </a:spcAft>
            </a:pPr>
            <a:r>
              <a:rPr sz="2400" b="1">
                <a:solidFill>
                  <a:srgbClr val="004A8F"/>
                </a:solidFill>
                <a:latin typeface="Calibri"/>
              </a:rPr>
              <a:t>Prós — testável como qualquer código Python:  </a:t>
            </a:r>
            <a:r>
              <a:rPr sz="2400">
                <a:solidFill>
                  <a:srgbClr val="262626"/>
                </a:solidFill>
                <a:latin typeface="Calibri"/>
              </a:rPr>
              <a:t>pytest comum, mocks nativos (pulumi.runtime.set_mocks) — reaproveita a mesma disciplina de testes do resto do projeto.</a:t>
            </a:r>
          </a:p>
          <a:p>
            <a:pPr algn="l">
              <a:spcBef>
                <a:spcPts val="0"/>
              </a:spcBef>
              <a:spcAft>
                <a:spcPts val="1600"/>
              </a:spcAft>
            </a:pPr>
            <a:r>
              <a:rPr sz="2400" b="1">
                <a:solidFill>
                  <a:srgbClr val="004A8F"/>
                </a:solidFill>
                <a:latin typeface="Calibri"/>
              </a:rPr>
              <a:t>Prós — Automation API e CrossGuard:  </a:t>
            </a:r>
            <a:r>
              <a:rPr sz="2400">
                <a:solidFill>
                  <a:srgbClr val="262626"/>
                </a:solidFill>
                <a:latin typeface="Calibri"/>
              </a:rPr>
              <a:t>recursos sem equivalente direto e fácil no Terraform, voltados para quem constrói plataformas internas de infraestrutura.</a:t>
            </a:r>
          </a:p>
          <a:p>
            <a:pPr algn="l">
              <a:spcBef>
                <a:spcPts val="0"/>
              </a:spcBef>
              <a:spcAft>
                <a:spcPts val="1600"/>
              </a:spcAft>
            </a:pPr>
            <a:r>
              <a:rPr sz="2400" b="1">
                <a:solidFill>
                  <a:srgbClr val="004A8F"/>
                </a:solidFill>
                <a:latin typeface="Calibri"/>
              </a:rPr>
              <a:t>Contras — ecossistema menor:  </a:t>
            </a:r>
            <a:r>
              <a:rPr sz="2400">
                <a:solidFill>
                  <a:srgbClr val="262626"/>
                </a:solidFill>
                <a:latin typeface="Calibri"/>
              </a:rPr>
              <a:t>menos exemplos prontos, menos módulos de terceiros do que o Terraform Registry.</a:t>
            </a:r>
          </a:p>
          <a:p>
            <a:pPr algn="l">
              <a:spcBef>
                <a:spcPts val="0"/>
              </a:spcBef>
              <a:spcAft>
                <a:spcPts val="1600"/>
              </a:spcAft>
            </a:pPr>
            <a:r>
              <a:rPr sz="2400" b="1">
                <a:solidFill>
                  <a:srgbClr val="004A8F"/>
                </a:solidFill>
                <a:latin typeface="Calibri"/>
              </a:rPr>
              <a:t>Contras — "poder demais" pode virar problema:  </a:t>
            </a:r>
            <a:r>
              <a:rPr sz="2400">
                <a:solidFill>
                  <a:srgbClr val="262626"/>
                </a:solidFill>
                <a:latin typeface="Calibri"/>
              </a:rPr>
              <a:t>nada impede um desenvolvedor de criar loops complexos, side-effects escondidos ou código de infra difícil de revisar — a DSL restrita do Terraform, ironicamente, protege contra isso.</a:t>
            </a:r>
          </a:p>
          <a:p>
            <a:pPr algn="l">
              <a:spcBef>
                <a:spcPts val="0"/>
              </a:spcBef>
              <a:spcAft>
                <a:spcPts val="1600"/>
              </a:spcAft>
            </a:pPr>
            <a:r>
              <a:rPr sz="2400" b="1">
                <a:solidFill>
                  <a:srgbClr val="004A8F"/>
                </a:solidFill>
                <a:latin typeface="Calibri"/>
              </a:rPr>
              <a:t>Contras — curva de aprendizado:  </a:t>
            </a:r>
            <a:r>
              <a:rPr sz="2400">
                <a:solidFill>
                  <a:srgbClr val="262626"/>
                </a:solidFill>
                <a:latin typeface="Calibri"/>
              </a:rPr>
              <a:t>maior para quem não tem familiaridade prévia com programação.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Quando Usar Qual</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Times de infraestrutura tradicionais:  </a:t>
            </a:r>
            <a:r>
              <a:rPr sz="2800">
                <a:solidFill>
                  <a:srgbClr val="262626"/>
                </a:solidFill>
                <a:latin typeface="Calibri"/>
              </a:rPr>
              <a:t>com pouca familiaridade com programação, ou que priorizam revisão simples de código por qualquer pessoa do time → Terraform.</a:t>
            </a:r>
          </a:p>
          <a:p>
            <a:pPr algn="l">
              <a:spcBef>
                <a:spcPts val="0"/>
              </a:spcBef>
              <a:spcAft>
                <a:spcPts val="2000"/>
              </a:spcAft>
            </a:pPr>
            <a:r>
              <a:rPr sz="2800" b="1">
                <a:solidFill>
                  <a:srgbClr val="004A8F"/>
                </a:solidFill>
                <a:latin typeface="Calibri"/>
              </a:rPr>
              <a:t>Times já fortes em uma linguagem de programação:  </a:t>
            </a:r>
            <a:r>
              <a:rPr sz="2800">
                <a:solidFill>
                  <a:srgbClr val="262626"/>
                </a:solidFill>
                <a:latin typeface="Calibri"/>
              </a:rPr>
              <a:t>como um time de MLOps/Data Science, que já testam e revisam código Python no dia a dia → Pulumi.</a:t>
            </a:r>
          </a:p>
          <a:p>
            <a:pPr algn="l">
              <a:spcBef>
                <a:spcPts val="0"/>
              </a:spcBef>
              <a:spcAft>
                <a:spcPts val="2000"/>
              </a:spcAft>
            </a:pPr>
            <a:r>
              <a:rPr sz="2800" b="1">
                <a:solidFill>
                  <a:srgbClr val="004A8F"/>
                </a:solidFill>
                <a:latin typeface="Calibri"/>
              </a:rPr>
              <a:t>Plataformas internas de self-service:  </a:t>
            </a:r>
            <a:r>
              <a:rPr sz="2800">
                <a:solidFill>
                  <a:srgbClr val="262626"/>
                </a:solidFill>
                <a:latin typeface="Calibri"/>
              </a:rPr>
              <a:t>com necessidade de orquestrar deploys programaticamente (Automation API) → Pulumi leva vantagem clara.</a:t>
            </a:r>
          </a:p>
          <a:p>
            <a:pPr algn="l">
              <a:spcBef>
                <a:spcPts val="0"/>
              </a:spcBef>
              <a:spcAft>
                <a:spcPts val="2000"/>
              </a:spcAft>
            </a:pPr>
            <a:r>
              <a:rPr sz="2800" b="1">
                <a:solidFill>
                  <a:srgbClr val="004A8F"/>
                </a:solidFill>
                <a:latin typeface="Calibri"/>
              </a:rPr>
              <a:t>Realidade de mercado:  </a:t>
            </a:r>
            <a:r>
              <a:rPr sz="2800">
                <a:solidFill>
                  <a:srgbClr val="262626"/>
                </a:solidFill>
                <a:latin typeface="Calibri"/>
              </a:rPr>
              <a:t>muitas empresas usam os dois, dependendo do time e do caso de uso — não é uma escolha "para sempre", e sim por contexto.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800" b="1" dirty="0" err="1">
                <a:solidFill>
                  <a:srgbClr val="0070C0"/>
                </a:solidFill>
                <a:latin typeface="Calibri"/>
              </a:rPr>
              <a:t>Dica</a:t>
            </a:r>
            <a:r>
              <a:rPr sz="4800" b="1" dirty="0">
                <a:solidFill>
                  <a:srgbClr val="0070C0"/>
                </a:solidFill>
                <a:latin typeface="Calibri"/>
              </a:rPr>
              <a:t> #1 — Providers "Bridged"</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000" b="1">
                <a:solidFill>
                  <a:srgbClr val="004A8F"/>
                </a:solidFill>
                <a:latin typeface="Calibri"/>
              </a:rPr>
              <a:t>O que significa:  </a:t>
            </a:r>
            <a:r>
              <a:rPr sz="4000">
                <a:solidFill>
                  <a:srgbClr val="262626"/>
                </a:solidFill>
                <a:latin typeface="Calibri"/>
              </a:rPr>
              <a:t>pulumi_azure_native, pulumi_random, pulumi_tls, pulumi_archive, pulumi_docker são gerados automaticamente a partir dos MESMOS schemas dos providers Terraform equivalentes.</a:t>
            </a:r>
          </a:p>
          <a:p>
            <a:pPr algn="l">
              <a:spcBef>
                <a:spcPts val="0"/>
              </a:spcBef>
              <a:spcAft>
                <a:spcPts val="2200"/>
              </a:spcAft>
            </a:pPr>
            <a:r>
              <a:rPr sz="4000" b="1">
                <a:solidFill>
                  <a:srgbClr val="004A8F"/>
                </a:solidFill>
                <a:latin typeface="Calibri"/>
              </a:rPr>
              <a:t>Por isso os nomes se parecem tanto:  </a:t>
            </a:r>
            <a:r>
              <a:rPr sz="4000">
                <a:solidFill>
                  <a:srgbClr val="262626"/>
                </a:solidFill>
                <a:latin typeface="Calibri"/>
              </a:rPr>
              <a:t>não é coincidência de design — é geração automática de código a partir do mesmo contrato de API.</a:t>
            </a:r>
          </a:p>
          <a:p>
            <a:pPr algn="l">
              <a:spcBef>
                <a:spcPts val="0"/>
              </a:spcBef>
              <a:spcAft>
                <a:spcPts val="2200"/>
              </a:spcAft>
            </a:pPr>
            <a:r>
              <a:rPr sz="4000" b="1">
                <a:solidFill>
                  <a:srgbClr val="004A8F"/>
                </a:solidFill>
                <a:latin typeface="Calibri"/>
              </a:rPr>
              <a:t>Atenção com azure-native x azure clássico:  </a:t>
            </a:r>
            <a:r>
              <a:rPr sz="4000">
                <a:solidFill>
                  <a:srgbClr val="262626"/>
                </a:solidFill>
                <a:latin typeface="Calibri"/>
              </a:rPr>
              <a:t>o pacote pulumi_azure (clássico) era bridged do terraform-provider-azurerm; o pulumi_azure_native é gerado direto da API do Azure Resource Manager, com cobertura no dia 1 para recursos novos. A Pulumi recomenda azure-native hoje — é o que usamos nos exemplos de hoje.</a:t>
            </a:r>
          </a:p>
        </p:txBody>
      </p:sp>
      <p:sp>
        <p:nvSpPr>
          <p:cNvPr id="4" name="TextBox 3"/>
          <p:cNvSpPr txBox="1"/>
          <p:nvPr/>
        </p:nvSpPr>
        <p:spPr>
          <a:xfrm>
            <a:off x="1916924" y="12520000"/>
            <a:ext cx="444353" cy="400110"/>
          </a:xfrm>
          <a:prstGeom prst="rect">
            <a:avLst/>
          </a:prstGeom>
          <a:noFill/>
        </p:spPr>
        <p:txBody>
          <a:bodyPr wrap="none">
            <a:spAutoFit/>
          </a:bodyPr>
          <a:lstStyle/>
          <a:p>
            <a:r>
              <a:rPr sz="2000">
                <a:solidFill>
                  <a:srgbClr val="595959"/>
                </a:solidFill>
                <a:latin typeface="Calibri"/>
              </a:rPr>
              <a:t>35</a:t>
            </a:r>
          </a:p>
        </p:txBody>
      </p:sp>
    </p:spTree>
    <p:extLst>
      <p:ext uri="{BB962C8B-B14F-4D97-AF65-F5344CB8AC3E}">
        <p14:creationId xmlns:p14="http://schemas.microsoft.com/office/powerpoint/2010/main" val="30769884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5400" b="1" dirty="0" err="1">
                <a:solidFill>
                  <a:srgbClr val="0070C0"/>
                </a:solidFill>
                <a:latin typeface="Calibri"/>
              </a:rPr>
              <a:t>Dica</a:t>
            </a:r>
            <a:r>
              <a:rPr sz="5400" b="1" dirty="0">
                <a:solidFill>
                  <a:srgbClr val="0070C0"/>
                </a:solidFill>
                <a:latin typeface="Calibri"/>
              </a:rPr>
              <a:t> #2 — Stacks São Ambientes, </a:t>
            </a:r>
            <a:r>
              <a:rPr sz="5400" b="1" dirty="0" err="1">
                <a:solidFill>
                  <a:srgbClr val="0070C0"/>
                </a:solidFill>
                <a:latin typeface="Calibri"/>
              </a:rPr>
              <a:t>Não</a:t>
            </a:r>
            <a:r>
              <a:rPr sz="5400" b="1" dirty="0">
                <a:solidFill>
                  <a:srgbClr val="0070C0"/>
                </a:solidFill>
                <a:latin typeface="Calibri"/>
              </a:rPr>
              <a:t> Só </a:t>
            </a:r>
            <a:r>
              <a:rPr sz="5400" b="1" dirty="0" err="1">
                <a:solidFill>
                  <a:srgbClr val="0070C0"/>
                </a:solidFill>
                <a:latin typeface="Calibri"/>
              </a:rPr>
              <a:t>Nomes</a:t>
            </a:r>
            <a:endParaRPr sz="5400" b="1" dirty="0">
              <a:solidFill>
                <a:srgbClr val="0070C0"/>
              </a:solidFill>
              <a:latin typeface="Calibri"/>
            </a:endParaRP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400" b="1">
                <a:solidFill>
                  <a:srgbClr val="004A8F"/>
                </a:solidFill>
                <a:latin typeface="Calibri"/>
              </a:rPr>
              <a:t>pulumi stack init dev / pulumi stack init prod:  </a:t>
            </a:r>
            <a:r>
              <a:rPr sz="4400">
                <a:solidFill>
                  <a:srgbClr val="262626"/>
                </a:solidFill>
                <a:latin typeface="Calibri"/>
              </a:rPr>
              <a:t>cada stack tem seu PRÓPRIO arquivo de configuração (Pulumi.dev.yaml, Pulumi.prod.yaml) e seu próprio state.</a:t>
            </a:r>
          </a:p>
          <a:p>
            <a:pPr algn="l">
              <a:spcBef>
                <a:spcPts val="0"/>
              </a:spcBef>
              <a:spcAft>
                <a:spcPts val="2200"/>
              </a:spcAft>
            </a:pPr>
            <a:r>
              <a:rPr sz="4400" b="1">
                <a:solidFill>
                  <a:srgbClr val="004A8F"/>
                </a:solidFill>
                <a:latin typeface="Calibri"/>
              </a:rPr>
              <a:t>Mais próximo do Terraform do que parece:  </a:t>
            </a:r>
            <a:r>
              <a:rPr sz="4400">
                <a:solidFill>
                  <a:srgbClr val="262626"/>
                </a:solidFill>
                <a:latin typeface="Calibri"/>
              </a:rPr>
              <a:t>o conceito é equivalente a um workspace — mas nativo, sem precisar de módulos ou convenções extras de nomenclatura de arquivo.</a:t>
            </a:r>
          </a:p>
          <a:p>
            <a:pPr algn="l">
              <a:spcBef>
                <a:spcPts val="0"/>
              </a:spcBef>
              <a:spcAft>
                <a:spcPts val="2200"/>
              </a:spcAft>
            </a:pPr>
            <a:r>
              <a:rPr sz="4400" b="1">
                <a:solidFill>
                  <a:srgbClr val="004A8F"/>
                </a:solidFill>
                <a:latin typeface="Calibri"/>
              </a:rPr>
              <a:t>Na prática:  </a:t>
            </a:r>
            <a:r>
              <a:rPr sz="4400">
                <a:solidFill>
                  <a:srgbClr val="262626"/>
                </a:solidFill>
                <a:latin typeface="Calibri"/>
              </a:rPr>
              <a:t>pulumi stack select troca de ambiente instantaneamente, sem duplicar código.</a:t>
            </a:r>
          </a:p>
        </p:txBody>
      </p:sp>
      <p:sp>
        <p:nvSpPr>
          <p:cNvPr id="4" name="TextBox 3"/>
          <p:cNvSpPr txBox="1"/>
          <p:nvPr/>
        </p:nvSpPr>
        <p:spPr>
          <a:xfrm>
            <a:off x="1891276" y="12520000"/>
            <a:ext cx="495650" cy="461665"/>
          </a:xfrm>
          <a:prstGeom prst="rect">
            <a:avLst/>
          </a:prstGeom>
          <a:noFill/>
        </p:spPr>
        <p:txBody>
          <a:bodyPr wrap="none">
            <a:spAutoFit/>
          </a:bodyPr>
          <a:lstStyle/>
          <a:p>
            <a:r>
              <a:rPr sz="2400">
                <a:solidFill>
                  <a:srgbClr val="595959"/>
                </a:solidFill>
                <a:latin typeface="Calibri"/>
              </a:rPr>
              <a:t>36</a:t>
            </a:r>
          </a:p>
        </p:txBody>
      </p:sp>
    </p:spTree>
    <p:extLst>
      <p:ext uri="{BB962C8B-B14F-4D97-AF65-F5344CB8AC3E}">
        <p14:creationId xmlns:p14="http://schemas.microsoft.com/office/powerpoint/2010/main" val="1458429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5400" b="1" dirty="0" err="1">
                <a:solidFill>
                  <a:srgbClr val="0070C0"/>
                </a:solidFill>
                <a:latin typeface="Calibri"/>
              </a:rPr>
              <a:t>Dica</a:t>
            </a:r>
            <a:r>
              <a:rPr sz="5400" b="1" dirty="0">
                <a:solidFill>
                  <a:srgbClr val="0070C0"/>
                </a:solidFill>
                <a:latin typeface="Calibri"/>
              </a:rPr>
              <a:t> #3 — Automation API</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400" b="1">
                <a:solidFill>
                  <a:srgbClr val="004A8F"/>
                </a:solidFill>
                <a:latin typeface="Calibri"/>
              </a:rPr>
              <a:t>O que é:  </a:t>
            </a:r>
            <a:r>
              <a:rPr sz="4400">
                <a:solidFill>
                  <a:srgbClr val="262626"/>
                </a:solidFill>
                <a:latin typeface="Calibri"/>
              </a:rPr>
              <a:t>rodar o Pulumi PROGRAMATICAMENTE, de dentro de outro programa Python, sem precisar do CLI/terminal.</a:t>
            </a:r>
          </a:p>
          <a:p>
            <a:pPr algn="l">
              <a:spcBef>
                <a:spcPts val="0"/>
              </a:spcBef>
              <a:spcAft>
                <a:spcPts val="2200"/>
              </a:spcAft>
            </a:pPr>
            <a:r>
              <a:rPr sz="4400" b="1">
                <a:solidFill>
                  <a:srgbClr val="004A8F"/>
                </a:solidFill>
                <a:latin typeface="Calibri"/>
              </a:rPr>
              <a:t>Sem equivalente direto no Terraform:  </a:t>
            </a:r>
            <a:r>
              <a:rPr sz="4400">
                <a:solidFill>
                  <a:srgbClr val="262626"/>
                </a:solidFill>
                <a:latin typeface="Calibri"/>
              </a:rPr>
              <a:t>o Terraform sempre passa pelo binário CLI; o Pulumi expõe uma biblioteca (pulumi.automation) para orquestrar deploys via código.</a:t>
            </a:r>
          </a:p>
          <a:p>
            <a:pPr algn="l">
              <a:spcBef>
                <a:spcPts val="0"/>
              </a:spcBef>
              <a:spcAft>
                <a:spcPts val="2200"/>
              </a:spcAft>
            </a:pPr>
            <a:r>
              <a:rPr sz="4400" b="1">
                <a:solidFill>
                  <a:srgbClr val="004A8F"/>
                </a:solidFill>
                <a:latin typeface="Calibri"/>
              </a:rPr>
              <a:t>Uso típico:  </a:t>
            </a:r>
            <a:r>
              <a:rPr sz="4400">
                <a:solidFill>
                  <a:srgbClr val="262626"/>
                </a:solidFill>
                <a:latin typeface="Calibri"/>
              </a:rPr>
              <a:t>plataformas internas de self-service infra — por exemplo, um formulário web que, ao ser enviado, dispara um pulumi up por trás, sem o usuário nunca ver uma linha de código de infraestrutura.</a:t>
            </a:r>
          </a:p>
        </p:txBody>
      </p:sp>
      <p:sp>
        <p:nvSpPr>
          <p:cNvPr id="4" name="TextBox 3"/>
          <p:cNvSpPr txBox="1"/>
          <p:nvPr/>
        </p:nvSpPr>
        <p:spPr>
          <a:xfrm>
            <a:off x="1891276" y="12520000"/>
            <a:ext cx="495650" cy="461665"/>
          </a:xfrm>
          <a:prstGeom prst="rect">
            <a:avLst/>
          </a:prstGeom>
          <a:noFill/>
        </p:spPr>
        <p:txBody>
          <a:bodyPr wrap="none">
            <a:spAutoFit/>
          </a:bodyPr>
          <a:lstStyle/>
          <a:p>
            <a:r>
              <a:rPr sz="2400">
                <a:solidFill>
                  <a:srgbClr val="595959"/>
                </a:solidFill>
                <a:latin typeface="Calibri"/>
              </a:rPr>
              <a:t>37</a:t>
            </a:r>
          </a:p>
        </p:txBody>
      </p:sp>
    </p:spTree>
    <p:extLst>
      <p:ext uri="{BB962C8B-B14F-4D97-AF65-F5344CB8AC3E}">
        <p14:creationId xmlns:p14="http://schemas.microsoft.com/office/powerpoint/2010/main" val="32078571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5400" b="1" dirty="0" err="1">
                <a:solidFill>
                  <a:srgbClr val="0070C0"/>
                </a:solidFill>
                <a:latin typeface="Calibri"/>
              </a:rPr>
              <a:t>Dica</a:t>
            </a:r>
            <a:r>
              <a:rPr sz="5400" b="1" dirty="0">
                <a:solidFill>
                  <a:srgbClr val="0070C0"/>
                </a:solidFill>
                <a:latin typeface="Calibri"/>
              </a:rPr>
              <a:t> #4 — </a:t>
            </a:r>
            <a:r>
              <a:rPr sz="5400" b="1" dirty="0" err="1">
                <a:solidFill>
                  <a:srgbClr val="0070C0"/>
                </a:solidFill>
                <a:latin typeface="Calibri"/>
              </a:rPr>
              <a:t>CrossGuard</a:t>
            </a:r>
            <a:r>
              <a:rPr sz="5400" b="1" dirty="0">
                <a:solidFill>
                  <a:srgbClr val="0070C0"/>
                </a:solidFill>
                <a:latin typeface="Calibri"/>
              </a:rPr>
              <a:t> (Policy as Code)</a:t>
            </a:r>
          </a:p>
        </p:txBody>
      </p:sp>
      <p:sp>
        <p:nvSpPr>
          <p:cNvPr id="3" name="Content Placeholder 2"/>
          <p:cNvSpPr>
            <a:spLocks noGrp="1"/>
          </p:cNvSpPr>
          <p:nvPr>
            <p:ph idx="1"/>
          </p:nvPr>
        </p:nvSpPr>
        <p:spPr/>
        <p:txBody>
          <a:bodyPr wrap="square" anchor="t">
            <a:normAutofit/>
          </a:bodyPr>
          <a:lstStyle/>
          <a:p>
            <a:pPr algn="l">
              <a:spcBef>
                <a:spcPts val="0"/>
              </a:spcBef>
              <a:spcAft>
                <a:spcPts val="2200"/>
              </a:spcAft>
            </a:pPr>
            <a:r>
              <a:rPr sz="4400" b="1">
                <a:solidFill>
                  <a:srgbClr val="004A8F"/>
                </a:solidFill>
                <a:latin typeface="Calibri"/>
              </a:rPr>
              <a:t>O que é:  </a:t>
            </a:r>
            <a:r>
              <a:rPr sz="4400">
                <a:solidFill>
                  <a:srgbClr val="262626"/>
                </a:solidFill>
                <a:latin typeface="Calibri"/>
              </a:rPr>
              <a:t>um framework do Pulumi para escrever políticas de governança na MESMA linguagem do resto do código (aqui, Python).</a:t>
            </a:r>
          </a:p>
          <a:p>
            <a:pPr algn="l">
              <a:spcBef>
                <a:spcPts val="0"/>
              </a:spcBef>
              <a:spcAft>
                <a:spcPts val="2200"/>
              </a:spcAft>
            </a:pPr>
            <a:r>
              <a:rPr sz="4400" b="1">
                <a:solidFill>
                  <a:srgbClr val="004A8F"/>
                </a:solidFill>
                <a:latin typeface="Calibri"/>
              </a:rPr>
              <a:t>Exemplo de política:  </a:t>
            </a:r>
            <a:r>
              <a:rPr sz="4400">
                <a:solidFill>
                  <a:srgbClr val="262626"/>
                </a:solidFill>
                <a:latin typeface="Calibri"/>
              </a:rPr>
              <a:t>"toda Storage Account precisa ter HTTPS obrigatório" — a política roda em pulumi preview/up e pode BLOQUEAR um deploy que a viole.</a:t>
            </a:r>
          </a:p>
          <a:p>
            <a:pPr algn="l">
              <a:spcBef>
                <a:spcPts val="0"/>
              </a:spcBef>
              <a:spcAft>
                <a:spcPts val="2200"/>
              </a:spcAft>
            </a:pPr>
            <a:r>
              <a:rPr sz="4400" b="1">
                <a:solidFill>
                  <a:srgbClr val="004A8F"/>
                </a:solidFill>
                <a:latin typeface="Calibri"/>
              </a:rPr>
              <a:t>Equivalente em espírito:  </a:t>
            </a:r>
            <a:r>
              <a:rPr sz="4400">
                <a:solidFill>
                  <a:srgbClr val="262626"/>
                </a:solidFill>
                <a:latin typeface="Calibri"/>
              </a:rPr>
              <a:t>HashiCorp Sentinel ou Open Policy Agent (OPA) no mundo Terraform — mas sem precisar aprender uma terceira linguagem para isso.</a:t>
            </a:r>
          </a:p>
        </p:txBody>
      </p:sp>
      <p:sp>
        <p:nvSpPr>
          <p:cNvPr id="4" name="TextBox 3"/>
          <p:cNvSpPr txBox="1"/>
          <p:nvPr/>
        </p:nvSpPr>
        <p:spPr>
          <a:xfrm>
            <a:off x="1891276" y="12520000"/>
            <a:ext cx="495650" cy="461665"/>
          </a:xfrm>
          <a:prstGeom prst="rect">
            <a:avLst/>
          </a:prstGeom>
          <a:noFill/>
        </p:spPr>
        <p:txBody>
          <a:bodyPr wrap="none">
            <a:spAutoFit/>
          </a:bodyPr>
          <a:lstStyle/>
          <a:p>
            <a:r>
              <a:rPr sz="2400">
                <a:solidFill>
                  <a:srgbClr val="595959"/>
                </a:solidFill>
                <a:latin typeface="Calibri"/>
              </a:rPr>
              <a:t>38</a:t>
            </a:r>
          </a:p>
        </p:txBody>
      </p:sp>
    </p:spTree>
    <p:extLst>
      <p:ext uri="{BB962C8B-B14F-4D97-AF65-F5344CB8AC3E}">
        <p14:creationId xmlns:p14="http://schemas.microsoft.com/office/powerpoint/2010/main" val="16517580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Critérios de Avaliação — As 8 Entregas do Curso</a:t>
            </a:r>
          </a:p>
        </p:txBody>
      </p:sp>
      <p:sp>
        <p:nvSpPr>
          <p:cNvPr id="3" name="Content Placeholder 2"/>
          <p:cNvSpPr>
            <a:spLocks noGrp="1"/>
          </p:cNvSpPr>
          <p:nvPr>
            <p:ph idx="1"/>
          </p:nvPr>
        </p:nvSpPr>
        <p:spPr>
          <a:xfrm>
            <a:off x="0" y="7550000"/>
            <a:ext cx="0" cy="2000000"/>
          </a:xfrm>
        </p:spPr>
        <p:txBody>
          <a:bodyPr wrap="square" anchor="t">
            <a:normAutofit fontScale="25000" lnSpcReduction="20000"/>
          </a:bodyPr>
          <a:lstStyle/>
          <a:p>
            <a:pPr algn="l">
              <a:spcBef>
                <a:spcPts val="0"/>
              </a:spcBef>
              <a:spcAft>
                <a:spcPts val="1200"/>
              </a:spcAft>
              <a:buNone/>
            </a:pPr>
            <a:r>
              <a:rPr sz="2600">
                <a:solidFill>
                  <a:srgbClr val="595959"/>
                </a:solidFill>
                <a:latin typeface="Calibri"/>
              </a:rPr>
              <a:t>Visão completa de como os 100 pontos do curso se distribuem ao longo das 8 aulas.</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PARTE 7</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75</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Resumo de Pontuação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76</a:t>
            </a:r>
          </a:p>
        </p:txBody>
      </p:sp>
      <p:graphicFrame>
        <p:nvGraphicFramePr>
          <p:cNvPr id="5" name="Table 4"/>
          <p:cNvGraphicFramePr>
            <a:graphicFrameLocks noGrp="1"/>
          </p:cNvGraphicFramePr>
          <p:nvPr/>
        </p:nvGraphicFramePr>
        <p:xfrm>
          <a:off x="1689100" y="4406900"/>
          <a:ext cx="19170650" cy="6820000"/>
        </p:xfrm>
        <a:graphic>
          <a:graphicData uri="http://schemas.openxmlformats.org/drawingml/2006/table">
            <a:tbl>
              <a:tblPr firstRow="1" bandRow="1">
                <a:tableStyleId>{5C22544A-7EE6-4342-B048-85BDC9FD1C3A}</a:tableStyleId>
              </a:tblPr>
              <a:tblGrid>
                <a:gridCol w="4500000">
                  <a:extLst>
                    <a:ext uri="{9D8B030D-6E8A-4147-A177-3AD203B41FA5}">
                      <a16:colId xmlns:a16="http://schemas.microsoft.com/office/drawing/2014/main" val="20000"/>
                    </a:ext>
                  </a:extLst>
                </a:gridCol>
                <a:gridCol w="11500000">
                  <a:extLst>
                    <a:ext uri="{9D8B030D-6E8A-4147-A177-3AD203B41FA5}">
                      <a16:colId xmlns:a16="http://schemas.microsoft.com/office/drawing/2014/main" val="20001"/>
                    </a:ext>
                  </a:extLst>
                </a:gridCol>
                <a:gridCol w="3170650">
                  <a:extLst>
                    <a:ext uri="{9D8B030D-6E8A-4147-A177-3AD203B41FA5}">
                      <a16:colId xmlns:a16="http://schemas.microsoft.com/office/drawing/2014/main" val="20002"/>
                    </a:ext>
                  </a:extLst>
                </a:gridCol>
              </a:tblGrid>
              <a:tr h="682000">
                <a:tc>
                  <a:txBody>
                    <a:bodyPr/>
                    <a:lstStyle/>
                    <a:p>
                      <a:r>
                        <a:rPr sz="2200" b="1">
                          <a:solidFill>
                            <a:srgbClr val="FFFFFF"/>
                          </a:solidFill>
                          <a:latin typeface="Calibri"/>
                        </a:rPr>
                        <a:t>Entrega</a:t>
                      </a:r>
                    </a:p>
                  </a:txBody>
                  <a:tcPr anchor="ctr">
                    <a:solidFill>
                      <a:srgbClr val="004A8F"/>
                    </a:solidFill>
                  </a:tcPr>
                </a:tc>
                <a:tc>
                  <a:txBody>
                    <a:bodyPr/>
                    <a:lstStyle/>
                    <a:p>
                      <a:r>
                        <a:rPr sz="2200" b="1">
                          <a:solidFill>
                            <a:srgbClr val="FFFFFF"/>
                          </a:solidFill>
                          <a:latin typeface="Calibri"/>
                        </a:rPr>
                        <a:t>Tipo</a:t>
                      </a:r>
                    </a:p>
                  </a:txBody>
                  <a:tcPr anchor="ctr">
                    <a:solidFill>
                      <a:srgbClr val="004A8F"/>
                    </a:solidFill>
                  </a:tcPr>
                </a:tc>
                <a:tc>
                  <a:txBody>
                    <a:bodyPr/>
                    <a:lstStyle/>
                    <a:p>
                      <a:r>
                        <a:rPr sz="2200" b="1">
                          <a:solidFill>
                            <a:srgbClr val="FFFFFF"/>
                          </a:solidFill>
                          <a:latin typeface="Calibri"/>
                        </a:rPr>
                        <a:t>Pontos</a:t>
                      </a:r>
                    </a:p>
                  </a:txBody>
                  <a:tcPr anchor="ctr">
                    <a:solidFill>
                      <a:srgbClr val="004A8F"/>
                    </a:solidFill>
                  </a:tcPr>
                </a:tc>
                <a:extLst>
                  <a:ext uri="{0D108BD9-81ED-4DB2-BD59-A6C34878D82A}">
                    <a16:rowId xmlns:a16="http://schemas.microsoft.com/office/drawing/2014/main" val="10000"/>
                  </a:ext>
                </a:extLst>
              </a:tr>
              <a:tr h="682000">
                <a:tc>
                  <a:txBody>
                    <a:bodyPr/>
                    <a:lstStyle/>
                    <a:p>
                      <a:r>
                        <a:rPr sz="2100">
                          <a:solidFill>
                            <a:srgbClr val="262626"/>
                          </a:solidFill>
                          <a:latin typeface="Consolas"/>
                        </a:rPr>
                        <a:t>Entrega 1</a:t>
                      </a:r>
                    </a:p>
                  </a:txBody>
                  <a:tcPr anchor="ctr">
                    <a:solidFill>
                      <a:srgbClr val="FFFFFF"/>
                    </a:solidFill>
                  </a:tcPr>
                </a:tc>
                <a:tc>
                  <a:txBody>
                    <a:bodyPr/>
                    <a:lstStyle/>
                    <a:p>
                      <a:r>
                        <a:rPr sz="2100">
                          <a:solidFill>
                            <a:srgbClr val="262626"/>
                          </a:solidFill>
                          <a:latin typeface="Calibri"/>
                        </a:rPr>
                        <a:t>Em Grupo</a:t>
                      </a:r>
                    </a:p>
                  </a:txBody>
                  <a:tcPr anchor="ctr">
                    <a:solidFill>
                      <a:srgbClr val="FFFFFF"/>
                    </a:solidFill>
                  </a:tcPr>
                </a:tc>
                <a:tc>
                  <a:txBody>
                    <a:bodyPr/>
                    <a:lstStyle/>
                    <a:p>
                      <a:r>
                        <a:rPr sz="2100">
                          <a:solidFill>
                            <a:srgbClr val="262626"/>
                          </a:solidFill>
                          <a:latin typeface="Calibri"/>
                        </a:rPr>
                        <a:t>15</a:t>
                      </a:r>
                    </a:p>
                  </a:txBody>
                  <a:tcPr anchor="ctr">
                    <a:solidFill>
                      <a:srgbClr val="FFFFFF"/>
                    </a:solidFill>
                  </a:tcPr>
                </a:tc>
                <a:extLst>
                  <a:ext uri="{0D108BD9-81ED-4DB2-BD59-A6C34878D82A}">
                    <a16:rowId xmlns:a16="http://schemas.microsoft.com/office/drawing/2014/main" val="10001"/>
                  </a:ext>
                </a:extLst>
              </a:tr>
              <a:tr h="682000">
                <a:tc>
                  <a:txBody>
                    <a:bodyPr/>
                    <a:lstStyle/>
                    <a:p>
                      <a:r>
                        <a:rPr sz="2100">
                          <a:solidFill>
                            <a:srgbClr val="262626"/>
                          </a:solidFill>
                          <a:latin typeface="Consolas"/>
                        </a:rPr>
                        <a:t>Entrega 2</a:t>
                      </a:r>
                    </a:p>
                  </a:txBody>
                  <a:tcPr anchor="ctr">
                    <a:solidFill>
                      <a:srgbClr val="F2F2F2"/>
                    </a:solidFill>
                  </a:tcPr>
                </a:tc>
                <a:tc>
                  <a:txBody>
                    <a:bodyPr/>
                    <a:lstStyle/>
                    <a:p>
                      <a:r>
                        <a:rPr sz="2100">
                          <a:solidFill>
                            <a:srgbClr val="262626"/>
                          </a:solidFill>
                          <a:latin typeface="Calibri"/>
                        </a:rPr>
                        <a:t>Individual</a:t>
                      </a:r>
                    </a:p>
                  </a:txBody>
                  <a:tcPr anchor="ctr">
                    <a:solidFill>
                      <a:srgbClr val="F2F2F2"/>
                    </a:solidFill>
                  </a:tcPr>
                </a:tc>
                <a:tc>
                  <a:txBody>
                    <a:bodyPr/>
                    <a:lstStyle/>
                    <a:p>
                      <a:r>
                        <a:rPr sz="2100">
                          <a:solidFill>
                            <a:srgbClr val="262626"/>
                          </a:solidFill>
                          <a:latin typeface="Calibri"/>
                        </a:rPr>
                        <a:t>10</a:t>
                      </a:r>
                    </a:p>
                  </a:txBody>
                  <a:tcPr anchor="ctr">
                    <a:solidFill>
                      <a:srgbClr val="F2F2F2"/>
                    </a:solidFill>
                  </a:tcPr>
                </a:tc>
                <a:extLst>
                  <a:ext uri="{0D108BD9-81ED-4DB2-BD59-A6C34878D82A}">
                    <a16:rowId xmlns:a16="http://schemas.microsoft.com/office/drawing/2014/main" val="10002"/>
                  </a:ext>
                </a:extLst>
              </a:tr>
              <a:tr h="682000">
                <a:tc>
                  <a:txBody>
                    <a:bodyPr/>
                    <a:lstStyle/>
                    <a:p>
                      <a:r>
                        <a:rPr sz="2100">
                          <a:solidFill>
                            <a:srgbClr val="262626"/>
                          </a:solidFill>
                          <a:latin typeface="Consolas"/>
                        </a:rPr>
                        <a:t>Entrega 3</a:t>
                      </a:r>
                    </a:p>
                  </a:txBody>
                  <a:tcPr anchor="ctr">
                    <a:solidFill>
                      <a:srgbClr val="FFFFFF"/>
                    </a:solidFill>
                  </a:tcPr>
                </a:tc>
                <a:tc>
                  <a:txBody>
                    <a:bodyPr/>
                    <a:lstStyle/>
                    <a:p>
                      <a:r>
                        <a:rPr sz="2100">
                          <a:solidFill>
                            <a:srgbClr val="262626"/>
                          </a:solidFill>
                          <a:latin typeface="Calibri"/>
                        </a:rPr>
                        <a:t>Em Grupo</a:t>
                      </a:r>
                    </a:p>
                  </a:txBody>
                  <a:tcPr anchor="ctr">
                    <a:solidFill>
                      <a:srgbClr val="FFFFFF"/>
                    </a:solidFill>
                  </a:tcPr>
                </a:tc>
                <a:tc>
                  <a:txBody>
                    <a:bodyPr/>
                    <a:lstStyle/>
                    <a:p>
                      <a:r>
                        <a:rPr sz="2100">
                          <a:solidFill>
                            <a:srgbClr val="262626"/>
                          </a:solidFill>
                          <a:latin typeface="Calibri"/>
                        </a:rPr>
                        <a:t>15</a:t>
                      </a:r>
                    </a:p>
                  </a:txBody>
                  <a:tcPr anchor="ctr">
                    <a:solidFill>
                      <a:srgbClr val="FFFFFF"/>
                    </a:solidFill>
                  </a:tcPr>
                </a:tc>
                <a:extLst>
                  <a:ext uri="{0D108BD9-81ED-4DB2-BD59-A6C34878D82A}">
                    <a16:rowId xmlns:a16="http://schemas.microsoft.com/office/drawing/2014/main" val="10003"/>
                  </a:ext>
                </a:extLst>
              </a:tr>
              <a:tr h="682000">
                <a:tc>
                  <a:txBody>
                    <a:bodyPr/>
                    <a:lstStyle/>
                    <a:p>
                      <a:r>
                        <a:rPr sz="2100">
                          <a:solidFill>
                            <a:srgbClr val="262626"/>
                          </a:solidFill>
                          <a:latin typeface="Consolas"/>
                        </a:rPr>
                        <a:t>Entrega 4</a:t>
                      </a:r>
                    </a:p>
                  </a:txBody>
                  <a:tcPr anchor="ctr">
                    <a:solidFill>
                      <a:srgbClr val="F2F2F2"/>
                    </a:solidFill>
                  </a:tcPr>
                </a:tc>
                <a:tc>
                  <a:txBody>
                    <a:bodyPr/>
                    <a:lstStyle/>
                    <a:p>
                      <a:r>
                        <a:rPr sz="2100">
                          <a:solidFill>
                            <a:srgbClr val="262626"/>
                          </a:solidFill>
                          <a:latin typeface="Calibri"/>
                        </a:rPr>
                        <a:t>DAG do Projeto</a:t>
                      </a:r>
                    </a:p>
                  </a:txBody>
                  <a:tcPr anchor="ctr">
                    <a:solidFill>
                      <a:srgbClr val="F2F2F2"/>
                    </a:solidFill>
                  </a:tcPr>
                </a:tc>
                <a:tc>
                  <a:txBody>
                    <a:bodyPr/>
                    <a:lstStyle/>
                    <a:p>
                      <a:r>
                        <a:rPr sz="2100">
                          <a:solidFill>
                            <a:srgbClr val="262626"/>
                          </a:solidFill>
                          <a:latin typeface="Calibri"/>
                        </a:rPr>
                        <a:t>10</a:t>
                      </a:r>
                    </a:p>
                  </a:txBody>
                  <a:tcPr anchor="ctr">
                    <a:solidFill>
                      <a:srgbClr val="F2F2F2"/>
                    </a:solidFill>
                  </a:tcPr>
                </a:tc>
                <a:extLst>
                  <a:ext uri="{0D108BD9-81ED-4DB2-BD59-A6C34878D82A}">
                    <a16:rowId xmlns:a16="http://schemas.microsoft.com/office/drawing/2014/main" val="10004"/>
                  </a:ext>
                </a:extLst>
              </a:tr>
              <a:tr h="682000">
                <a:tc>
                  <a:txBody>
                    <a:bodyPr/>
                    <a:lstStyle/>
                    <a:p>
                      <a:r>
                        <a:rPr sz="2100">
                          <a:solidFill>
                            <a:srgbClr val="262626"/>
                          </a:solidFill>
                          <a:latin typeface="Consolas"/>
                        </a:rPr>
                        <a:t>Entrega 5</a:t>
                      </a:r>
                    </a:p>
                  </a:txBody>
                  <a:tcPr anchor="ctr">
                    <a:solidFill>
                      <a:srgbClr val="FFFFFF"/>
                    </a:solidFill>
                  </a:tcPr>
                </a:tc>
                <a:tc>
                  <a:txBody>
                    <a:bodyPr/>
                    <a:lstStyle/>
                    <a:p>
                      <a:r>
                        <a:rPr sz="2100">
                          <a:solidFill>
                            <a:srgbClr val="262626"/>
                          </a:solidFill>
                          <a:latin typeface="Calibri"/>
                        </a:rPr>
                        <a:t>Em Grupo — Orquestração</a:t>
                      </a:r>
                    </a:p>
                  </a:txBody>
                  <a:tcPr anchor="ctr">
                    <a:solidFill>
                      <a:srgbClr val="FFFFFF"/>
                    </a:solidFill>
                  </a:tcPr>
                </a:tc>
                <a:tc>
                  <a:txBody>
                    <a:bodyPr/>
                    <a:lstStyle/>
                    <a:p>
                      <a:r>
                        <a:rPr sz="2100">
                          <a:solidFill>
                            <a:srgbClr val="262626"/>
                          </a:solidFill>
                          <a:latin typeface="Calibri"/>
                        </a:rPr>
                        <a:t>10</a:t>
                      </a:r>
                    </a:p>
                  </a:txBody>
                  <a:tcPr anchor="ctr">
                    <a:solidFill>
                      <a:srgbClr val="FFFFFF"/>
                    </a:solidFill>
                  </a:tcPr>
                </a:tc>
                <a:extLst>
                  <a:ext uri="{0D108BD9-81ED-4DB2-BD59-A6C34878D82A}">
                    <a16:rowId xmlns:a16="http://schemas.microsoft.com/office/drawing/2014/main" val="10005"/>
                  </a:ext>
                </a:extLst>
              </a:tr>
              <a:tr h="682000">
                <a:tc>
                  <a:txBody>
                    <a:bodyPr/>
                    <a:lstStyle/>
                    <a:p>
                      <a:r>
                        <a:rPr sz="2100">
                          <a:solidFill>
                            <a:srgbClr val="262626"/>
                          </a:solidFill>
                          <a:latin typeface="Consolas"/>
                        </a:rPr>
                        <a:t>Entrega 6</a:t>
                      </a:r>
                    </a:p>
                  </a:txBody>
                  <a:tcPr anchor="ctr">
                    <a:solidFill>
                      <a:srgbClr val="F2F2F2"/>
                    </a:solidFill>
                  </a:tcPr>
                </a:tc>
                <a:tc>
                  <a:txBody>
                    <a:bodyPr/>
                    <a:lstStyle/>
                    <a:p>
                      <a:r>
                        <a:rPr sz="2100">
                          <a:solidFill>
                            <a:srgbClr val="262626"/>
                          </a:solidFill>
                          <a:latin typeface="Calibri"/>
                        </a:rPr>
                        <a:t>Em Grupo — CI/CD para ML</a:t>
                      </a:r>
                    </a:p>
                  </a:txBody>
                  <a:tcPr anchor="ctr">
                    <a:solidFill>
                      <a:srgbClr val="F2F2F2"/>
                    </a:solidFill>
                  </a:tcPr>
                </a:tc>
                <a:tc>
                  <a:txBody>
                    <a:bodyPr/>
                    <a:lstStyle/>
                    <a:p>
                      <a:r>
                        <a:rPr sz="2100">
                          <a:solidFill>
                            <a:srgbClr val="262626"/>
                          </a:solidFill>
                          <a:latin typeface="Calibri"/>
                        </a:rPr>
                        <a:t>10</a:t>
                      </a:r>
                    </a:p>
                  </a:txBody>
                  <a:tcPr anchor="ctr">
                    <a:solidFill>
                      <a:srgbClr val="F2F2F2"/>
                    </a:solidFill>
                  </a:tcPr>
                </a:tc>
                <a:extLst>
                  <a:ext uri="{0D108BD9-81ED-4DB2-BD59-A6C34878D82A}">
                    <a16:rowId xmlns:a16="http://schemas.microsoft.com/office/drawing/2014/main" val="10006"/>
                  </a:ext>
                </a:extLst>
              </a:tr>
              <a:tr h="682000">
                <a:tc>
                  <a:txBody>
                    <a:bodyPr/>
                    <a:lstStyle/>
                    <a:p>
                      <a:r>
                        <a:rPr sz="2100">
                          <a:solidFill>
                            <a:srgbClr val="262626"/>
                          </a:solidFill>
                          <a:latin typeface="Consolas"/>
                        </a:rPr>
                        <a:t>Entrega 7</a:t>
                      </a:r>
                    </a:p>
                  </a:txBody>
                  <a:tcPr anchor="ctr">
                    <a:solidFill>
                      <a:srgbClr val="FFFFFF"/>
                    </a:solidFill>
                  </a:tcPr>
                </a:tc>
                <a:tc>
                  <a:txBody>
                    <a:bodyPr/>
                    <a:lstStyle/>
                    <a:p>
                      <a:r>
                        <a:rPr sz="2100">
                          <a:solidFill>
                            <a:srgbClr val="262626"/>
                          </a:solidFill>
                          <a:latin typeface="Calibri"/>
                        </a:rPr>
                        <a:t>Em Grupo — Observabilidade</a:t>
                      </a:r>
                    </a:p>
                  </a:txBody>
                  <a:tcPr anchor="ctr">
                    <a:solidFill>
                      <a:srgbClr val="FFFFFF"/>
                    </a:solidFill>
                  </a:tcPr>
                </a:tc>
                <a:tc>
                  <a:txBody>
                    <a:bodyPr/>
                    <a:lstStyle/>
                    <a:p>
                      <a:r>
                        <a:rPr sz="2100">
                          <a:solidFill>
                            <a:srgbClr val="262626"/>
                          </a:solidFill>
                          <a:latin typeface="Calibri"/>
                        </a:rPr>
                        <a:t>10</a:t>
                      </a:r>
                    </a:p>
                  </a:txBody>
                  <a:tcPr anchor="ctr">
                    <a:solidFill>
                      <a:srgbClr val="FFFFFF"/>
                    </a:solidFill>
                  </a:tcPr>
                </a:tc>
                <a:extLst>
                  <a:ext uri="{0D108BD9-81ED-4DB2-BD59-A6C34878D82A}">
                    <a16:rowId xmlns:a16="http://schemas.microsoft.com/office/drawing/2014/main" val="10007"/>
                  </a:ext>
                </a:extLst>
              </a:tr>
              <a:tr h="682000">
                <a:tc>
                  <a:txBody>
                    <a:bodyPr/>
                    <a:lstStyle/>
                    <a:p>
                      <a:r>
                        <a:rPr sz="2100">
                          <a:solidFill>
                            <a:srgbClr val="262626"/>
                          </a:solidFill>
                          <a:latin typeface="Consolas"/>
                        </a:rPr>
                        <a:t>Entrega 8</a:t>
                      </a:r>
                    </a:p>
                  </a:txBody>
                  <a:tcPr anchor="ctr">
                    <a:solidFill>
                      <a:srgbClr val="F2F2F2"/>
                    </a:solidFill>
                  </a:tcPr>
                </a:tc>
                <a:tc>
                  <a:txBody>
                    <a:bodyPr/>
                    <a:lstStyle/>
                    <a:p>
                      <a:r>
                        <a:rPr sz="2100">
                          <a:solidFill>
                            <a:srgbClr val="262626"/>
                          </a:solidFill>
                          <a:latin typeface="Calibri"/>
                        </a:rPr>
                        <a:t>Grupo — Apresentação Final</a:t>
                      </a:r>
                    </a:p>
                  </a:txBody>
                  <a:tcPr anchor="ctr">
                    <a:solidFill>
                      <a:srgbClr val="F2F2F2"/>
                    </a:solidFill>
                  </a:tcPr>
                </a:tc>
                <a:tc>
                  <a:txBody>
                    <a:bodyPr/>
                    <a:lstStyle/>
                    <a:p>
                      <a:r>
                        <a:rPr sz="2100">
                          <a:solidFill>
                            <a:srgbClr val="262626"/>
                          </a:solidFill>
                          <a:latin typeface="Calibri"/>
                        </a:rPr>
                        <a:t>20</a:t>
                      </a:r>
                    </a:p>
                  </a:txBody>
                  <a:tcPr anchor="ctr">
                    <a:solidFill>
                      <a:srgbClr val="F2F2F2"/>
                    </a:solidFill>
                  </a:tcPr>
                </a:tc>
                <a:extLst>
                  <a:ext uri="{0D108BD9-81ED-4DB2-BD59-A6C34878D82A}">
                    <a16:rowId xmlns:a16="http://schemas.microsoft.com/office/drawing/2014/main" val="10008"/>
                  </a:ext>
                </a:extLst>
              </a:tr>
              <a:tr h="682000">
                <a:tc>
                  <a:txBody>
                    <a:bodyPr/>
                    <a:lstStyle/>
                    <a:p>
                      <a:r>
                        <a:rPr sz="2100">
                          <a:solidFill>
                            <a:srgbClr val="262626"/>
                          </a:solidFill>
                          <a:latin typeface="Consolas"/>
                        </a:rPr>
                        <a:t>TOTAL</a:t>
                      </a:r>
                    </a:p>
                  </a:txBody>
                  <a:tcPr anchor="ctr">
                    <a:solidFill>
                      <a:srgbClr val="FFFFFF"/>
                    </a:solidFill>
                  </a:tcPr>
                </a:tc>
                <a:tc>
                  <a:txBody>
                    <a:bodyPr/>
                    <a:lstStyle/>
                    <a:p>
                      <a:endParaRPr/>
                    </a:p>
                  </a:txBody>
                  <a:tcPr anchor="ctr">
                    <a:solidFill>
                      <a:srgbClr val="FFFFFF"/>
                    </a:solidFill>
                  </a:tcPr>
                </a:tc>
                <a:tc>
                  <a:txBody>
                    <a:bodyPr/>
                    <a:lstStyle/>
                    <a:p>
                      <a:r>
                        <a:rPr sz="2100">
                          <a:solidFill>
                            <a:srgbClr val="262626"/>
                          </a:solidFill>
                          <a:latin typeface="Calibri"/>
                        </a:rPr>
                        <a:t>100</a:t>
                      </a:r>
                    </a:p>
                  </a:txBody>
                  <a:tcPr anchor="c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Entrega 1 — Em Grupo (15 pontos)</a:t>
            </a:r>
          </a:p>
        </p:txBody>
      </p:sp>
      <p:sp>
        <p:nvSpPr>
          <p:cNvPr id="3" name="Content Placeholder 2"/>
          <p:cNvSpPr>
            <a:spLocks noGrp="1"/>
          </p:cNvSpPr>
          <p:nvPr>
            <p:ph idx="1"/>
          </p:nvPr>
        </p:nvSpPr>
        <p:spPr/>
        <p:txBody>
          <a:bodyPr wrap="square" anchor="t"/>
          <a:lstStyle/>
          <a:p>
            <a:pPr algn="l">
              <a:spcBef>
                <a:spcPts val="0"/>
              </a:spcBef>
              <a:spcAft>
                <a:spcPts val="1500"/>
              </a:spcAft>
            </a:pPr>
            <a:r>
              <a:rPr sz="2300">
                <a:solidFill>
                  <a:srgbClr val="262626"/>
                </a:solidFill>
                <a:latin typeface="Calibri"/>
              </a:rPr>
              <a:t>Cada grupo (todos os membros) envia um PDF com:</a:t>
            </a:r>
          </a:p>
          <a:p>
            <a:pPr algn="l">
              <a:spcBef>
                <a:spcPts val="0"/>
              </a:spcBef>
              <a:spcAft>
                <a:spcPts val="1500"/>
              </a:spcAft>
            </a:pPr>
            <a:r>
              <a:rPr sz="2300">
                <a:solidFill>
                  <a:srgbClr val="262626"/>
                </a:solidFill>
                <a:latin typeface="Calibri"/>
              </a:rPr>
              <a:t>1. Tema do projeto — sugestões no Slide 72 da Aula 01; preencher também na planilha do curso</a:t>
            </a:r>
          </a:p>
          <a:p>
            <a:pPr algn="l">
              <a:spcBef>
                <a:spcPts val="0"/>
              </a:spcBef>
              <a:spcAft>
                <a:spcPts val="1500"/>
              </a:spcAft>
            </a:pPr>
            <a:r>
              <a:rPr sz="2300">
                <a:solidFill>
                  <a:srgbClr val="262626"/>
                </a:solidFill>
                <a:latin typeface="Calibri"/>
              </a:rPr>
              <a:t>2. Capa com o nome do projeto, número do GRUPO e nome de todos os membros</a:t>
            </a:r>
          </a:p>
          <a:p>
            <a:pPr algn="l">
              <a:spcBef>
                <a:spcPts val="0"/>
              </a:spcBef>
              <a:spcAft>
                <a:spcPts val="1500"/>
              </a:spcAft>
            </a:pPr>
            <a:r>
              <a:rPr sz="2300">
                <a:solidFill>
                  <a:srgbClr val="262626"/>
                </a:solidFill>
                <a:latin typeface="Calibri"/>
              </a:rPr>
              <a:t>3. Objetivos do projeto — o que o modelo vai prever</a:t>
            </a:r>
          </a:p>
          <a:p>
            <a:pPr algn="l">
              <a:spcBef>
                <a:spcPts val="0"/>
              </a:spcBef>
              <a:spcAft>
                <a:spcPts val="1500"/>
              </a:spcAft>
            </a:pPr>
            <a:r>
              <a:rPr sz="2300">
                <a:solidFill>
                  <a:srgbClr val="262626"/>
                </a:solidFill>
                <a:latin typeface="Calibri"/>
              </a:rPr>
              <a:t>4. Escopo — o que o projeto vai abranger e o que não vai</a:t>
            </a:r>
          </a:p>
          <a:p>
            <a:pPr algn="l">
              <a:spcBef>
                <a:spcPts val="0"/>
              </a:spcBef>
              <a:spcAft>
                <a:spcPts val="1500"/>
              </a:spcAft>
            </a:pPr>
            <a:r>
              <a:rPr sz="2300">
                <a:solidFill>
                  <a:srgbClr val="262626"/>
                </a:solidFill>
                <a:latin typeface="Calibri"/>
              </a:rPr>
              <a:t>5. Resultados esperados</a:t>
            </a:r>
          </a:p>
          <a:p>
            <a:pPr algn="l">
              <a:spcBef>
                <a:spcPts val="0"/>
              </a:spcBef>
              <a:spcAft>
                <a:spcPts val="1500"/>
              </a:spcAft>
            </a:pPr>
            <a:r>
              <a:rPr sz="2300" b="1">
                <a:solidFill>
                  <a:srgbClr val="004A8F"/>
                </a:solidFill>
                <a:latin typeface="Calibri"/>
              </a:rPr>
              <a:t>Envio:  </a:t>
            </a:r>
            <a:r>
              <a:rPr sz="2300">
                <a:solidFill>
                  <a:srgbClr val="262626"/>
                </a:solidFill>
                <a:latin typeface="Calibri"/>
              </a:rPr>
              <a:t>cada membro do grupo envia uma cópia idêntica do mesmo PDF, apenas para facilitar o controle.</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77</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Entrega 2 — Individual (10 pontos)</a:t>
            </a:r>
          </a:p>
        </p:txBody>
      </p:sp>
      <p:sp>
        <p:nvSpPr>
          <p:cNvPr id="3" name="Content Placeholder 2"/>
          <p:cNvSpPr>
            <a:spLocks noGrp="1"/>
          </p:cNvSpPr>
          <p:nvPr>
            <p:ph idx="1"/>
          </p:nvPr>
        </p:nvSpPr>
        <p:spPr/>
        <p:txBody>
          <a:bodyPr wrap="square" anchor="t"/>
          <a:lstStyle/>
          <a:p>
            <a:pPr algn="l">
              <a:spcBef>
                <a:spcPts val="0"/>
              </a:spcBef>
              <a:spcAft>
                <a:spcPts val="2000"/>
              </a:spcAft>
            </a:pPr>
            <a:r>
              <a:rPr sz="2800">
                <a:solidFill>
                  <a:srgbClr val="262626"/>
                </a:solidFill>
                <a:latin typeface="Calibri"/>
              </a:rPr>
              <a:t>Cada aluno envia um PDF individual, com capa contendo seu nome, e:</a:t>
            </a:r>
          </a:p>
          <a:p>
            <a:pPr algn="l">
              <a:spcBef>
                <a:spcPts val="0"/>
              </a:spcBef>
              <a:spcAft>
                <a:spcPts val="2000"/>
              </a:spcAft>
            </a:pPr>
            <a:r>
              <a:rPr sz="2800">
                <a:solidFill>
                  <a:srgbClr val="262626"/>
                </a:solidFill>
                <a:latin typeface="Calibri"/>
              </a:rPr>
              <a:t>1. Evidências (capturas de tela) da execução de TODOS os passos do Manual da Aula 01 — com exceção do Passo A2-4 (criação dos dados)</a:t>
            </a:r>
          </a:p>
          <a:p>
            <a:pPr algn="l">
              <a:spcBef>
                <a:spcPts val="0"/>
              </a:spcBef>
              <a:spcAft>
                <a:spcPts val="2000"/>
              </a:spcAft>
            </a:pPr>
            <a:r>
              <a:rPr sz="2800">
                <a:solidFill>
                  <a:srgbClr val="262626"/>
                </a:solidFill>
                <a:latin typeface="Calibri"/>
              </a:rPr>
              <a:t>2. Evidências da execução dos exemplos de Machine Learning apresentados na Aula 01</a:t>
            </a:r>
          </a:p>
          <a:p>
            <a:pPr algn="l">
              <a:spcBef>
                <a:spcPts val="0"/>
              </a:spcBef>
              <a:spcAft>
                <a:spcPts val="2000"/>
              </a:spcAft>
            </a:pPr>
            <a:r>
              <a:rPr sz="2800" b="1">
                <a:solidFill>
                  <a:srgbClr val="004A8F"/>
                </a:solidFill>
                <a:latin typeface="Calibri"/>
              </a:rPr>
              <a:t>3. Evidências dos 4 exemplos de script Terraform da Aula 02:  </a:t>
            </a:r>
            <a:r>
              <a:rPr sz="2800">
                <a:solidFill>
                  <a:srgbClr val="262626"/>
                </a:solidFill>
                <a:latin typeface="Calibri"/>
              </a:rPr>
              <a:t>podem ser capturas de tela — Credenciais, SSH, Docker, ZIP</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78</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Entrega 3 — Em Grupo (15 pontos)</a:t>
            </a:r>
          </a:p>
        </p:txBody>
      </p:sp>
      <p:sp>
        <p:nvSpPr>
          <p:cNvPr id="3" name="Content Placeholder 2"/>
          <p:cNvSpPr>
            <a:spLocks noGrp="1"/>
          </p:cNvSpPr>
          <p:nvPr>
            <p:ph idx="1"/>
          </p:nvPr>
        </p:nvSpPr>
        <p:spPr/>
        <p:txBody>
          <a:bodyPr wrap="square" anchor="t"/>
          <a:lstStyle/>
          <a:p>
            <a:pPr algn="l">
              <a:spcBef>
                <a:spcPts val="0"/>
              </a:spcBef>
              <a:spcAft>
                <a:spcPts val="2000"/>
              </a:spcAft>
            </a:pPr>
            <a:r>
              <a:rPr sz="2800">
                <a:solidFill>
                  <a:srgbClr val="262626"/>
                </a:solidFill>
                <a:latin typeface="Calibri"/>
              </a:rPr>
              <a:t>Cada grupo (todos os membros) entrega:</a:t>
            </a:r>
          </a:p>
          <a:p>
            <a:pPr algn="l">
              <a:spcBef>
                <a:spcPts val="0"/>
              </a:spcBef>
              <a:spcAft>
                <a:spcPts val="2000"/>
              </a:spcAft>
            </a:pPr>
            <a:r>
              <a:rPr sz="2800" b="1">
                <a:solidFill>
                  <a:srgbClr val="004A8F"/>
                </a:solidFill>
                <a:latin typeface="Calibri"/>
              </a:rPr>
              <a:t>1. PDF com:  </a:t>
            </a:r>
            <a:r>
              <a:rPr sz="2800">
                <a:solidFill>
                  <a:srgbClr val="262626"/>
                </a:solidFill>
                <a:latin typeface="Calibri"/>
              </a:rPr>
              <a:t>(a) o prompt usado para criação dos dados do projeto; (b) evidências dos passos de execução do Terraform da Parte 11 do Slide 2 (Aula 02)</a:t>
            </a:r>
          </a:p>
          <a:p>
            <a:pPr algn="l">
              <a:spcBef>
                <a:spcPts val="0"/>
              </a:spcBef>
              <a:spcAft>
                <a:spcPts val="2000"/>
              </a:spcAft>
            </a:pPr>
            <a:r>
              <a:rPr sz="2800" b="1">
                <a:solidFill>
                  <a:srgbClr val="004A8F"/>
                </a:solidFill>
                <a:latin typeface="Calibri"/>
              </a:rPr>
              <a:t>2. Um .zip:  </a:t>
            </a:r>
            <a:r>
              <a:rPr sz="2800">
                <a:solidFill>
                  <a:srgbClr val="262626"/>
                </a:solidFill>
                <a:latin typeface="Calibri"/>
              </a:rPr>
              <a:t>da estrutura de diretórios especificada nos Passos A2-3 e A2-5 do Manual da Aula 01, contendo o arquivo de dados gerado</a:t>
            </a:r>
          </a:p>
          <a:p>
            <a:pPr algn="l">
              <a:spcBef>
                <a:spcPts val="0"/>
              </a:spcBef>
              <a:spcAft>
                <a:spcPts val="2000"/>
              </a:spcAft>
            </a:pPr>
            <a:r>
              <a:rPr sz="2800" b="1">
                <a:solidFill>
                  <a:srgbClr val="004A8F"/>
                </a:solidFill>
                <a:latin typeface="Calibri"/>
              </a:rPr>
              <a:t>3. GitHub do grupo:  </a:t>
            </a:r>
            <a:r>
              <a:rPr sz="2800">
                <a:solidFill>
                  <a:srgbClr val="262626"/>
                </a:solidFill>
                <a:latin typeface="Calibri"/>
              </a:rPr>
              <a:t>escolham o GitHub de um integrante como "principal" e acrescentem os demais como colaboradores — enviem o link (pode ficar privado, desde que o professor seja adicionado como colaborador)</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79</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Entregas 4 a 8 — A Definir</a:t>
            </a:r>
          </a:p>
        </p:txBody>
      </p:sp>
      <p:sp>
        <p:nvSpPr>
          <p:cNvPr id="3" name="Content Placeholder 2"/>
          <p:cNvSpPr>
            <a:spLocks noGrp="1"/>
          </p:cNvSpPr>
          <p:nvPr>
            <p:ph idx="1"/>
          </p:nvPr>
        </p:nvSpPr>
        <p:spPr/>
        <p:txBody>
          <a:bodyPr wrap="square" anchor="t"/>
          <a:lstStyle/>
          <a:p>
            <a:pPr algn="l">
              <a:spcBef>
                <a:spcPts val="0"/>
              </a:spcBef>
              <a:spcAft>
                <a:spcPts val="1800"/>
              </a:spcAft>
            </a:pPr>
            <a:r>
              <a:rPr sz="2600" b="1">
                <a:solidFill>
                  <a:srgbClr val="004A8F"/>
                </a:solidFill>
                <a:latin typeface="Calibri"/>
              </a:rPr>
              <a:t>Entrega 4:  </a:t>
            </a:r>
            <a:r>
              <a:rPr sz="2600">
                <a:solidFill>
                  <a:srgbClr val="262626"/>
                </a:solidFill>
                <a:latin typeface="Calibri"/>
              </a:rPr>
              <a:t>DAG do Projeto — 10 pontos — critérios detalhados publicados antes da Aula 04 (Airflow)</a:t>
            </a:r>
          </a:p>
          <a:p>
            <a:pPr algn="l">
              <a:spcBef>
                <a:spcPts val="0"/>
              </a:spcBef>
              <a:spcAft>
                <a:spcPts val="1800"/>
              </a:spcAft>
            </a:pPr>
            <a:r>
              <a:rPr sz="2600" b="1">
                <a:solidFill>
                  <a:srgbClr val="004A8F"/>
                </a:solidFill>
                <a:latin typeface="Calibri"/>
              </a:rPr>
              <a:t>Entrega 5:  </a:t>
            </a:r>
            <a:r>
              <a:rPr sz="2600">
                <a:solidFill>
                  <a:srgbClr val="262626"/>
                </a:solidFill>
                <a:latin typeface="Calibri"/>
              </a:rPr>
              <a:t>Em Grupo — Orquestração — 10 pontos — critérios publicados antes da Aula 05 (Kubeflow)</a:t>
            </a:r>
          </a:p>
          <a:p>
            <a:pPr algn="l">
              <a:spcBef>
                <a:spcPts val="0"/>
              </a:spcBef>
              <a:spcAft>
                <a:spcPts val="1800"/>
              </a:spcAft>
            </a:pPr>
            <a:r>
              <a:rPr sz="2600" b="1">
                <a:solidFill>
                  <a:srgbClr val="004A8F"/>
                </a:solidFill>
                <a:latin typeface="Calibri"/>
              </a:rPr>
              <a:t>Entrega 6:  </a:t>
            </a:r>
            <a:r>
              <a:rPr sz="2600">
                <a:solidFill>
                  <a:srgbClr val="262626"/>
                </a:solidFill>
                <a:latin typeface="Calibri"/>
              </a:rPr>
              <a:t>Em Grupo — CI/CD para ML — 10 pontos — critérios publicados antes da Aula 06</a:t>
            </a:r>
          </a:p>
          <a:p>
            <a:pPr algn="l">
              <a:spcBef>
                <a:spcPts val="0"/>
              </a:spcBef>
              <a:spcAft>
                <a:spcPts val="1800"/>
              </a:spcAft>
            </a:pPr>
            <a:r>
              <a:rPr sz="2600" b="1">
                <a:solidFill>
                  <a:srgbClr val="004A8F"/>
                </a:solidFill>
                <a:latin typeface="Calibri"/>
              </a:rPr>
              <a:t>Entrega 7:  </a:t>
            </a:r>
            <a:r>
              <a:rPr sz="2600">
                <a:solidFill>
                  <a:srgbClr val="262626"/>
                </a:solidFill>
                <a:latin typeface="Calibri"/>
              </a:rPr>
              <a:t>Em Grupo — Observabilidade — 10 pontos — critérios publicados antes da Aula 07</a:t>
            </a:r>
          </a:p>
          <a:p>
            <a:pPr algn="l">
              <a:spcBef>
                <a:spcPts val="0"/>
              </a:spcBef>
              <a:spcAft>
                <a:spcPts val="1800"/>
              </a:spcAft>
            </a:pPr>
            <a:r>
              <a:rPr sz="2600" b="1">
                <a:solidFill>
                  <a:srgbClr val="004A8F"/>
                </a:solidFill>
                <a:latin typeface="Calibri"/>
              </a:rPr>
              <a:t>Entrega 8:  </a:t>
            </a:r>
            <a:r>
              <a:rPr sz="2600">
                <a:solidFill>
                  <a:srgbClr val="262626"/>
                </a:solidFill>
                <a:latin typeface="Calibri"/>
              </a:rPr>
              <a:t>Grupo — Apresentação Final — 20 pontos — critérios publicados antes da Aula 08</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5400000"/>
            <a:ext cx="19170650" cy="2000000"/>
          </a:xfrm>
        </p:spPr>
        <p:txBody>
          <a:bodyPr wrap="square"/>
          <a:lstStyle/>
          <a:p>
            <a:pPr algn="l"/>
            <a:r>
              <a:rPr sz="4800" b="1">
                <a:solidFill>
                  <a:srgbClr val="004A8F"/>
                </a:solidFill>
                <a:latin typeface="Calibri"/>
              </a:rPr>
              <a:t>Revisão e Entregável de Hoje</a:t>
            </a:r>
          </a:p>
        </p:txBody>
      </p:sp>
      <p:sp>
        <p:nvSpPr>
          <p:cNvPr id="4" name="TextBox 3"/>
          <p:cNvSpPr txBox="1"/>
          <p:nvPr/>
        </p:nvSpPr>
        <p:spPr>
          <a:xfrm>
            <a:off x="1689100" y="4750000"/>
            <a:ext cx="19170650" cy="500000"/>
          </a:xfrm>
          <a:prstGeom prst="rect">
            <a:avLst/>
          </a:prstGeom>
          <a:noFill/>
        </p:spPr>
        <p:txBody>
          <a:bodyPr wrap="none">
            <a:spAutoFit/>
          </a:bodyPr>
          <a:lstStyle/>
          <a:p>
            <a:r>
              <a:rPr sz="2000" b="1">
                <a:solidFill>
                  <a:srgbClr val="F5AC00"/>
                </a:solidFill>
                <a:latin typeface="Calibri"/>
              </a:rPr>
              <a:t>ENCERRAMENTO</a:t>
            </a:r>
          </a:p>
        </p:txBody>
      </p:sp>
      <p:sp>
        <p:nvSpPr>
          <p:cNvPr id="5" name="TextBox 4"/>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Checklist de Encerramento</a:t>
            </a:r>
          </a:p>
        </p:txBody>
      </p:sp>
      <p:sp>
        <p:nvSpPr>
          <p:cNvPr id="3" name="Content Placeholder 2"/>
          <p:cNvSpPr>
            <a:spLocks noGrp="1"/>
          </p:cNvSpPr>
          <p:nvPr>
            <p:ph idx="1"/>
          </p:nvPr>
        </p:nvSpPr>
        <p:spPr/>
        <p:txBody>
          <a:bodyPr wrap="square" anchor="t"/>
          <a:lstStyle/>
          <a:p>
            <a:pPr algn="l">
              <a:spcBef>
                <a:spcPts val="0"/>
              </a:spcBef>
              <a:spcAft>
                <a:spcPts val="1500"/>
              </a:spcAft>
            </a:pPr>
            <a:r>
              <a:rPr sz="2300">
                <a:solidFill>
                  <a:srgbClr val="262626"/>
                </a:solidFill>
                <a:latin typeface="Calibri"/>
              </a:rPr>
              <a:t>☐ Docker Desktop instalado, verificado (docker ps) e Kubernetes local habilitado</a:t>
            </a:r>
          </a:p>
          <a:p>
            <a:pPr algn="l">
              <a:spcBef>
                <a:spcPts val="0"/>
              </a:spcBef>
              <a:spcAft>
                <a:spcPts val="1500"/>
              </a:spcAft>
            </a:pPr>
            <a:r>
              <a:rPr sz="2300">
                <a:solidFill>
                  <a:srgbClr val="262626"/>
                </a:solidFill>
                <a:latin typeface="Calibri"/>
              </a:rPr>
              <a:t>☐ Prompt de dados sintéticos rodado para o seu projeto individual</a:t>
            </a:r>
          </a:p>
          <a:p>
            <a:pPr algn="l">
              <a:spcBef>
                <a:spcPts val="0"/>
              </a:spcBef>
              <a:spcAft>
                <a:spcPts val="1500"/>
              </a:spcAft>
            </a:pPr>
            <a:r>
              <a:rPr sz="2300">
                <a:solidFill>
                  <a:srgbClr val="262626"/>
                </a:solidFill>
                <a:latin typeface="Calibri"/>
              </a:rPr>
              <a:t>☐ Terraform contra o Azure (Parte 11 da Aula 02) rodado até o fim, com evidência do Portal Azure</a:t>
            </a:r>
          </a:p>
          <a:p>
            <a:pPr algn="l">
              <a:spcBef>
                <a:spcPts val="0"/>
              </a:spcBef>
              <a:spcAft>
                <a:spcPts val="1500"/>
              </a:spcAft>
            </a:pPr>
            <a:r>
              <a:rPr sz="2300">
                <a:solidFill>
                  <a:srgbClr val="262626"/>
                </a:solidFill>
                <a:latin typeface="Calibri"/>
              </a:rPr>
              <a:t>☐ Estrutura de diretórios do projeto conferida, incluindo a pasta pulumi/</a:t>
            </a:r>
          </a:p>
          <a:p>
            <a:pPr algn="l">
              <a:spcBef>
                <a:spcPts val="0"/>
              </a:spcBef>
              <a:spcAft>
                <a:spcPts val="1500"/>
              </a:spcAft>
            </a:pPr>
            <a:r>
              <a:rPr sz="2300">
                <a:solidFill>
                  <a:srgbClr val="262626"/>
                </a:solidFill>
                <a:latin typeface="Calibri"/>
              </a:rPr>
              <a:t>☐ Pulumi CLI instalado e primeiro projeto criado (pulumi new azure-python)</a:t>
            </a:r>
          </a:p>
          <a:p>
            <a:pPr algn="l">
              <a:spcBef>
                <a:spcPts val="0"/>
              </a:spcBef>
              <a:spcAft>
                <a:spcPts val="1500"/>
              </a:spcAft>
            </a:pPr>
            <a:r>
              <a:rPr sz="2300">
                <a:solidFill>
                  <a:srgbClr val="262626"/>
                </a:solidFill>
                <a:latin typeface="Calibri"/>
              </a:rPr>
              <a:t>☐ Os 5 exemplos (Credenciais, SSH, ZIP, Docker, Demo PCDF) rodados em Pulumi</a:t>
            </a:r>
          </a:p>
          <a:p>
            <a:pPr algn="l">
              <a:spcBef>
                <a:spcPts val="0"/>
              </a:spcBef>
              <a:spcAft>
                <a:spcPts val="1500"/>
              </a:spcAft>
            </a:pPr>
            <a:r>
              <a:rPr sz="2300">
                <a:solidFill>
                  <a:srgbClr val="262626"/>
                </a:solidFill>
                <a:latin typeface="Calibri"/>
              </a:rPr>
              <a:t>☐ Capturas de tela de cada exemplo coladas nos slides indicados</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Entregável de Hoje</a:t>
            </a:r>
          </a:p>
        </p:txBody>
      </p:sp>
      <p:sp>
        <p:nvSpPr>
          <p:cNvPr id="3" name="Content Placeholder 2"/>
          <p:cNvSpPr>
            <a:spLocks noGrp="1"/>
          </p:cNvSpPr>
          <p:nvPr>
            <p:ph idx="1"/>
          </p:nvPr>
        </p:nvSpPr>
        <p:spPr/>
        <p:txBody>
          <a:bodyPr wrap="square" anchor="t"/>
          <a:lstStyle/>
          <a:p>
            <a:pPr algn="l">
              <a:spcBef>
                <a:spcPts val="0"/>
              </a:spcBef>
              <a:spcAft>
                <a:spcPts val="2200"/>
              </a:spcAft>
            </a:pPr>
            <a:r>
              <a:rPr sz="3000" b="1">
                <a:solidFill>
                  <a:srgbClr val="004A8F"/>
                </a:solidFill>
                <a:latin typeface="Calibri"/>
              </a:rPr>
              <a:t>O que entregar:  </a:t>
            </a:r>
            <a:r>
              <a:rPr sz="3000">
                <a:solidFill>
                  <a:srgbClr val="262626"/>
                </a:solidFill>
                <a:latin typeface="Calibri"/>
              </a:rPr>
              <a:t>as evidências de hoje alimentam diretamente as Entregas 2 e 3 — não existe um entregável novo isolado da Aula 03.</a:t>
            </a:r>
          </a:p>
          <a:p>
            <a:pPr algn="l">
              <a:spcBef>
                <a:spcPts val="0"/>
              </a:spcBef>
              <a:spcAft>
                <a:spcPts val="2200"/>
              </a:spcAft>
            </a:pPr>
            <a:r>
              <a:rPr sz="3000" b="1">
                <a:solidFill>
                  <a:srgbClr val="004A8F"/>
                </a:solidFill>
                <a:latin typeface="Calibri"/>
              </a:rPr>
              <a:t>Organização recomendada:  </a:t>
            </a:r>
            <a:r>
              <a:rPr sz="3000">
                <a:solidFill>
                  <a:srgbClr val="262626"/>
                </a:solidFill>
                <a:latin typeface="Calibri"/>
              </a:rPr>
              <a:t>mantenha as capturas de tela já separadas por exemplo, prontas para montar o PDF da Entrega 2/3.</a:t>
            </a:r>
          </a:p>
          <a:p>
            <a:pPr algn="l">
              <a:spcBef>
                <a:spcPts val="0"/>
              </a:spcBef>
              <a:spcAft>
                <a:spcPts val="2200"/>
              </a:spcAft>
            </a:pPr>
            <a:r>
              <a:rPr sz="3000" b="1">
                <a:solidFill>
                  <a:srgbClr val="004A8F"/>
                </a:solidFill>
                <a:latin typeface="Calibri"/>
              </a:rPr>
              <a:t>Antes de subir:  </a:t>
            </a:r>
            <a:r>
              <a:rPr sz="3000">
                <a:solidFill>
                  <a:srgbClr val="262626"/>
                </a:solidFill>
                <a:latin typeface="Calibri"/>
              </a:rPr>
              <a:t>confirme que .pulumi/ e qualquer credencial (credenciais.txt, id_rsa) NÃO estão sendo commitados no repositório.</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83</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3600" b="1">
                <a:solidFill>
                  <a:srgbClr val="0070C0"/>
                </a:solidFill>
                <a:latin typeface="Calibri"/>
              </a:rPr>
              <a:t>Referências</a:t>
            </a:r>
          </a:p>
        </p:txBody>
      </p:sp>
      <p:sp>
        <p:nvSpPr>
          <p:cNvPr id="3" name="Content Placeholder 2"/>
          <p:cNvSpPr>
            <a:spLocks noGrp="1"/>
          </p:cNvSpPr>
          <p:nvPr>
            <p:ph idx="1"/>
          </p:nvPr>
        </p:nvSpPr>
        <p:spPr/>
        <p:txBody>
          <a:bodyPr wrap="square" anchor="t"/>
          <a:lstStyle/>
          <a:p>
            <a:pPr algn="l">
              <a:spcBef>
                <a:spcPts val="0"/>
              </a:spcBef>
              <a:spcAft>
                <a:spcPts val="2000"/>
              </a:spcAft>
            </a:pPr>
            <a:r>
              <a:rPr sz="2800" b="1">
                <a:solidFill>
                  <a:srgbClr val="004A8F"/>
                </a:solidFill>
                <a:latin typeface="Calibri"/>
              </a:rPr>
              <a:t>Documentação oficial:  </a:t>
            </a:r>
            <a:r>
              <a:rPr sz="2800">
                <a:solidFill>
                  <a:srgbClr val="262626"/>
                </a:solidFill>
                <a:latin typeface="Calibri"/>
              </a:rPr>
              <a:t>pulumi.com/docs</a:t>
            </a:r>
          </a:p>
          <a:p>
            <a:pPr algn="l">
              <a:spcBef>
                <a:spcPts val="0"/>
              </a:spcBef>
              <a:spcAft>
                <a:spcPts val="2000"/>
              </a:spcAft>
            </a:pPr>
            <a:r>
              <a:rPr sz="2800" b="1">
                <a:solidFill>
                  <a:srgbClr val="004A8F"/>
                </a:solidFill>
                <a:latin typeface="Calibri"/>
              </a:rPr>
              <a:t>Pulumi vs Terraform (comparativo oficial):  </a:t>
            </a:r>
            <a:r>
              <a:rPr sz="2800">
                <a:solidFill>
                  <a:srgbClr val="262626"/>
                </a:solidFill>
                <a:latin typeface="Calibri"/>
              </a:rPr>
              <a:t>pulumi.com/docs/concepts/vs/terraform</a:t>
            </a:r>
          </a:p>
          <a:p>
            <a:pPr algn="l">
              <a:spcBef>
                <a:spcPts val="0"/>
              </a:spcBef>
              <a:spcAft>
                <a:spcPts val="2000"/>
              </a:spcAft>
            </a:pPr>
            <a:r>
              <a:rPr sz="2800" b="1">
                <a:solidFill>
                  <a:srgbClr val="004A8F"/>
                </a:solidFill>
                <a:latin typeface="Calibri"/>
              </a:rPr>
              <a:t>Registry de providers Pulumi:  </a:t>
            </a:r>
            <a:r>
              <a:rPr sz="2800">
                <a:solidFill>
                  <a:srgbClr val="262626"/>
                </a:solidFill>
                <a:latin typeface="Calibri"/>
              </a:rPr>
              <a:t>pulumi.com/registry</a:t>
            </a:r>
          </a:p>
          <a:p>
            <a:pPr algn="l">
              <a:spcBef>
                <a:spcPts val="0"/>
              </a:spcBef>
              <a:spcAft>
                <a:spcPts val="2000"/>
              </a:spcAft>
            </a:pPr>
            <a:r>
              <a:rPr sz="2800" b="1">
                <a:solidFill>
                  <a:srgbClr val="004A8F"/>
                </a:solidFill>
                <a:latin typeface="Calibri"/>
              </a:rPr>
              <a:t>Livro:  </a:t>
            </a:r>
            <a:r>
              <a:rPr sz="2800">
                <a:solidFill>
                  <a:srgbClr val="262626"/>
                </a:solidFill>
                <a:latin typeface="Calibri"/>
              </a:rPr>
              <a:t>Morris, K. (2025). Infrastructure as Code, 3ª ed. O'Reilly Media.</a:t>
            </a:r>
          </a:p>
        </p:txBody>
      </p:sp>
      <p:sp>
        <p:nvSpPr>
          <p:cNvPr id="4" name="TextBox 3"/>
          <p:cNvSpPr txBox="1"/>
          <p:nvPr/>
        </p:nvSpPr>
        <p:spPr>
          <a:xfrm>
            <a:off x="1689100" y="12520000"/>
            <a:ext cx="900000" cy="400000"/>
          </a:xfrm>
          <a:prstGeom prst="rect">
            <a:avLst/>
          </a:prstGeom>
          <a:noFill/>
        </p:spPr>
        <p:txBody>
          <a:bodyPr wrap="none">
            <a:spAutoFit/>
          </a:bodyPr>
          <a:lstStyle/>
          <a:p>
            <a:r>
              <a:rPr sz="1400">
                <a:solidFill>
                  <a:srgbClr val="595959"/>
                </a:solidFill>
                <a:latin typeface="Calibri"/>
              </a:rPr>
              <a:t>84</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048" y="0"/>
            <a:ext cx="24377904" cy="137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Imagem 6" descr="Uma imagem contendo Gráfico&#10;&#10;Descrição gerada automaticamente">
            <a:extLst>
              <a:ext uri="{FF2B5EF4-FFF2-40B4-BE49-F238E27FC236}">
                <a16:creationId xmlns:a16="http://schemas.microsoft.com/office/drawing/2014/main" id="{123C0F18-1F99-4AFB-BADE-BEF12CAF9E4A}"/>
              </a:ext>
            </a:extLst>
          </p:cNvPr>
          <p:cNvPicPr>
            <a:picLocks noChangeAspect="1"/>
          </p:cNvPicPr>
          <p:nvPr/>
        </p:nvPicPr>
        <p:blipFill rotWithShape="1">
          <a:blip r:embed="rId2">
            <a:extLst>
              <a:ext uri="{28A0092B-C50C-407E-A947-70E740481C1C}">
                <a14:useLocalDpi xmlns:a14="http://schemas.microsoft.com/office/drawing/2010/main" val="0"/>
              </a:ext>
            </a:extLst>
          </a:blip>
          <a:srcRect t="19"/>
          <a:stretch/>
        </p:blipFill>
        <p:spPr>
          <a:xfrm>
            <a:off x="20" y="2564"/>
            <a:ext cx="24383980" cy="13713436"/>
          </a:xfrm>
          <a:prstGeom prst="rect">
            <a:avLst/>
          </a:prstGeom>
        </p:spPr>
      </p:pic>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C9E5B6CA2FF774BAC2C469BEFBF993E" ma:contentTypeVersion="14" ma:contentTypeDescription="Crie um novo documento." ma:contentTypeScope="" ma:versionID="dc976a3d313a1884427fd4a25d2cee27">
  <xsd:schema xmlns:xsd="http://www.w3.org/2001/XMLSchema" xmlns:xs="http://www.w3.org/2001/XMLSchema" xmlns:p="http://schemas.microsoft.com/office/2006/metadata/properties" xmlns:ns1="http://schemas.microsoft.com/sharepoint/v3" xmlns:ns2="ca9a7d42-d7cc-4acf-9ced-5a6d605f5bb5" xmlns:ns3="de2f6f28-cd42-4609-bf66-4e8286a5a335" targetNamespace="http://schemas.microsoft.com/office/2006/metadata/properties" ma:root="true" ma:fieldsID="36c23cd9085cefcfd0c57ebeef0d5511" ns1:_="" ns2:_="" ns3:_="">
    <xsd:import namespace="http://schemas.microsoft.com/sharepoint/v3"/>
    <xsd:import namespace="ca9a7d42-d7cc-4acf-9ced-5a6d605f5bb5"/>
    <xsd:import namespace="de2f6f28-cd42-4609-bf66-4e8286a5a33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Propriedades da Política de Conformidade Unificada" ma:hidden="true" ma:internalName="_ip_UnifiedCompliancePolicyProperties">
      <xsd:simpleType>
        <xsd:restriction base="dms:Note"/>
      </xsd:simpleType>
    </xsd:element>
    <xsd:element name="_ip_UnifiedCompliancePolicyUIAction" ma:index="19" nillable="true" ma:displayName="Ação de Interface do Usuário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a9a7d42-d7cc-4acf-9ced-5a6d605f5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e2f6f28-cd42-4609-bf66-4e8286a5a335" elementFormDefault="qualified">
    <xsd:import namespace="http://schemas.microsoft.com/office/2006/documentManagement/types"/>
    <xsd:import namespace="http://schemas.microsoft.com/office/infopath/2007/PartnerControls"/>
    <xsd:element name="SharedWithUsers" ma:index="14"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4036CB-9748-436C-A1A1-F4D69768EB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a9a7d42-d7cc-4acf-9ced-5a6d605f5bb5"/>
    <ds:schemaRef ds:uri="de2f6f28-cd42-4609-bf66-4e8286a5a3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12B0F66-32D8-4318-9FAE-9EACF69D7379}">
  <ds:schemaRefs>
    <ds:schemaRef ds:uri="http://schemas.microsoft.com/office/2006/metadata/properties"/>
    <ds:schemaRef ds:uri="http://schemas.microsoft.com/office/infopath/2007/PartnerControls"/>
    <ds:schemaRef ds:uri="4620a0fb-8c8e-452c-99f9-831cb1282a4d"/>
    <ds:schemaRef ds:uri="http://schemas.microsoft.com/sharepoint/v3"/>
  </ds:schemaRefs>
</ds:datastoreItem>
</file>

<file path=customXml/itemProps3.xml><?xml version="1.0" encoding="utf-8"?>
<ds:datastoreItem xmlns:ds="http://schemas.openxmlformats.org/officeDocument/2006/customXml" ds:itemID="{A5A8ECF9-7567-461A-B635-D7A1660AA25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200</TotalTime>
  <Words>6933</Words>
  <Application>Microsoft Office PowerPoint</Application>
  <PresentationFormat>Personalizar</PresentationFormat>
  <Paragraphs>731</Paragraphs>
  <Slides>78</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78</vt:i4>
      </vt:variant>
    </vt:vector>
  </HeadingPairs>
  <TitlesOfParts>
    <vt:vector size="85" baseType="lpstr">
      <vt:lpstr>Arial</vt:lpstr>
      <vt:lpstr>Calibri</vt:lpstr>
      <vt:lpstr>Consolas</vt:lpstr>
      <vt:lpstr>Helvetica Neue</vt:lpstr>
      <vt:lpstr>Helvetica Neue Light</vt:lpstr>
      <vt:lpstr>Helvetica Neue Medium</vt:lpstr>
      <vt:lpstr>White</vt:lpstr>
      <vt:lpstr>MLOps &amp; CI/CD</vt:lpstr>
      <vt:lpstr>Agenda de Hoje</vt:lpstr>
      <vt:lpstr>Objetivos de Aprendizagem</vt:lpstr>
      <vt:lpstr>Pendências das Aulas 01 e 02</vt:lpstr>
      <vt:lpstr>Por Que Fechar Isso Antes de Começar o Pulumi</vt:lpstr>
      <vt:lpstr>Docker Desktop: Instalação e Configuração</vt:lpstr>
      <vt:lpstr>Instalar o Docker Desktop — Windows</vt:lpstr>
      <vt:lpstr>Instalar o Docker Desktop — Mac</vt:lpstr>
      <vt:lpstr>Verificar a Instalação</vt:lpstr>
      <vt:lpstr>Habilitar o Kubernetes Local (Já Deixa Pronto p/ Aulas 04 e 05)</vt:lpstr>
      <vt:lpstr>Criação dos Dados com um Prompt de IA</vt:lpstr>
      <vt:lpstr>Por Que Gerar Dados com IA Generativa</vt:lpstr>
      <vt:lpstr>O Prompt (Copie, Adapte ao Seu Tema, e Cole em uma Ferramenta de IA)</vt:lpstr>
      <vt:lpstr>Resultado Esperado</vt:lpstr>
      <vt:lpstr>Relação com o Dataset que Já Usamos em ML (Aula 01)</vt:lpstr>
      <vt:lpstr>Terraform Contra o Azure — Repetindo a Parte 11 da Aula 02</vt:lpstr>
      <vt:lpstr>Recapitulando o Que Já Existe</vt:lpstr>
      <vt:lpstr>main.tf Completo da Demo</vt:lpstr>
      <vt:lpstr>main.tf Completo da Demo (Continuação)</vt:lpstr>
      <vt:lpstr>Passo a Passo, Com Resultado Esperado</vt:lpstr>
      <vt:lpstr>Aula 02 — Demonstração Ao Vivo (Referência)</vt:lpstr>
      <vt:lpstr>Reforço: Estrutura de Diretórios do Projeto</vt:lpstr>
      <vt:lpstr>Estrutura de Pastas do Projeto (Referência da Aula 01)</vt:lpstr>
      <vt:lpstr>Por Que Isso Importa de Novo, Hoje</vt:lpstr>
      <vt:lpstr>Pulumi: Infraestrutura como Código com Linguagens Reais</vt:lpstr>
      <vt:lpstr>O Que É o Pulumi</vt:lpstr>
      <vt:lpstr>Por Que Python, Especificamente, Neste Curso</vt:lpstr>
      <vt:lpstr>A Diferença Filosófica Central</vt:lpstr>
      <vt:lpstr>Terraform x Pulumi — Fluxo e Estrutura</vt:lpstr>
      <vt:lpstr>Terraform x Pulumi — Linguagem e Recursos</vt:lpstr>
      <vt:lpstr>Arquitetura do Pulumi</vt:lpstr>
      <vt:lpstr>Antes do Diagrama: os 2 Processos por Trás do CLI</vt:lpstr>
      <vt:lpstr>Apresentação do PowerPoint</vt:lpstr>
      <vt:lpstr>Comparando com o Diagrama do Terraform (Aula 02)</vt:lpstr>
      <vt:lpstr>Mindmap: Pulumi de Ponta a Ponta</vt:lpstr>
      <vt:lpstr>Apresentação do PowerPoint</vt:lpstr>
      <vt:lpstr>Os 5 Ramos, em Uma Frase Cada</vt:lpstr>
      <vt:lpstr>Instalação e Primeiro Projeto</vt:lpstr>
      <vt:lpstr>Exemplo 5 — Demo PCDF Contra o Azure</vt:lpstr>
      <vt:lpstr>Exemplo 5 — O Que Muda de Verdade</vt:lpstr>
      <vt:lpstr>Instalar o Pulumi CLI</vt:lpstr>
      <vt:lpstr>Escolher o Backend de State</vt:lpstr>
      <vt:lpstr>Criar o Projeto Dentro da Pasta pulumi/</vt:lpstr>
      <vt:lpstr>Ambiente Virtual Python</vt:lpstr>
      <vt:lpstr>O Que o Scaffold Gerou</vt:lpstr>
      <vt:lpstr>Exemplo 5 — </vt:lpstr>
      <vt:lpstr>Exemplo 5 — </vt:lpstr>
      <vt:lpstr>Exemplo 5 — </vt:lpstr>
      <vt:lpstr>Exemplos Lado a Lado: Terraform x Pulumi</vt:lpstr>
      <vt:lpstr>Como Vamos Comparar</vt:lpstr>
      <vt:lpstr>Exemplo 1 — Credenciais</vt:lpstr>
      <vt:lpstr>Exemplo 1 — O Que Muda de Verdade</vt:lpstr>
      <vt:lpstr>Exemplo 2 — Par de Chaves SSH</vt:lpstr>
      <vt:lpstr>Exemplo 2 — O Que Muda de Verdade</vt:lpstr>
      <vt:lpstr>Antes do Exemplo 3: Crie a Pasta app/ (Igual à Aula 02)</vt:lpstr>
      <vt:lpstr>Exemplo 3 — Empacotando um App em .zip</vt:lpstr>
      <vt:lpstr>Exemplo 3 — O Que Muda de Verdade</vt:lpstr>
      <vt:lpstr>Exemplo 4 — Container Docker</vt:lpstr>
      <vt:lpstr>Exemplo 4 — O Que Muda de Verdade</vt:lpstr>
      <vt:lpstr>Terraform x Pulumi: Prós, Contras e Quando Usar Cada Um</vt:lpstr>
      <vt:lpstr>Terraform — Prós e Contras</vt:lpstr>
      <vt:lpstr>Pulumi — Prós e Contras</vt:lpstr>
      <vt:lpstr>Quando Usar Qual</vt:lpstr>
      <vt:lpstr>Dica #1 — Providers "Bridged"</vt:lpstr>
      <vt:lpstr>Dica #2 — Stacks São Ambientes, Não Só Nomes</vt:lpstr>
      <vt:lpstr>Dica #3 — Automation API</vt:lpstr>
      <vt:lpstr>Dica #4 — CrossGuard (Policy as Code)</vt:lpstr>
      <vt:lpstr>Critérios de Avaliação — As 8 Entregas do Curso</vt:lpstr>
      <vt:lpstr>Resumo de Pontuação</vt:lpstr>
      <vt:lpstr>Entrega 1 — Em Grupo (15 pontos)</vt:lpstr>
      <vt:lpstr>Entrega 2 — Individual (10 pontos)</vt:lpstr>
      <vt:lpstr>Entrega 3 — Em Grupo (15 pontos)</vt:lpstr>
      <vt:lpstr>Entregas 4 a 8 — A Definir</vt:lpstr>
      <vt:lpstr>Revisão e Entregável de Hoje</vt:lpstr>
      <vt:lpstr>Checklist de Encerramento</vt:lpstr>
      <vt:lpstr>Entregável de Hoje</vt:lpstr>
      <vt:lpstr>Referências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cp:lastModifiedBy>ANDRÉ LUIZ BRAGA</cp:lastModifiedBy>
  <cp:revision>15</cp:revision>
  <dcterms:modified xsi:type="dcterms:W3CDTF">2026-08-18T16:01:04Z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0x010100BC9E5B6CA2FF774BAC2C469BEFBF993E</vt:lpwstr>
  </property>
</Properties>
</file>