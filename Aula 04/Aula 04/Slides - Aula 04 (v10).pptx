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8"/>
  </p:notesMasterIdLst>
  <p:sldIdLst>
    <p:sldId id="256" r:id="rId5"/>
    <p:sldId id="257" r:id="rId6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  <p:sldId id="299" r:id="rId54"/>
    <p:sldId id="300" r:id="rId55"/>
    <p:sldId id="301" r:id="rId56"/>
    <p:sldId id="302" r:id="rId57"/>
    <p:sldId id="303" r:id="rId58"/>
    <p:sldId id="304" r:id="rId59"/>
    <p:sldId id="305" r:id="rId60"/>
    <p:sldId id="306" r:id="rId61"/>
    <p:sldId id="307" r:id="rId62"/>
    <p:sldId id="308" r:id="rId63"/>
    <p:sldId id="309" r:id="rId64"/>
    <p:sldId id="310" r:id="rId65"/>
    <p:sldId id="311" r:id="rId66"/>
    <p:sldId id="312" r:id="rId67"/>
    <p:sldId id="313" r:id="rId68"/>
    <p:sldId id="314" r:id="rId69"/>
    <p:sldId id="315" r:id="rId70"/>
    <p:sldId id="316" r:id="rId71"/>
    <p:sldId id="317" r:id="rId72"/>
    <p:sldId id="318" r:id="rId73"/>
    <p:sldId id="319" r:id="rId74"/>
    <p:sldId id="320" r:id="rId75"/>
    <p:sldId id="321" r:id="rId76"/>
    <p:sldId id="322" r:id="rId77"/>
    <p:sldId id="323" r:id="rId78"/>
    <p:sldId id="324" r:id="rId79"/>
    <p:sldId id="325" r:id="rId80"/>
    <p:sldId id="326" r:id="rId81"/>
    <p:sldId id="327" r:id="rId82"/>
    <p:sldId id="328" r:id="rId83"/>
    <p:sldId id="329" r:id="rId84"/>
    <p:sldId id="330" r:id="rId85"/>
    <p:sldId id="331" r:id="rId86"/>
    <p:sldId id="332" r:id="rId87"/>
    <p:sldId id="333" r:id="rId88"/>
    <p:sldId id="334" r:id="rId89"/>
    <p:sldId id="335" r:id="rId90"/>
    <p:sldId id="336" r:id="rId91"/>
    <p:sldId id="337" r:id="rId92"/>
    <p:sldId id="338" r:id="rId93"/>
    <p:sldId id="339" r:id="rId94"/>
    <p:sldId id="340" r:id="rId95"/>
    <p:sldId id="341" r:id="rId96"/>
    <p:sldId id="342" r:id="rId97"/>
    <p:sldId id="343" r:id="rId98"/>
    <p:sldId id="344" r:id="rId99"/>
    <p:sldId id="258" r:id="rId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1138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55" Type="http://schemas.openxmlformats.org/officeDocument/2006/relationships/slide" Target="slides/slide45.xml"/><Relationship Id="rId56" Type="http://schemas.openxmlformats.org/officeDocument/2006/relationships/slide" Target="slides/slide46.xml"/><Relationship Id="rId57" Type="http://schemas.openxmlformats.org/officeDocument/2006/relationships/slide" Target="slides/slide47.xml"/><Relationship Id="rId58" Type="http://schemas.openxmlformats.org/officeDocument/2006/relationships/slide" Target="slides/slide48.xml"/><Relationship Id="rId59" Type="http://schemas.openxmlformats.org/officeDocument/2006/relationships/slide" Target="slides/slide49.xml"/><Relationship Id="rId60" Type="http://schemas.openxmlformats.org/officeDocument/2006/relationships/slide" Target="slides/slide50.xml"/><Relationship Id="rId61" Type="http://schemas.openxmlformats.org/officeDocument/2006/relationships/slide" Target="slides/slide51.xml"/><Relationship Id="rId62" Type="http://schemas.openxmlformats.org/officeDocument/2006/relationships/slide" Target="slides/slide52.xml"/><Relationship Id="rId63" Type="http://schemas.openxmlformats.org/officeDocument/2006/relationships/slide" Target="slides/slide53.xml"/><Relationship Id="rId64" Type="http://schemas.openxmlformats.org/officeDocument/2006/relationships/slide" Target="slides/slide54.xml"/><Relationship Id="rId65" Type="http://schemas.openxmlformats.org/officeDocument/2006/relationships/slide" Target="slides/slide55.xml"/><Relationship Id="rId66" Type="http://schemas.openxmlformats.org/officeDocument/2006/relationships/slide" Target="slides/slide56.xml"/><Relationship Id="rId67" Type="http://schemas.openxmlformats.org/officeDocument/2006/relationships/slide" Target="slides/slide57.xml"/><Relationship Id="rId68" Type="http://schemas.openxmlformats.org/officeDocument/2006/relationships/slide" Target="slides/slide58.xml"/><Relationship Id="rId69" Type="http://schemas.openxmlformats.org/officeDocument/2006/relationships/slide" Target="slides/slide59.xml"/><Relationship Id="rId70" Type="http://schemas.openxmlformats.org/officeDocument/2006/relationships/slide" Target="slides/slide60.xml"/><Relationship Id="rId71" Type="http://schemas.openxmlformats.org/officeDocument/2006/relationships/slide" Target="slides/slide61.xml"/><Relationship Id="rId72" Type="http://schemas.openxmlformats.org/officeDocument/2006/relationships/slide" Target="slides/slide62.xml"/><Relationship Id="rId73" Type="http://schemas.openxmlformats.org/officeDocument/2006/relationships/slide" Target="slides/slide63.xml"/><Relationship Id="rId74" Type="http://schemas.openxmlformats.org/officeDocument/2006/relationships/slide" Target="slides/slide64.xml"/><Relationship Id="rId75" Type="http://schemas.openxmlformats.org/officeDocument/2006/relationships/slide" Target="slides/slide65.xml"/><Relationship Id="rId76" Type="http://schemas.openxmlformats.org/officeDocument/2006/relationships/slide" Target="slides/slide66.xml"/><Relationship Id="rId77" Type="http://schemas.openxmlformats.org/officeDocument/2006/relationships/slide" Target="slides/slide67.xml"/><Relationship Id="rId78" Type="http://schemas.openxmlformats.org/officeDocument/2006/relationships/slide" Target="slides/slide68.xml"/><Relationship Id="rId79" Type="http://schemas.openxmlformats.org/officeDocument/2006/relationships/slide" Target="slides/slide69.xml"/><Relationship Id="rId80" Type="http://schemas.openxmlformats.org/officeDocument/2006/relationships/slide" Target="slides/slide70.xml"/><Relationship Id="rId81" Type="http://schemas.openxmlformats.org/officeDocument/2006/relationships/slide" Target="slides/slide71.xml"/><Relationship Id="rId82" Type="http://schemas.openxmlformats.org/officeDocument/2006/relationships/slide" Target="slides/slide72.xml"/><Relationship Id="rId83" Type="http://schemas.openxmlformats.org/officeDocument/2006/relationships/slide" Target="slides/slide73.xml"/><Relationship Id="rId84" Type="http://schemas.openxmlformats.org/officeDocument/2006/relationships/slide" Target="slides/slide74.xml"/><Relationship Id="rId85" Type="http://schemas.openxmlformats.org/officeDocument/2006/relationships/slide" Target="slides/slide75.xml"/><Relationship Id="rId86" Type="http://schemas.openxmlformats.org/officeDocument/2006/relationships/slide" Target="slides/slide76.xml"/><Relationship Id="rId87" Type="http://schemas.openxmlformats.org/officeDocument/2006/relationships/slide" Target="slides/slide77.xml"/><Relationship Id="rId88" Type="http://schemas.openxmlformats.org/officeDocument/2006/relationships/slide" Target="slides/slide78.xml"/><Relationship Id="rId89" Type="http://schemas.openxmlformats.org/officeDocument/2006/relationships/slide" Target="slides/slide79.xml"/><Relationship Id="rId90" Type="http://schemas.openxmlformats.org/officeDocument/2006/relationships/slide" Target="slides/slide80.xml"/><Relationship Id="rId91" Type="http://schemas.openxmlformats.org/officeDocument/2006/relationships/slide" Target="slides/slide81.xml"/><Relationship Id="rId92" Type="http://schemas.openxmlformats.org/officeDocument/2006/relationships/slide" Target="slides/slide82.xml"/><Relationship Id="rId93" Type="http://schemas.openxmlformats.org/officeDocument/2006/relationships/slide" Target="slides/slide83.xml"/><Relationship Id="rId94" Type="http://schemas.openxmlformats.org/officeDocument/2006/relationships/slide" Target="slides/slide84.xml"/><Relationship Id="rId95" Type="http://schemas.openxmlformats.org/officeDocument/2006/relationships/slide" Target="slides/slide85.xml"/><Relationship Id="rId96" Type="http://schemas.openxmlformats.org/officeDocument/2006/relationships/slide" Target="slides/slide86.xml"/><Relationship Id="rId97" Type="http://schemas.openxmlformats.org/officeDocument/2006/relationships/slide" Target="slides/slide87.xml"/><Relationship Id="rId98" Type="http://schemas.openxmlformats.org/officeDocument/2006/relationships/slide" Target="slides/slide88.xml"/><Relationship Id="rId99" Type="http://schemas.openxmlformats.org/officeDocument/2006/relationships/slide" Target="slides/slide8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áudio Carvajal" userId="1c23233fab0a788b" providerId="LiveId" clId="{093D70BD-492E-45D0-B5AB-6B410A6D8764}"/>
    <pc:docChg chg="custSel modSld">
      <pc:chgData name="Cláudio Carvajal" userId="1c23233fab0a788b" providerId="LiveId" clId="{093D70BD-492E-45D0-B5AB-6B410A6D8764}" dt="2025-06-23T13:34:58.141" v="3" actId="20577"/>
      <pc:docMkLst>
        <pc:docMk/>
      </pc:docMkLst>
      <pc:sldChg chg="delSp modSp mod">
        <pc:chgData name="Cláudio Carvajal" userId="1c23233fab0a788b" providerId="LiveId" clId="{093D70BD-492E-45D0-B5AB-6B410A6D8764}" dt="2025-06-23T13:34:58.141" v="3" actId="20577"/>
        <pc:sldMkLst>
          <pc:docMk/>
          <pc:sldMk cId="0" sldId="256"/>
        </pc:sldMkLst>
        <pc:spChg chg="mod">
          <ac:chgData name="Cláudio Carvajal" userId="1c23233fab0a788b" providerId="LiveId" clId="{093D70BD-492E-45D0-B5AB-6B410A6D8764}" dt="2025-06-23T13:34:58.141" v="3" actId="20577"/>
          <ac:spMkLst>
            <pc:docMk/>
            <pc:sldMk cId="0" sldId="256"/>
            <ac:spMk id="120" creationId="{00000000-0000-0000-0000-000000000000}"/>
          </ac:spMkLst>
        </pc:spChg>
        <pc:picChg chg="del">
          <ac:chgData name="Cláudio Carvajal" userId="1c23233fab0a788b" providerId="LiveId" clId="{093D70BD-492E-45D0-B5AB-6B410A6D8764}" dt="2025-06-23T13:34:53.385" v="0" actId="478"/>
          <ac:picMkLst>
            <pc:docMk/>
            <pc:sldMk cId="0" sldId="256"/>
            <ac:picMk id="3" creationId="{D8B40C3F-F368-555A-F896-B0EBE4E6F40A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13"/>
          </p:nvPr>
        </p:nvSpPr>
        <p:spPr>
          <a:xfrm>
            <a:off x="3125968" y="673100"/>
            <a:ext cx="18135601" cy="8737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sz="half" idx="13"/>
          </p:nvPr>
        </p:nvSpPr>
        <p:spPr>
          <a:xfrm>
            <a:off x="13165980" y="952500"/>
            <a:ext cx="9525001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13169900" y="3149600"/>
            <a:ext cx="95250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13"/>
          </p:nvPr>
        </p:nvSpPr>
        <p:spPr>
          <a:xfrm>
            <a:off x="15760700" y="7048500"/>
            <a:ext cx="740410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15760700" y="1130300"/>
            <a:ext cx="740410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idx="15"/>
          </p:nvPr>
        </p:nvSpPr>
        <p:spPr>
          <a:xfrm>
            <a:off x="1206500" y="1130300"/>
            <a:ext cx="141732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13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 txBox="1">
            <a:spLocks noGrp="1"/>
          </p:cNvSpPr>
          <p:nvPr>
            <p:ph type="body" sz="quarter" idx="14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0" y="0"/>
            <a:ext cx="24384000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89100" y="1612900"/>
            <a:ext cx="19170650" cy="2286000"/>
          </a:xfrm>
        </p:spPr>
        <p:txBody>
          <a:bodyPr/>
          <a:lstStyle/>
          <a:p>
            <a:r>
              <a:rPr lang="pt-BR" dirty="0"/>
              <a:t>Clique para editar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689100" y="4406900"/>
            <a:ext cx="19170650" cy="7823200"/>
          </a:xfrm>
        </p:spPr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1137B-F694-7B4C-8D60-520B530DFBC4}" type="datetimeFigureOut">
              <a:rPr lang="pt-BR" smtClean="0"/>
              <a:t>23/06/2025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886690" y="13081000"/>
            <a:ext cx="597921" cy="471924"/>
          </a:xfrm>
        </p:spPr>
        <p:txBody>
          <a:bodyPr/>
          <a:lstStyle/>
          <a:p>
            <a:fld id="{85C2E139-75F7-E84C-B376-8E7902EEBD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332944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7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5A8A4EE0-71B7-4C3A-9B31-B940838B0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4383999" cy="13716000"/>
          </a:xfrm>
          <a:prstGeom prst="rect">
            <a:avLst/>
          </a:prstGeom>
        </p:spPr>
      </p:pic>
      <p:sp>
        <p:nvSpPr>
          <p:cNvPr id="120" name="Title"/>
          <p:cNvSpPr txBox="1">
            <a:spLocks noGrp="1"/>
          </p:cNvSpPr>
          <p:nvPr>
            <p:ph type="ctrTitle"/>
          </p:nvPr>
        </p:nvSpPr>
        <p:spPr>
          <a:xfrm>
            <a:off x="1692939" y="4614632"/>
            <a:ext cx="19029265" cy="15875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pt-BR" sz="6600" b="1" i="1" dirty="0">
                <a:solidFill>
                  <a:srgbClr val="0070C0"/>
                </a:solidFill>
              </a:rPr>
              <a:t>MLOps &amp; CI/CD</a:t>
            </a:r>
            <a:endParaRPr lang="pt-BR" sz="6600" b="1" i="1" dirty="0">
              <a:solidFill>
                <a:srgbClr val="0070C0"/>
              </a:solidFill>
            </a:endParaRPr>
          </a:p>
        </p:txBody>
      </p:sp>
      <p:sp>
        <p:nvSpPr>
          <p:cNvPr id="121" name="Body"/>
          <p:cNvSpPr txBox="1">
            <a:spLocks noGrp="1"/>
          </p:cNvSpPr>
          <p:nvPr>
            <p:ph type="subTitle" sz="quarter" idx="1"/>
          </p:nvPr>
        </p:nvSpPr>
        <p:spPr>
          <a:xfrm>
            <a:off x="1692939" y="7102707"/>
            <a:ext cx="19029265" cy="15875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pt-BR" sz="4400" dirty="0"/>
              <a:t>Disciplina/Tema:  Aula 4 — Orquestração de Workflows com Apache Airflow</a:t>
            </a:r>
          </a:p>
          <a:p>
            <a:pPr algn="l"/>
            <a:r>
              <a:rPr lang="pt-BR" sz="4400" dirty="0"/>
              <a:t>Professor(a):  André Luiz Braga</a:t>
            </a:r>
          </a:p>
          <a:p>
            <a:pPr algn="l"/>
            <a:r>
              <a:rPr sz="3000" i="1">
                <a:solidFill>
                  <a:srgbClr val="595959"/>
                </a:solidFill>
                <a:latin typeface="Calibri"/>
              </a:rPr>
              <a:t>MBA em BI &amp; Data Science  •  Carga horária da aula: 5h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0070C0"/>
                </a:solidFill>
                <a:latin typeface="Calibri"/>
              </a:rPr>
              <a:t>Agenda de Hoje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300">
                <a:solidFill>
                  <a:srgbClr val="262626"/>
                </a:solidFill>
                <a:latin typeface="Calibri"/>
              </a:rPr>
              <a:t>Os 2 ambientes do curso: Local de Demonstração x Projeto-Guia PCDF</a:t>
            </a:r>
            <a:endParaRPr lang="pt-BR" dirty="0"/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300">
                <a:solidFill>
                  <a:srgbClr val="262626"/>
                </a:solidFill>
                <a:latin typeface="Calibri"/>
              </a:rPr>
              <a:t>Docker + Kubernetes local SEM Docker Desktop — Windows (WSL2) e Linux, separados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300">
                <a:solidFill>
                  <a:srgbClr val="262626"/>
                </a:solidFill>
                <a:latin typeface="Calibri"/>
              </a:rPr>
              <a:t>Conta Azure for Students: limitações de região e alternativas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300">
                <a:solidFill>
                  <a:srgbClr val="262626"/>
                </a:solidFill>
                <a:latin typeface="Calibri"/>
              </a:rPr>
              <a:t>Retomando o Pulumi da Aula 03 — agora criando o Resource Group também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300">
                <a:solidFill>
                  <a:srgbClr val="262626"/>
                </a:solidFill>
                <a:latin typeface="Calibri"/>
              </a:rPr>
              <a:t>Instalação e configuração do Apache Airflow via Docker Compose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300">
                <a:solidFill>
                  <a:srgbClr val="262626"/>
                </a:solidFill>
                <a:latin typeface="Calibri"/>
              </a:rPr>
              <a:t>O ETL do projeto: onde cada parte roda, de verdade (Extract, Transform, Load)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300">
                <a:solidFill>
                  <a:srgbClr val="262626"/>
                </a:solidFill>
                <a:latin typeface="Calibri"/>
              </a:rPr>
              <a:t>Construção: rodando o DAG no ambiente local e depois no seu projeto PCDF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300">
                <a:solidFill>
                  <a:srgbClr val="262626"/>
                </a:solidFill>
                <a:latin typeface="Calibri"/>
              </a:rPr>
              <a:t>Limpeza do ambiente ao final — poupando crédito e espaço em disco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10453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24377904" cy="137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Imagem 6" descr="Uma imagem contendo Gráfico&#10;&#10;Descrição gerada automaticamente">
            <a:extLst>
              <a:ext uri="{FF2B5EF4-FFF2-40B4-BE49-F238E27FC236}">
                <a16:creationId xmlns:a16="http://schemas.microsoft.com/office/drawing/2014/main" id="{123C0F18-1F99-4AFB-BADE-BEF12CAF9E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>
          <a:xfrm>
            <a:off x="20" y="2564"/>
            <a:ext cx="24383980" cy="1371343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Objetivos de Aprendizagem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b="1" sz="2700">
                <a:solidFill>
                  <a:srgbClr val="004A8F"/>
                </a:solidFill>
                <a:latin typeface="Calibri"/>
              </a:rPr>
              <a:t>Eliminar ambiguidade:  </a:t>
            </a:r>
            <a:r>
              <a:rPr sz="2700">
                <a:solidFill>
                  <a:srgbClr val="262626"/>
                </a:solidFill>
                <a:latin typeface="Calibri"/>
              </a:rPr>
              <a:t>cada passo de hoje tem o comando exato, separado por sistema operacional — sem "depende".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b="1" sz="2700">
                <a:solidFill>
                  <a:srgbClr val="004A8F"/>
                </a:solidFill>
                <a:latin typeface="Calibri"/>
              </a:rPr>
              <a:t>Resolver o que travou a Aula 03:  </a:t>
            </a:r>
            <a:r>
              <a:rPr sz="2700">
                <a:solidFill>
                  <a:srgbClr val="262626"/>
                </a:solidFill>
                <a:latin typeface="Calibri"/>
              </a:rPr>
              <a:t>cliente sem permissão para Docker Desktop, conta Azure de estudante e falta de tempo para o Pulumi — os 3 pontos viram destaque de hoje, não desculpa.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b="1" sz="2700">
                <a:solidFill>
                  <a:srgbClr val="004A8F"/>
                </a:solidFill>
                <a:latin typeface="Calibri"/>
              </a:rPr>
              <a:t>Orquestrar com Airflow:  </a:t>
            </a:r>
            <a:r>
              <a:rPr sz="2700">
                <a:solidFill>
                  <a:srgbClr val="262626"/>
                </a:solidFill>
                <a:latin typeface="Calibri"/>
              </a:rPr>
              <a:t>instalar, configurar e rodar um DAG real de ETL, sabendo exatamente onde cada etapa acontece.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b="1" sz="2700">
                <a:solidFill>
                  <a:srgbClr val="004A8F"/>
                </a:solidFill>
                <a:latin typeface="Calibri"/>
              </a:rPr>
              <a:t>Entender o ETL do projeto-guia:  </a:t>
            </a:r>
            <a:r>
              <a:rPr sz="2700">
                <a:solidFill>
                  <a:srgbClr val="262626"/>
                </a:solidFill>
                <a:latin typeface="Calibri"/>
              </a:rPr>
              <a:t>Extract, Transform e Load explicados linha por linha, dentro do container certo.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Se o Tempo Apertar Hoje: Foco e Ordem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b="1" sz="2700">
                <a:solidFill>
                  <a:srgbClr val="004A8F"/>
                </a:solidFill>
                <a:latin typeface="Calibri"/>
              </a:rPr>
              <a:t>Prioridade 1:  </a:t>
            </a:r>
            <a:r>
              <a:rPr sz="2700">
                <a:solidFill>
                  <a:srgbClr val="262626"/>
                </a:solidFill>
                <a:latin typeface="Calibri"/>
              </a:rPr>
              <a:t>Ponte Windows ↔ WSL2 — resolve o erro mais comum do dia ("o Ubuntu não enxerga minha pasta").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b="1" sz="2700">
                <a:solidFill>
                  <a:srgbClr val="004A8F"/>
                </a:solidFill>
                <a:latin typeface="Calibri"/>
              </a:rPr>
              <a:t>Prioridade 2:  </a:t>
            </a:r>
            <a:r>
              <a:rPr sz="2700">
                <a:solidFill>
                  <a:srgbClr val="262626"/>
                </a:solidFill>
                <a:latin typeface="Calibri"/>
              </a:rPr>
              <a:t>Docker + Kubernetes (Parte 2) e Pulumi (Partes 3 e 4) — o que ficou pendente da Aula 03.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b="1" sz="2700">
                <a:solidFill>
                  <a:srgbClr val="004A8F"/>
                </a:solidFill>
                <a:latin typeface="Calibri"/>
              </a:rPr>
              <a:t>Pode ficar para a próxima aula:  </a:t>
            </a:r>
            <a:r>
              <a:rPr sz="2700">
                <a:solidFill>
                  <a:srgbClr val="262626"/>
                </a:solidFill>
                <a:latin typeface="Calibri"/>
              </a:rPr>
              <a:t>instalar e rodar o Airflow/ETL (Partes 5 a 8) — exige mais tempo do que uma aula costuma 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5400000"/>
            <a:ext cx="19170650" cy="2000000"/>
          </a:xfrm>
        </p:spPr>
        <p:txBody>
          <a:bodyPr wrap="square"/>
          <a:lstStyle/>
          <a:p>
            <a:pPr algn="l"/>
            <a:r>
              <a:rPr sz="4800" b="1">
                <a:solidFill>
                  <a:srgbClr val="004A8F"/>
                </a:solidFill>
                <a:latin typeface="Calibri"/>
              </a:rPr>
              <a:t>Os Dois Ambientes de Trabalho do Curso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550000"/>
            <a:ext cx="0" cy="2000000"/>
          </a:xfrm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sz="2600">
                <a:solidFill>
                  <a:srgbClr val="595959"/>
                </a:solidFill>
                <a:latin typeface="Calibri"/>
              </a:rPr>
              <a:t>Todo exemplo de hoje pertence a UM dos dois — nunca aos dois ao mesmo tempo. Vamos deixar isso muito claro antes de digitar o primeiro comando.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4750000"/>
            <a:ext cx="1917065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5AC00"/>
                </a:solidFill>
                <a:latin typeface="Calibri"/>
              </a:rPr>
              <a:t>ANTES DE COMEÇAR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Ambiente Local de Demonstração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600">
                <a:solidFill>
                  <a:srgbClr val="004A8F"/>
                </a:solidFill>
                <a:latin typeface="Calibri"/>
              </a:rPr>
              <a:t>O que é:  </a:t>
            </a:r>
            <a:r>
              <a:rPr sz="2600">
                <a:solidFill>
                  <a:srgbClr val="262626"/>
                </a:solidFill>
                <a:latin typeface="Calibri"/>
              </a:rPr>
              <a:t>a pasta de testes do professor — dados fictícios, uma subpasta por exemplo (terraform-demo/, pulumi-demo/, airflow-demo/), tanto para Azure quanto para execução local.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600">
                <a:solidFill>
                  <a:srgbClr val="004A8F"/>
                </a:solidFill>
                <a:latin typeface="Calibri"/>
              </a:rPr>
              <a:t>Para que serve:  </a:t>
            </a:r>
            <a:r>
              <a:rPr sz="2600">
                <a:solidFill>
                  <a:srgbClr val="262626"/>
                </a:solidFill>
                <a:latin typeface="Calibri"/>
              </a:rPr>
              <a:t>mostrar o MECANISMO — o comando, a sintaxe, o conceito — sem risco de quebrar nada que valha nota.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600">
                <a:solidFill>
                  <a:srgbClr val="004A8F"/>
                </a:solidFill>
                <a:latin typeface="Calibri"/>
              </a:rPr>
              <a:t>Pode apagar?:  </a:t>
            </a:r>
            <a:r>
              <a:rPr sz="2600">
                <a:solidFill>
                  <a:srgbClr val="262626"/>
                </a:solidFill>
                <a:latin typeface="Calibri"/>
              </a:rPr>
              <a:t>sim, sempre. É por isso que aqui a gente experimenta, erra e recria sem medo.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600">
                <a:solidFill>
                  <a:srgbClr val="004A8F"/>
                </a:solidFill>
                <a:latin typeface="Calibri"/>
              </a:rPr>
              <a:t>Hoje:  </a:t>
            </a:r>
            <a:r>
              <a:rPr sz="2600">
                <a:solidFill>
                  <a:srgbClr val="262626"/>
                </a:solidFill>
                <a:latin typeface="Calibri"/>
              </a:rPr>
              <a:t>vamos praticar o Airflow AQUI primeiro, em airflow-demo/, antes de tocar no projeto de verdade.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Ambiente do Projeto-Guia PCDF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600">
                <a:solidFill>
                  <a:srgbClr val="004A8F"/>
                </a:solidFill>
                <a:latin typeface="Calibri"/>
              </a:rPr>
              <a:t>O que é:  </a:t>
            </a:r>
            <a:r>
              <a:rPr sz="2600">
                <a:solidFill>
                  <a:srgbClr val="262626"/>
                </a:solidFill>
                <a:latin typeface="Calibri"/>
              </a:rPr>
              <a:t>o repositório real do projeto — já com bos_sinteticos.csv (Manual da Aula 01), terraform/, pulumi/ e, a partir de hoje, airflow/dags/.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600">
                <a:solidFill>
                  <a:srgbClr val="004A8F"/>
                </a:solidFill>
                <a:latin typeface="Calibri"/>
              </a:rPr>
              <a:t>Para que serve:  </a:t>
            </a:r>
            <a:r>
              <a:rPr sz="2600">
                <a:solidFill>
                  <a:srgbClr val="262626"/>
                </a:solidFill>
                <a:latin typeface="Calibri"/>
              </a:rPr>
              <a:t>gerar os entregáveis de verdade — cada Entrega do curso é uma evidência tirada DESTE ambiente, não do ambiente de testes.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600">
                <a:solidFill>
                  <a:srgbClr val="004A8F"/>
                </a:solidFill>
                <a:latin typeface="Calibri"/>
              </a:rPr>
              <a:t>Pode apagar?:  </a:t>
            </a:r>
            <a:r>
              <a:rPr sz="2600">
                <a:solidFill>
                  <a:srgbClr val="262626"/>
                </a:solidFill>
                <a:latin typeface="Calibri"/>
              </a:rPr>
              <a:t>não sem motivo — é o que compõe as Entregas 2, 3, 4... até o final do curso.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600">
                <a:solidFill>
                  <a:srgbClr val="004A8F"/>
                </a:solidFill>
                <a:latin typeface="Calibri"/>
              </a:rPr>
              <a:t>No SEU projeto individual:  </a:t>
            </a:r>
            <a:r>
              <a:rPr sz="2600">
                <a:solidFill>
                  <a:srgbClr val="262626"/>
                </a:solidFill>
                <a:latin typeface="Calibri"/>
              </a:rPr>
              <a:t>a estrutura é a mesma, só que replicada com o tema que você escolheu — o PCDF é o projeto-guia que o professor demonstra em aula.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Os Dois Ambientes — 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8</a:t>
            </a:r>
          </a:p>
        </p:txBody>
      </p:sp>
      <p:pic>
        <p:nvPicPr>
          <p:cNvPr id="5" name="Picture 4" descr="img_dois_ambie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3577" y="4406900"/>
            <a:ext cx="12601695" cy="7823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Comparando os Dois Ambientes, Lado a Lado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89100" y="4406900"/>
          <a:ext cx="19170000" cy="4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0000"/>
                <a:gridCol w="7700000"/>
                <a:gridCol w="7670000"/>
              </a:tblGrid>
              <a:tr h="770000">
                <a:tc>
                  <a:txBody>
                    <a:bodyPr/>
                    <a:lstStyle/>
                    <a:p>
                      <a:r>
                        <a:rPr b="1" sz="200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2000">
                          <a:solidFill>
                            <a:srgbClr val="FFFFFF"/>
                          </a:solidFill>
                          <a:latin typeface="Calibri"/>
                        </a:rPr>
                        <a:t>Local de Demonstração</a:t>
                      </a:r>
                    </a:p>
                  </a:txBody>
                  <a:tcPr anchor="ctr"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2000">
                          <a:solidFill>
                            <a:srgbClr val="FFFFFF"/>
                          </a:solidFill>
                          <a:latin typeface="Calibri"/>
                        </a:rPr>
                        <a:t>Projeto-Guia PCDF</a:t>
                      </a:r>
                    </a:p>
                  </a:txBody>
                  <a:tcPr anchor="ctr">
                    <a:solidFill>
                      <a:srgbClr val="004A8F"/>
                    </a:solidFill>
                  </a:tcPr>
                </a:tc>
              </a:tr>
              <a:tr h="770000"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262626"/>
                          </a:solidFill>
                          <a:latin typeface="Consolas"/>
                        </a:rPr>
                        <a:t>Quem usa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262626"/>
                          </a:solidFill>
                          <a:latin typeface="Calibri"/>
                        </a:rPr>
                        <a:t>Professor, ao vivo, em aula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262626"/>
                          </a:solidFill>
                          <a:latin typeface="Calibri"/>
                        </a:rPr>
                        <a:t>Cada aluno, no seu projeto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0000"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262626"/>
                          </a:solidFill>
                          <a:latin typeface="Consolas"/>
                        </a:rPr>
                        <a:t>Dados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262626"/>
                          </a:solidFill>
                          <a:latin typeface="Calibri"/>
                        </a:rPr>
                        <a:t>Fictícios, descartáveis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262626"/>
                          </a:solidFill>
                          <a:latin typeface="Calibri"/>
                        </a:rPr>
                        <a:t>bos_sinteticos.csv (Manual Aula 01)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770000"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262626"/>
                          </a:solidFill>
                          <a:latin typeface="Consolas"/>
                        </a:rPr>
                        <a:t>Pastas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262626"/>
                          </a:solidFill>
                          <a:latin typeface="Calibri"/>
                        </a:rPr>
                        <a:t>terraform-demo/, pulumi-demo/, airflow-demo/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262626"/>
                          </a:solidFill>
                          <a:latin typeface="Calibri"/>
                        </a:rPr>
                        <a:t>terraform/, pulumi/, airflow/dags/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0000"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262626"/>
                          </a:solidFill>
                          <a:latin typeface="Consolas"/>
                        </a:rPr>
                        <a:t>Pode apagar?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262626"/>
                          </a:solidFill>
                          <a:latin typeface="Calibri"/>
                        </a:rPr>
                        <a:t>Sim, sempre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262626"/>
                          </a:solidFill>
                          <a:latin typeface="Calibri"/>
                        </a:rPr>
                        <a:t>Não sem motivo — vira Entrega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770000"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262626"/>
                          </a:solidFill>
                          <a:latin typeface="Consolas"/>
                        </a:rPr>
                        <a:t>Objetivo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262626"/>
                          </a:solidFill>
                          <a:latin typeface="Calibri"/>
                        </a:rPr>
                        <a:t>Entender o mecanismo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262626"/>
                          </a:solidFill>
                          <a:latin typeface="Calibri"/>
                        </a:rPr>
                        <a:t>Evidência real de aprendizagem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5400000"/>
            <a:ext cx="19170650" cy="2000000"/>
          </a:xfrm>
        </p:spPr>
        <p:txBody>
          <a:bodyPr wrap="square"/>
          <a:lstStyle/>
          <a:p>
            <a:pPr algn="l"/>
            <a:r>
              <a:rPr sz="4800" b="1">
                <a:solidFill>
                  <a:srgbClr val="004A8F"/>
                </a:solidFill>
                <a:latin typeface="Calibri"/>
              </a:rPr>
              <a:t>Ponte Entre Windows e o Terminal Ubuntu (WSL2)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550000"/>
            <a:ext cx="0" cy="2000000"/>
          </a:xfrm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sz="2600">
                <a:solidFill>
                  <a:srgbClr val="595959"/>
                </a:solidFill>
                <a:latin typeface="Calibri"/>
              </a:rPr>
              <a:t>O terminal Ubuntu NÃO é cego para os seus arquivos do Windows — ele só usa um caminho diferente. Vamos resolver isso ANTES de instalar qualquer coisa.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4750000"/>
            <a:ext cx="1917065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5AC00"/>
                </a:solidFill>
                <a:latin typeface="Calibri"/>
              </a:rPr>
              <a:t>ANTES DE COMEÇAR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Onde Ficam os Seus Arquivos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b="1" sz="2700">
                <a:solidFill>
                  <a:srgbClr val="004A8F"/>
                </a:solidFill>
                <a:latin typeface="Calibri"/>
              </a:rPr>
              <a:t>A regra:  </a:t>
            </a:r>
            <a:r>
              <a:rPr sz="2700">
                <a:solidFill>
                  <a:srgbClr val="262626"/>
                </a:solidFill>
                <a:latin typeface="Calibri"/>
              </a:rPr>
              <a:t>todo disco do Windows (C:, D:, G:...) aparece dentro do WSL2 em /mnt/&lt;letra-minúscula&gt;/ — e o WSL2 também tem sua própria pasta pessoal Linux, em ~ (separada do Windows).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b="1" sz="2700">
                <a:solidFill>
                  <a:srgbClr val="004A8F"/>
                </a:solidFill>
                <a:latin typeface="Calibri"/>
              </a:rPr>
              <a:t>Exemplo de tradução:  </a:t>
            </a:r>
            <a:r>
              <a:rPr sz="2700">
                <a:solidFill>
                  <a:srgbClr val="262626"/>
                </a:solidFill>
                <a:latin typeface="Calibri"/>
              </a:rPr>
              <a:t>G:\Meu Drive\TRABALHO\CORRENTES\&lt;pasta&gt; no Windows vira /mnt/g/Meu Drive/TRABALHO/CORRENTES/&lt;pasta&gt; dentro do Ubuntu — letra minúscula, barras normais.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Passo PONTE-1 — Confirmar o Caminho da SUA Pasta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4406900"/>
            <a:ext cx="1917065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Idêntico em WSL2 (Windows) e Linux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9100" y="6056900"/>
            <a:ext cx="19170650" cy="61732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0000" tIns="160000" rIns="150000"/>
          <a:lstStyle/>
          <a:p>
            <a:pPr algn="l"/>
            <a:r>
              <a:rPr sz="1900">
                <a:solidFill>
                  <a:srgbClr val="E8E8E8"/>
                </a:solidFill>
                <a:latin typeface="Consolas"/>
              </a:rPr>
              <a:t># TROQUE pelo caminho REAL da sua pasta do projeto PCDF:</a:t>
            </a:r>
          </a:p>
          <a:p>
            <a:pPr algn="l"/>
            <a:r>
              <a:rPr sz="1900">
                <a:solidFill>
                  <a:srgbClr val="E8E8E8"/>
                </a:solidFill>
                <a:latin typeface="Consolas"/>
              </a:rPr>
              <a:t>MEU_PROJETO_WINDOWS="/mnt/g/Meu Drive/TRABALHO/CORRENTES/&lt;pasta&gt;"</a:t>
            </a:r>
          </a:p>
          <a:p>
            <a:pPr algn="l"/>
            <a:r>
              <a:rPr sz="19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/>
            <a:r>
              <a:rPr sz="1900">
                <a:solidFill>
                  <a:srgbClr val="E8E8E8"/>
                </a:solidFill>
                <a:latin typeface="Consolas"/>
              </a:rPr>
              <a:t>ls "$MEU_PROJETO_WINDOWS"</a:t>
            </a:r>
          </a:p>
          <a:p>
            <a:pPr algn="l"/>
            <a:r>
              <a:rPr sz="1900">
                <a:solidFill>
                  <a:srgbClr val="E8E8E8"/>
                </a:solidFill>
                <a:latin typeface="Consolas"/>
              </a:rPr>
              <a:t># deve listar os arquivos da pasta -- se der erro,</a:t>
            </a:r>
          </a:p>
          <a:p>
            <a:pPr algn="l"/>
            <a:r>
              <a:rPr sz="1900">
                <a:solidFill>
                  <a:srgbClr val="E8E8E8"/>
                </a:solidFill>
                <a:latin typeface="Consolas"/>
              </a:rPr>
              <a:t># confira letra do disco e nome exato (maiúsculas importam)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Passo PONTE-2 — Trazer o Projeto Para Dentro do WSL2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500">
                <a:solidFill>
                  <a:srgbClr val="004A8F"/>
                </a:solidFill>
                <a:latin typeface="Calibri"/>
              </a:rPr>
              <a:t>Opção A (recomendada):  </a:t>
            </a:r>
            <a:r>
              <a:rPr sz="2500">
                <a:solidFill>
                  <a:srgbClr val="262626"/>
                </a:solidFill>
                <a:latin typeface="Calibri"/>
              </a:rPr>
              <a:t>clonar o repositório do GitHub direto dentro do WSL2 — mais rápido, sem risco de erro de cópia.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500">
                <a:solidFill>
                  <a:srgbClr val="004A8F"/>
                </a:solidFill>
                <a:latin typeface="Calibri"/>
              </a:rPr>
              <a:t>Opção B:  </a:t>
            </a:r>
            <a:r>
              <a:rPr sz="2500">
                <a:solidFill>
                  <a:srgbClr val="262626"/>
                </a:solidFill>
                <a:latin typeface="Calibri"/>
              </a:rPr>
              <a:t>copiar a pasta que já está no Windows — use se tiver mudanças locais ainda não enviadas ao GitHub.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500">
                <a:solidFill>
                  <a:srgbClr val="004A8F"/>
                </a:solidFill>
                <a:latin typeface="Calibri"/>
              </a:rPr>
              <a:t>Regra do dia:  </a:t>
            </a:r>
            <a:r>
              <a:rPr sz="2500">
                <a:solidFill>
                  <a:srgbClr val="262626"/>
                </a:solidFill>
                <a:latin typeface="Calibri"/>
              </a:rPr>
              <a:t>a partir de agora, TUDO roda de dentro dessa pasta, dentro do Ubuntu, em ~ — nunca mais atravessando para /mnt/ no meio dos comandos do curso.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>
                <a:solidFill>
                  <a:srgbClr val="0070C0"/>
                </a:solidFill>
                <a:latin typeface="Calibri"/>
              </a:rPr>
              <a:t>Opção A — Clonar do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3980000"/>
            <a:ext cx="1917065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i="1">
                <a:solidFill>
                  <a:srgbClr val="595959"/>
                </a:solidFill>
                <a:latin typeface="Calibri"/>
              </a:rPr>
              <a:t>Recomendado: mais rápido e sem risco de erro de cópia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9100" y="4480000"/>
            <a:ext cx="9455325" cy="34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WSL2 (Ubuntu)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04425" y="4480000"/>
            <a:ext cx="9455325" cy="340000"/>
          </a:xfrm>
          <a:prstGeom prst="roundRect">
            <a:avLst>
              <a:gd name="adj" fmla="val 50000"/>
            </a:avLst>
          </a:prstGeom>
          <a:solidFill>
            <a:srgbClr val="1B6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Linux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89100" y="4870000"/>
            <a:ext cx="9455325" cy="73601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tIns="150000" rIns="14000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cd ~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git clone &lt;URL-do-seu-repositorio-PCDF&gt;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cd &lt;nome-do-repositorio&gt;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04425" y="4870000"/>
            <a:ext cx="9455325" cy="73601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tIns="150000" rIns="14000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cd ~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git clone &lt;URL-do-seu-repositorio-PCDF&gt;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cd &lt;nome-do-repositorio&gt;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>
                <a:solidFill>
                  <a:srgbClr val="0070C0"/>
                </a:solidFill>
                <a:latin typeface="Calibri"/>
              </a:rPr>
              <a:t>Opção B — Copiar do Windows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3980000"/>
            <a:ext cx="1917065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i="1">
                <a:solidFill>
                  <a:srgbClr val="595959"/>
                </a:solidFill>
                <a:latin typeface="Calibri"/>
              </a:rPr>
              <a:t>Use se tiver mudanças locais ainda não commitadas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9100" y="4480000"/>
            <a:ext cx="9455325" cy="34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WSL2 (Ubuntu)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04425" y="4480000"/>
            <a:ext cx="9455325" cy="340000"/>
          </a:xfrm>
          <a:prstGeom prst="roundRect">
            <a:avLst>
              <a:gd name="adj" fmla="val 50000"/>
            </a:avLst>
          </a:prstGeom>
          <a:solidFill>
            <a:srgbClr val="1B6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Linux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89100" y="4870000"/>
            <a:ext cx="9455325" cy="73601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tIns="150000" rIns="14000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cp -r "$MEU_PROJETO_WINDOWS" ~/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cd ~/&lt;nome-da-pasta-copiada&gt;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04425" y="4870000"/>
            <a:ext cx="9455325" cy="73601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tIns="150000" rIns="14000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cp -r "$MEU_PROJETO_WINDOWS" ~/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cd ~/&lt;nome-da-pasta-copiada&gt;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5400000"/>
            <a:ext cx="19170650" cy="2000000"/>
          </a:xfrm>
        </p:spPr>
        <p:txBody>
          <a:bodyPr wrap="square"/>
          <a:lstStyle/>
          <a:p>
            <a:pPr algn="l"/>
            <a:r>
              <a:rPr sz="4800" b="1">
                <a:solidFill>
                  <a:srgbClr val="004A8F"/>
                </a:solidFill>
                <a:latin typeface="Calibri"/>
              </a:rPr>
              <a:t>Docker + Kubernetes Local, Sem Docker Desktop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550000"/>
            <a:ext cx="0" cy="2000000"/>
          </a:xfrm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sz="2600">
                <a:solidFill>
                  <a:srgbClr val="595959"/>
                </a:solidFill>
                <a:latin typeface="Calibri"/>
              </a:rPr>
              <a:t>Na Aula 03 travamos porque o cliente não permite instalar o Docker Desktop, e muitas máquinas são Linux. Hoje isso vira o novo padrão do curso — a partir de agora, é assim que vamos instalar Docker em toda máquina que não tiver Docker Desktop liberado.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4750000"/>
            <a:ext cx="1917065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5AC00"/>
                </a:solidFill>
                <a:latin typeface="Calibri"/>
              </a:rPr>
              <a:t>AJUSTE IMPORTANTE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Diagnóstico: Por Que Isso Acontece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b="1" sz="2700">
                <a:solidFill>
                  <a:srgbClr val="004A8F"/>
                </a:solidFill>
                <a:latin typeface="Calibri"/>
              </a:rPr>
              <a:t>Docker Desktop exige direitos de administrador:  </a:t>
            </a:r>
            <a:r>
              <a:rPr sz="2700">
                <a:solidFill>
                  <a:srgbClr val="262626"/>
                </a:solidFill>
                <a:latin typeface="Calibri"/>
              </a:rPr>
              <a:t>em muitas empresas o setor de TI bloqueia instalação de qualquer aplicativo desktop, mesmo gratuito.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b="1" sz="2700">
                <a:solidFill>
                  <a:srgbClr val="004A8F"/>
                </a:solidFill>
                <a:latin typeface="Calibri"/>
              </a:rPr>
              <a:t>Docker Desktop é um produto Windows/Mac:  </a:t>
            </a:r>
            <a:r>
              <a:rPr sz="2700">
                <a:solidFill>
                  <a:srgbClr val="262626"/>
                </a:solidFill>
                <a:latin typeface="Calibri"/>
              </a:rPr>
              <a:t>em máquinas Linux ele nunca foi necessário — o Linux sempre teve acesso direto ao Docker Engine.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b="1" sz="2700">
                <a:solidFill>
                  <a:srgbClr val="004A8F"/>
                </a:solidFill>
                <a:latin typeface="Calibri"/>
              </a:rPr>
              <a:t>A boa notícia:  </a:t>
            </a:r>
            <a:r>
              <a:rPr sz="2700">
                <a:solidFill>
                  <a:srgbClr val="262626"/>
                </a:solidFill>
                <a:latin typeface="Calibri"/>
              </a:rPr>
              <a:t>o Docker Desktop é só uma CASCA gráfica por cima do Docker Engine — o motor real (dockerd) roda igual, com ou sem ela.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b="1" sz="2700">
                <a:solidFill>
                  <a:srgbClr val="004A8F"/>
                </a:solidFill>
                <a:latin typeface="Calibri"/>
              </a:rPr>
              <a:t>Consequência:  </a:t>
            </a:r>
            <a:r>
              <a:rPr sz="2700">
                <a:solidFill>
                  <a:srgbClr val="262626"/>
                </a:solidFill>
                <a:latin typeface="Calibri"/>
              </a:rPr>
              <a:t>dá para fazer TUDO que o curso pede sem o Docker Desktop, 100% por linha de comando.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E Se Você JÁ TEM o Docker Desktop Permitido?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b="1" sz="2400">
                <a:solidFill>
                  <a:srgbClr val="004A8F"/>
                </a:solidFill>
                <a:latin typeface="Calibri"/>
              </a:rPr>
              <a:t>Este bloco é só para quem NÃO pode instalar:  </a:t>
            </a:r>
            <a:r>
              <a:rPr sz="2400">
                <a:solidFill>
                  <a:srgbClr val="262626"/>
                </a:solidFill>
                <a:latin typeface="Calibri"/>
              </a:rPr>
              <a:t>se o seu Docker Desktop já está instalado e funcionando (o seu caso, professor, testando localmente), NÃO instale um segundo Docker Engine dentro do WSL — os dois motores concorreriam pela mesma porta/socket.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b="1" sz="2400">
                <a:solidFill>
                  <a:srgbClr val="004A8F"/>
                </a:solidFill>
                <a:latin typeface="Calibri"/>
              </a:rPr>
              <a:t>O caminho certo, com Docker Desktop:  </a:t>
            </a:r>
            <a:r>
              <a:rPr sz="2400">
                <a:solidFill>
                  <a:srgbClr val="262626"/>
                </a:solidFill>
                <a:latin typeface="Calibri"/>
              </a:rPr>
              <a:t>Docker Desktop → Settings → Resources → WSL Integration → ative a chave ao lado da sua distro (Ubuntu).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b="1" sz="2400">
                <a:solidFill>
                  <a:srgbClr val="004A8F"/>
                </a:solidFill>
                <a:latin typeface="Calibri"/>
              </a:rPr>
              <a:t>O que isso faz:  </a:t>
            </a:r>
            <a:r>
              <a:rPr sz="2400">
                <a:solidFill>
                  <a:srgbClr val="262626"/>
                </a:solidFill>
                <a:latin typeface="Calibri"/>
              </a:rPr>
              <a:t>o comando docker dentro do terminal WSL passa a falar com o MESMO motor do Docker Desktop — não cria um Docker Engine novo, só abre uma porta de entrada adicional para o motor que já existe.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b="1" sz="2400">
                <a:solidFill>
                  <a:srgbClr val="004A8F"/>
                </a:solidFill>
                <a:latin typeface="Calibri"/>
              </a:rPr>
              <a:t>Como saber qual caminho seguir:  </a:t>
            </a:r>
            <a:r>
              <a:rPr sz="2400">
                <a:solidFill>
                  <a:srgbClr val="262626"/>
                </a:solidFill>
                <a:latin typeface="Calibri"/>
              </a:rPr>
              <a:t>rode docker context ls — se aparecer "desktop-linux" como atual, você já está usando o Docker Desktop via integração, e pode pular os Passos 1 a 3 a seguir.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Convenção de Comandos a Partir de Hoje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600">
                <a:solidFill>
                  <a:srgbClr val="004A8F"/>
                </a:solidFill>
                <a:latin typeface="Calibri"/>
              </a:rPr>
              <a:t>Windows + WSL2:  </a:t>
            </a:r>
            <a:r>
              <a:rPr sz="2600">
                <a:solidFill>
                  <a:srgbClr val="262626"/>
                </a:solidFill>
                <a:latin typeface="Calibri"/>
              </a:rPr>
              <a:t>sempre que aparecer este selo, o comando roda dentro do terminal Ubuntu (WSL2) — nunca no PowerShell puro.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600">
                <a:solidFill>
                  <a:srgbClr val="004A8F"/>
                </a:solidFill>
                <a:latin typeface="Calibri"/>
              </a:rPr>
              <a:t>Linux:  </a:t>
            </a:r>
            <a:r>
              <a:rPr sz="2600">
                <a:solidFill>
                  <a:srgbClr val="262626"/>
                </a:solidFill>
                <a:latin typeface="Calibri"/>
              </a:rPr>
              <a:t>sempre que aparecer este selo, o comando roda direto no terminal da sua distro Linux.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600">
                <a:solidFill>
                  <a:srgbClr val="004A8F"/>
                </a:solidFill>
                <a:latin typeface="Calibri"/>
              </a:rPr>
              <a:t>Boa notícia nº 1:  </a:t>
            </a:r>
            <a:r>
              <a:rPr sz="2600">
                <a:solidFill>
                  <a:srgbClr val="262626"/>
                </a:solidFill>
                <a:latin typeface="Calibri"/>
              </a:rPr>
              <a:t>como os dois terminais são Linux por baixo, a MAIORIA dos comandos daqui pra frente é idêntica nos dois lados.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600">
                <a:solidFill>
                  <a:srgbClr val="004A8F"/>
                </a:solidFill>
                <a:latin typeface="Calibri"/>
              </a:rPr>
              <a:t>Boa notícia nº 2:  </a:t>
            </a:r>
            <a:r>
              <a:rPr sz="2600">
                <a:solidFill>
                  <a:srgbClr val="262626"/>
                </a:solidFill>
                <a:latin typeface="Calibri"/>
              </a:rPr>
              <a:t>só existem 2 diferenças reais no curso todo: (1) como habilitar o WSL2 no Windows, e (2) como iniciar o serviço do Docker (service x systemctl).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Docker + Kubernetes Local — 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20</a:t>
            </a:r>
          </a:p>
        </p:txBody>
      </p:sp>
      <p:pic>
        <p:nvPicPr>
          <p:cNvPr id="5" name="Picture 4" descr="img_docker_sem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761" y="4406900"/>
            <a:ext cx="13981327" cy="7823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Passo 1 (só Windows) — Habilitar o WSL2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4406900"/>
            <a:ext cx="1917065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Rode no PowerShell COMO ADMINISTRADOR — é a única etapa administrativa de todo o processo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Máquinas Linux pulam este passo — já têm um terminal Linux nativo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9100" y="6056900"/>
            <a:ext cx="19170650" cy="61732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0000" tIns="160000" rIns="150000"/>
          <a:lstStyle/>
          <a:p>
            <a:pPr algn="l"/>
            <a:r>
              <a:rPr sz="2400">
                <a:solidFill>
                  <a:srgbClr val="E8E8E8"/>
                </a:solidFill>
                <a:latin typeface="Consolas"/>
              </a:rPr>
              <a:t>wsl --install</a:t>
            </a:r>
          </a:p>
          <a:p>
            <a:pPr algn="l"/>
            <a:r>
              <a:rPr sz="24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/>
            <a:r>
              <a:rPr sz="2400">
                <a:solidFill>
                  <a:srgbClr val="E8E8E8"/>
                </a:solidFill>
                <a:latin typeface="Consolas"/>
              </a:rPr>
              <a:t># reinicie o computador se for pedido</a:t>
            </a:r>
          </a:p>
          <a:p>
            <a:pPr algn="l"/>
            <a:r>
              <a:rPr sz="2400">
                <a:solidFill>
                  <a:srgbClr val="E8E8E8"/>
                </a:solidFill>
                <a:latin typeface="Consolas"/>
              </a:rPr>
              <a:t># abra "Ubuntu" no menu Iniciar e crie um usuário/senha Linux</a:t>
            </a:r>
          </a:p>
          <a:p>
            <a:pPr algn="l"/>
            <a:r>
              <a:rPr sz="2400">
                <a:solidFill>
                  <a:srgbClr val="E8E8E8"/>
                </a:solidFill>
                <a:latin typeface="Consolas"/>
              </a:rPr>
              <a:t># (essa senha vale só dentro da WSL — não é a senha do Windows)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>
                <a:solidFill>
                  <a:srgbClr val="0070C0"/>
                </a:solidFill>
                <a:latin typeface="Calibri"/>
              </a:rPr>
              <a:t>Passo 2 — Instalar o Docker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3980000"/>
            <a:ext cx="1917065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i="1">
                <a:solidFill>
                  <a:srgbClr val="595959"/>
                </a:solidFill>
                <a:latin typeface="Calibri"/>
              </a:rPr>
              <a:t>mesmo comando dos dois lados — a partir daqui, WSL2 e Linux se comportam igual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9100" y="4480000"/>
            <a:ext cx="9455325" cy="34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WSL2 (Ubuntu)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04425" y="4480000"/>
            <a:ext cx="9455325" cy="340000"/>
          </a:xfrm>
          <a:prstGeom prst="roundRect">
            <a:avLst>
              <a:gd name="adj" fmla="val 50000"/>
            </a:avLst>
          </a:prstGeom>
          <a:solidFill>
            <a:srgbClr val="1B6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Linux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89100" y="4870000"/>
            <a:ext cx="9455325" cy="73601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tIns="150000" rIns="14000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curl -fsSL https://get.docker.com \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  -o get-docker.sh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sudo sh get-docker.sh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sudo usermod -aG docker $USER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04425" y="4870000"/>
            <a:ext cx="9455325" cy="73601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tIns="150000" rIns="14000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curl -fsSL https://get.docker.com \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  -o get-docker.sh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sudo sh get-docker.sh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sudo usermod -aG docker $USER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Antes de Continuar: Aplique a Permissão do Grupo Docker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b="1" sz="2600">
                <a:solidFill>
                  <a:srgbClr val="004A8F"/>
                </a:solidFill>
                <a:latin typeface="Calibri"/>
              </a:rPr>
              <a:t>WSL2 (Ubuntu):  </a:t>
            </a:r>
            <a:r>
              <a:rPr sz="2600">
                <a:solidFill>
                  <a:srgbClr val="262626"/>
                </a:solidFill>
                <a:latin typeface="Calibri"/>
              </a:rPr>
              <a:t>feche esta janela do terminal e abra "Ubuntu" de novo pelo menu Iniciar.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b="1" sz="2600">
                <a:solidFill>
                  <a:srgbClr val="004A8F"/>
                </a:solidFill>
                <a:latin typeface="Calibri"/>
              </a:rPr>
              <a:t>Linux:  </a:t>
            </a:r>
            <a:r>
              <a:rPr sz="2600">
                <a:solidFill>
                  <a:srgbClr val="262626"/>
                </a:solidFill>
                <a:latin typeface="Calibri"/>
              </a:rPr>
              <a:t>feche o terminal e abra outro, ou faça logout/login.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b="1" sz="2600">
                <a:solidFill>
                  <a:srgbClr val="004A8F"/>
                </a:solidFill>
                <a:latin typeface="Calibri"/>
              </a:rPr>
              <a:t>Por que fechar e reabrir:  </a:t>
            </a:r>
            <a:r>
              <a:rPr sz="2600">
                <a:solidFill>
                  <a:srgbClr val="262626"/>
                </a:solidFill>
                <a:latin typeface="Calibri"/>
              </a:rPr>
              <a:t>o comando usermod -aG docker $USER só vale para sessões NOVAS, não para a sessão já aberta. Fechar e reabrir o terminal funciona em qualquer distro — não dependemos de um comando específico para isso.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>
                <a:solidFill>
                  <a:srgbClr val="0070C0"/>
                </a:solidFill>
                <a:latin typeface="Calibri"/>
              </a:rPr>
              <a:t>Passo 3 — Iniciar o Serviço do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3980000"/>
            <a:ext cx="1917065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i="1">
                <a:solidFill>
                  <a:srgbClr val="595959"/>
                </a:solidFill>
                <a:latin typeface="Calibri"/>
              </a:rPr>
              <a:t>aqui está a única diferença real entre os dois sistemas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9100" y="4480000"/>
            <a:ext cx="9455325" cy="34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WSL2 (Ubuntu)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04425" y="4480000"/>
            <a:ext cx="9455325" cy="340000"/>
          </a:xfrm>
          <a:prstGeom prst="roundRect">
            <a:avLst>
              <a:gd name="adj" fmla="val 50000"/>
            </a:avLst>
          </a:prstGeom>
          <a:solidFill>
            <a:srgbClr val="1B6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Linux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89100" y="4870000"/>
            <a:ext cx="9455325" cy="73601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tIns="150000" rIns="14000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# a WSL2 não usa systemd por padrão,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# por isso o comando é "service":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sudo service docker start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# repita este comando toda vez que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# abrir um novo terminal WSL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04425" y="4870000"/>
            <a:ext cx="9455325" cy="73601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tIns="150000" rIns="14000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# Linux nativo já usa systemd,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# então habilitamos e deixamos ligado: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sudo systemctl enable --now docker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# fica rodando sozinho, mesmo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# depois de reiniciar a máquina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Verificar a Instalação — Idêntico nos Dois Casos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4406900"/>
            <a:ext cx="1917065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Rode dentro do terminal WSL2 (Windows) OU do terminal Linux, tanto faz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9100" y="6056900"/>
            <a:ext cx="19170650" cy="61732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0000" tIns="160000" rIns="150000"/>
          <a:lstStyle/>
          <a:p>
            <a:pPr algn="l"/>
            <a:r>
              <a:rPr sz="2200">
                <a:solidFill>
                  <a:srgbClr val="E8E8E8"/>
                </a:solidFill>
                <a:latin typeface="Consolas"/>
              </a:rPr>
              <a:t>docker --version</a:t>
            </a:r>
          </a:p>
          <a:p>
            <a:pPr algn="l"/>
            <a:r>
              <a:rPr sz="2200">
                <a:solidFill>
                  <a:srgbClr val="E8E8E8"/>
                </a:solidFill>
                <a:latin typeface="Consolas"/>
              </a:rPr>
              <a:t># resultado esperado: Docker version 2X.X.X, build ...</a:t>
            </a:r>
          </a:p>
          <a:p>
            <a:pPr algn="l"/>
            <a:r>
              <a:rPr sz="22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/>
            <a:r>
              <a:rPr sz="2200">
                <a:solidFill>
                  <a:srgbClr val="E8E8E8"/>
                </a:solidFill>
                <a:latin typeface="Consolas"/>
              </a:rPr>
              <a:t>docker run hello-world</a:t>
            </a:r>
          </a:p>
          <a:p>
            <a:pPr algn="l"/>
            <a:r>
              <a:rPr sz="2200">
                <a:solidFill>
                  <a:srgbClr val="E8E8E8"/>
                </a:solidFill>
                <a:latin typeface="Consolas"/>
              </a:rPr>
              <a:t># resultado esperado: "Hello from Docker!"</a:t>
            </a:r>
          </a:p>
          <a:p>
            <a:pPr algn="l"/>
            <a:r>
              <a:rPr sz="22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/>
            <a:r>
              <a:rPr sz="2200">
                <a:solidFill>
                  <a:srgbClr val="E8E8E8"/>
                </a:solidFill>
                <a:latin typeface="Consolas"/>
              </a:rPr>
              <a:t>docker ps</a:t>
            </a:r>
          </a:p>
          <a:p>
            <a:pPr algn="l"/>
            <a:r>
              <a:rPr sz="2200">
                <a:solidFill>
                  <a:srgbClr val="E8E8E8"/>
                </a:solidFill>
                <a:latin typeface="Consolas"/>
              </a:rPr>
              <a:t># vazio aqui é NORMAL — só lista containers RODANDO agora,</a:t>
            </a:r>
          </a:p>
          <a:p>
            <a:pPr algn="l"/>
            <a:r>
              <a:rPr sz="2200">
                <a:solidFill>
                  <a:srgbClr val="E8E8E8"/>
                </a:solidFill>
                <a:latin typeface="Consolas"/>
              </a:rPr>
              <a:t># e o hello-world já terminou (exit) sozinho.</a:t>
            </a:r>
          </a:p>
          <a:p>
            <a:pPr algn="l"/>
            <a:r>
              <a:rPr sz="2200">
                <a:solidFill>
                  <a:srgbClr val="E8E8E8"/>
                </a:solidFill>
                <a:latin typeface="Consolas"/>
              </a:rPr>
              <a:t># para ver o hello-world já finalizado: docker ps -a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Habilitar o Kubernetes Local, Sem o Toggle do Docker Desktop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600">
                <a:solidFill>
                  <a:srgbClr val="004A8F"/>
                </a:solidFill>
                <a:latin typeface="Calibri"/>
              </a:rPr>
              <a:t>O que o toggle fazia:  </a:t>
            </a:r>
            <a:r>
              <a:rPr sz="2600">
                <a:solidFill>
                  <a:srgbClr val="262626"/>
                </a:solidFill>
                <a:latin typeface="Calibri"/>
              </a:rPr>
              <a:t>o Docker Desktop → Settings → Kubernetes → "Enable Kubernetes" nunca criou um Kubernetes de verdade — ele sempre rodou o kind (Kubernetes-in-Docker) por baixo dos panos.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600">
                <a:solidFill>
                  <a:srgbClr val="004A8F"/>
                </a:solidFill>
                <a:latin typeface="Calibri"/>
              </a:rPr>
              <a:t>A adaptação de hoje:  </a:t>
            </a:r>
            <a:r>
              <a:rPr sz="2600">
                <a:solidFill>
                  <a:srgbClr val="262626"/>
                </a:solidFill>
                <a:latin typeface="Calibri"/>
              </a:rPr>
              <a:t>chamar o kind diretamente, pela linha de comando — o resultado final é O MESMO cluster, só que sem precisar do botão.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600">
                <a:solidFill>
                  <a:srgbClr val="004A8F"/>
                </a:solidFill>
                <a:latin typeface="Calibri"/>
              </a:rPr>
              <a:t>Onde roda:  </a:t>
            </a:r>
            <a:r>
              <a:rPr sz="2600">
                <a:solidFill>
                  <a:srgbClr val="262626"/>
                </a:solidFill>
                <a:latin typeface="Calibri"/>
              </a:rPr>
              <a:t>dentro do WSL2 (Windows) ou do Linux — sempre em cima do Docker Engine que acabamos de instalar.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600">
                <a:solidFill>
                  <a:srgbClr val="004A8F"/>
                </a:solidFill>
                <a:latin typeface="Calibri"/>
              </a:rPr>
              <a:t>Vamos usar:  </a:t>
            </a:r>
            <a:r>
              <a:rPr sz="2600">
                <a:solidFill>
                  <a:srgbClr val="262626"/>
                </a:solidFill>
                <a:latin typeface="Calibri"/>
              </a:rPr>
              <a:t>nas Aulas 04 e 05, antes de migrarmos para o AKS (Azure Kubernetes Service) na Aula 07.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Instalar o kind e o kubectl — Idêntico nos Dois Casos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4406900"/>
            <a:ext cx="1917065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Pré-requisito: Docker Engine já instalado e rodando (passos anteriores)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kind cria o cluster; kubectl é a ferramenta que CONVERSA com ele — são 2 binários, os 2 precisam ser instalados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9100" y="6056900"/>
            <a:ext cx="19170650" cy="61732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0000" tIns="160000" rIns="150000"/>
          <a:lstStyle/>
          <a:p>
            <a:pPr algn="l"/>
            <a:r>
              <a:rPr sz="1800">
                <a:solidFill>
                  <a:srgbClr val="E8E8E8"/>
                </a:solidFill>
                <a:latin typeface="Consolas"/>
              </a:rPr>
              <a:t>curl -Lo ./kind https://kind.sigs.k8s.io/dl/latest/kind-linux-amd64</a:t>
            </a:r>
          </a:p>
          <a:p>
            <a:pPr algn="l"/>
            <a:r>
              <a:rPr sz="1800">
                <a:solidFill>
                  <a:srgbClr val="E8E8E8"/>
                </a:solidFill>
                <a:latin typeface="Consolas"/>
              </a:rPr>
              <a:t>chmod +x ./kind &amp;&amp; sudo mv ./kind /usr/local/bin/kind</a:t>
            </a:r>
          </a:p>
          <a:p>
            <a:pPr algn="l"/>
            <a:r>
              <a:rPr sz="18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8E8E8"/>
                </a:solidFill>
                <a:latin typeface="Consolas"/>
              </a:rPr>
              <a:t>curl -LO "https://dl.k8s.io/release/$(curl -L -s https://dl.k8s.io/release/stable.txt)/bin/linux/amd64/kubectl"</a:t>
            </a:r>
          </a:p>
          <a:p>
            <a:pPr algn="l"/>
            <a:r>
              <a:rPr sz="1800">
                <a:solidFill>
                  <a:srgbClr val="E8E8E8"/>
                </a:solidFill>
                <a:latin typeface="Consolas"/>
              </a:rPr>
              <a:t>chmod +x kubectl &amp;&amp; sudo mv kubectl /usr/local/bin/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Criar o Cluster e Verificar — Idêntico nos Dois Casos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4406900"/>
            <a:ext cx="1917065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Rode depois do passo anterior (kind e kubectl já instalados)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9100" y="6056900"/>
            <a:ext cx="19170650" cy="61732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0000" tIns="160000" rIns="150000"/>
          <a:lstStyle/>
          <a:p>
            <a:pPr algn="l"/>
            <a:r>
              <a:rPr sz="1900">
                <a:solidFill>
                  <a:srgbClr val="E8E8E8"/>
                </a:solidFill>
                <a:latin typeface="Consolas"/>
              </a:rPr>
              <a:t>kind create cluster --name mlops-local</a:t>
            </a:r>
          </a:p>
          <a:p>
            <a:pPr algn="l"/>
            <a:r>
              <a:rPr sz="19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/>
            <a:r>
              <a:rPr sz="1900">
                <a:solidFill>
                  <a:srgbClr val="E8E8E8"/>
                </a:solidFill>
                <a:latin typeface="Consolas"/>
              </a:rPr>
              <a:t>kubectl config current-context</a:t>
            </a:r>
          </a:p>
          <a:p>
            <a:pPr algn="l"/>
            <a:r>
              <a:rPr sz="1900">
                <a:solidFill>
                  <a:srgbClr val="E8E8E8"/>
                </a:solidFill>
                <a:latin typeface="Consolas"/>
              </a:rPr>
              <a:t># resultado esperado: kind-mlops-local</a:t>
            </a:r>
          </a:p>
          <a:p>
            <a:pPr algn="l"/>
            <a:r>
              <a:rPr sz="19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/>
            <a:r>
              <a:rPr sz="1900">
                <a:solidFill>
                  <a:srgbClr val="E8E8E8"/>
                </a:solidFill>
                <a:latin typeface="Consolas"/>
              </a:rPr>
              <a:t>kubectl get nodes</a:t>
            </a:r>
          </a:p>
          <a:p>
            <a:pPr algn="l"/>
            <a:r>
              <a:rPr sz="1900">
                <a:solidFill>
                  <a:srgbClr val="E8E8E8"/>
                </a:solidFill>
                <a:latin typeface="Consolas"/>
              </a:rPr>
              <a:t># resultado esperado: 1 node, status "Ready"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 b="1">
                <a:solidFill>
                  <a:srgbClr val="0070C0"/>
                </a:solidFill>
                <a:latin typeface="Calibri"/>
              </a:rPr>
              <a:t>Checkpoint: Pratique Agora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4406900"/>
            <a:ext cx="1917065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Instale o Docker Engine (WSL2 ou Linux, conforme a sua máquina) e valide com docker ps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Crie o cluster local com kind create cluster e confirme kubectl get nodes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89100" y="5856900"/>
            <a:ext cx="19170650" cy="6373200"/>
          </a:xfrm>
          <a:prstGeom prst="rect">
            <a:avLst/>
          </a:prstGeom>
          <a:solidFill>
            <a:srgbClr val="FAFAFA"/>
          </a:solidFill>
          <a:ln w="19050">
            <a:solidFill>
              <a:srgbClr val="B5B5B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i="1">
                <a:solidFill>
                  <a:srgbClr val="A6A6A6"/>
                </a:solidFill>
                <a:latin typeface="Calibri"/>
              </a:rPr>
              <a:t>📷  cole aqui a captura de tela do docker ps e do kubectl get nodes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5400000"/>
            <a:ext cx="19170650" cy="2000000"/>
          </a:xfrm>
        </p:spPr>
        <p:txBody>
          <a:bodyPr wrap="square"/>
          <a:lstStyle/>
          <a:p>
            <a:pPr algn="l"/>
            <a:r>
              <a:rPr sz="4800" b="1">
                <a:solidFill>
                  <a:srgbClr val="004A8F"/>
                </a:solidFill>
                <a:latin typeface="Calibri"/>
              </a:rPr>
              <a:t>Como as Peças se Encaixam: Docker, Kubernetes, Kind e Airflow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550000"/>
            <a:ext cx="0" cy="2000000"/>
          </a:xfrm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sz="2600">
                <a:solidFill>
                  <a:srgbClr val="595959"/>
                </a:solidFill>
                <a:latin typeface="Calibri"/>
              </a:rPr>
              <a:t>Instalar é uma coisa — entender o papel de cada peça é outra. Vamos destrinchar os 4 conceitos antes de seguir, porque eles vão reaparecer até a Aula 07.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4750000"/>
            <a:ext cx="1917065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5AC00"/>
                </a:solidFill>
                <a:latin typeface="Calibri"/>
              </a:rPr>
              <a:t>APROFUNDANDO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Docker Engine: a Base de Tudo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b="1" sz="2200">
                <a:solidFill>
                  <a:srgbClr val="004A8F"/>
                </a:solidFill>
                <a:latin typeface="Calibri"/>
              </a:rPr>
              <a:t>Container ≠ máquina virtual:  </a:t>
            </a:r>
            <a:r>
              <a:rPr sz="2200">
                <a:solidFill>
                  <a:srgbClr val="262626"/>
                </a:solidFill>
                <a:latin typeface="Calibri"/>
              </a:rPr>
              <a:t>uma VM virtualiza o hardware inteiro (tem seu próprio kernel); um container só isola PROCESSOS dentro do MESMO kernel do host, usando dois recursos do Linux: namespaces (isolam o que o processo enxerga — rede, PID, filesystem) e cgroups (limitam quanto de CPU/memória ele pode usar).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b="1" sz="2200">
                <a:solidFill>
                  <a:srgbClr val="004A8F"/>
                </a:solidFill>
                <a:latin typeface="Calibri"/>
              </a:rPr>
              <a:t>Por isso o WSL2 importa:  </a:t>
            </a:r>
            <a:r>
              <a:rPr sz="2200">
                <a:solidFill>
                  <a:srgbClr val="262626"/>
                </a:solidFill>
                <a:latin typeface="Calibri"/>
              </a:rPr>
              <a:t>o WSL2 já roda um kernel Linux real dentro do Windows — é por isso que o Docker Engine funciona nativamente lá, sem precisar de uma VM adicional por baixo (diferente do Docker Desktop no Windows "puro", que precisa da sua própria VM leve).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b="1" sz="2200">
                <a:solidFill>
                  <a:srgbClr val="004A8F"/>
                </a:solidFill>
                <a:latin typeface="Calibri"/>
              </a:rPr>
              <a:t>Imagem × container:  </a:t>
            </a:r>
            <a:r>
              <a:rPr sz="2200">
                <a:solidFill>
                  <a:srgbClr val="262626"/>
                </a:solidFill>
                <a:latin typeface="Calibri"/>
              </a:rPr>
              <a:t>imagem é um TEMPLATE imutável (camadas de arquivos, somente leitura); container é uma INSTÂNCIA em execução dessa imagem, com uma camada gravável por cima. O mesmo comando docker run pode criar N containers a partir de 1 imagem só.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b="1" sz="2200">
                <a:solidFill>
                  <a:srgbClr val="004A8F"/>
                </a:solidFill>
                <a:latin typeface="Calibri"/>
              </a:rPr>
              <a:t>O dockerd (daemon):  </a:t>
            </a:r>
            <a:r>
              <a:rPr sz="2200">
                <a:solidFill>
                  <a:srgbClr val="262626"/>
                </a:solidFill>
                <a:latin typeface="Calibri"/>
              </a:rPr>
              <a:t>é o processo que fica rodando em segundo plano, recebendo comandos do cliente docker e efetivamente criando/destruindo os containers — é ELE que Docker Desktop e nosso Docker Engine "puro" têm em comum.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Kubernetes: Orquestração de Containers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b="1" sz="2100">
                <a:solidFill>
                  <a:srgbClr val="004A8F"/>
                </a:solidFill>
                <a:latin typeface="Calibri"/>
              </a:rPr>
              <a:t>O problema que ele resolve:  </a:t>
            </a:r>
            <a:r>
              <a:rPr sz="2100">
                <a:solidFill>
                  <a:srgbClr val="262626"/>
                </a:solidFill>
                <a:latin typeface="Calibri"/>
              </a:rPr>
              <a:t>rodar 1 container é trivial (docker run). Rodar 200 containers, em várias máquinas, com reinício automático se um cair, balanceamento de carga e atualização sem downtime — isso é o que o Kubernetes automatiza.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b="1" sz="2100">
                <a:solidFill>
                  <a:srgbClr val="004A8F"/>
                </a:solidFill>
                <a:latin typeface="Calibri"/>
              </a:rPr>
              <a:t>Node:  </a:t>
            </a:r>
            <a:r>
              <a:rPr sz="2100">
                <a:solidFill>
                  <a:srgbClr val="262626"/>
                </a:solidFill>
                <a:latin typeface="Calibri"/>
              </a:rPr>
              <a:t>uma "máquina" do cluster (física, virtual, ou — no caso do kind — um CONTAINER fingindo ser uma máquina) que efetivamente roda containers.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b="1" sz="2100">
                <a:solidFill>
                  <a:srgbClr val="004A8F"/>
                </a:solidFill>
                <a:latin typeface="Calibri"/>
              </a:rPr>
              <a:t>Pod:  </a:t>
            </a:r>
            <a:r>
              <a:rPr sz="2100">
                <a:solidFill>
                  <a:srgbClr val="262626"/>
                </a:solidFill>
                <a:latin typeface="Calibri"/>
              </a:rPr>
              <a:t>a menor unidade que o Kubernetes gerencia — não é "um container", é um ou mais containers que sempre rodam juntos, compartilhando rede e armazenamento.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b="1" sz="2100">
                <a:solidFill>
                  <a:srgbClr val="004A8F"/>
                </a:solidFill>
                <a:latin typeface="Calibri"/>
              </a:rPr>
              <a:t>Deployment:  </a:t>
            </a:r>
            <a:r>
              <a:rPr sz="2100">
                <a:solidFill>
                  <a:srgbClr val="262626"/>
                </a:solidFill>
                <a:latin typeface="Calibri"/>
              </a:rPr>
              <a:t>uma declaração do tipo "quero sempre N réplicas deste Pod rodando" — se um Pod morre, o Deployment cria outro automaticamente, sem você mandar.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b="1" sz="2100">
                <a:solidFill>
                  <a:srgbClr val="004A8F"/>
                </a:solidFill>
                <a:latin typeface="Calibri"/>
              </a:rPr>
              <a:t>Control Plane × Worker Nodes:  </a:t>
            </a:r>
            <a:r>
              <a:rPr sz="2100">
                <a:solidFill>
                  <a:srgbClr val="262626"/>
                </a:solidFill>
                <a:latin typeface="Calibri"/>
              </a:rPr>
              <a:t>o Control Plane é o "cérebro" (decide ONDE e COMO rodar cada Pod); os Worker Nodes são onde os Pods de fato executam. Em um cluster kind, até o Control Plane roda dentro de um container.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Kind: Kubernetes Local, de Verdade (Não é uma Simulação)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700"/>
              </a:spcAft>
            </a:pPr>
            <a:r>
              <a:rPr b="1" sz="2300">
                <a:solidFill>
                  <a:srgbClr val="004A8F"/>
                </a:solidFill>
                <a:latin typeface="Calibri"/>
              </a:rPr>
              <a:t>Kind = Kubernetes-IN-Docker:  </a:t>
            </a:r>
            <a:r>
              <a:rPr sz="2300">
                <a:solidFill>
                  <a:srgbClr val="262626"/>
                </a:solidFill>
                <a:latin typeface="Calibri"/>
              </a:rPr>
              <a:t>usa o próprio Docker Engine para rodar cada "node" do cluster como um container — um truque elegante: containers Docker fingindo ser máquinas de um cluster Kubernetes real, rodando o kubelet, o kube-apiserver etc. de verdade dentro deles.</a:t>
            </a:r>
          </a:p>
          <a:p>
            <a:pPr algn="l">
              <a:spcBef>
                <a:spcPts val="0"/>
              </a:spcBef>
              <a:spcAft>
                <a:spcPts val="1700"/>
              </a:spcAft>
            </a:pPr>
            <a:r>
              <a:rPr b="1" sz="2300">
                <a:solidFill>
                  <a:srgbClr val="004A8F"/>
                </a:solidFill>
                <a:latin typeface="Calibri"/>
              </a:rPr>
              <a:t>Por que não Minikube:  </a:t>
            </a:r>
            <a:r>
              <a:rPr sz="2300">
                <a:solidFill>
                  <a:srgbClr val="262626"/>
                </a:solidFill>
                <a:latin typeface="Calibri"/>
              </a:rPr>
              <a:t>Minikube tradicionalmente sobe uma VM completa (mais pesado); Kind é mais leve, sobe em segundos, e permite múltiplos clusters isolados na mesma máquina — por isso é o padrão para CI/CD e para o Docker Desktop usar por trás do toggle "Enable Kubernetes".</a:t>
            </a:r>
          </a:p>
          <a:p>
            <a:pPr algn="l">
              <a:spcBef>
                <a:spcPts val="0"/>
              </a:spcBef>
              <a:spcAft>
                <a:spcPts val="1700"/>
              </a:spcAft>
            </a:pPr>
            <a:r>
              <a:rPr b="1" sz="2300">
                <a:solidFill>
                  <a:srgbClr val="004A8F"/>
                </a:solidFill>
                <a:latin typeface="Calibri"/>
              </a:rPr>
              <a:t>Kind × AKS — nunca confundir:  </a:t>
            </a:r>
            <a:r>
              <a:rPr sz="2300">
                <a:solidFill>
                  <a:srgbClr val="262626"/>
                </a:solidFill>
                <a:latin typeface="Calibri"/>
              </a:rPr>
              <a:t>Kind é EXCLUSIVAMENTE para desenvolvimento/teste local — nunca produção (os "nodes" somem se você apagar o container). AKS (Azure Kubernetes Service) é Kubernetes GERENCIADO pela Azure, com nodes reais (VMs) — é para onde migramos na Aula 07.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Visão Consolidada: as Camadas da Infraestrutura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34</a:t>
            </a:r>
          </a:p>
        </p:txBody>
      </p:sp>
      <p:pic>
        <p:nvPicPr>
          <p:cNvPr id="5" name="Picture 4" descr="img_camadas_inf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761" y="4406900"/>
            <a:ext cx="13981327" cy="78232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Apache Airflow: Uma Camada Diferente, Não Concorrente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b="1" sz="2200">
                <a:solidFill>
                  <a:srgbClr val="004A8F"/>
                </a:solidFill>
                <a:latin typeface="Calibri"/>
              </a:rPr>
              <a:t>Airflow NÃO orquestra containers:  </a:t>
            </a:r>
            <a:r>
              <a:rPr sz="2200">
                <a:solidFill>
                  <a:srgbClr val="262626"/>
                </a:solidFill>
                <a:latin typeface="Calibri"/>
              </a:rPr>
              <a:t>ele orquestra WORKFLOWS — sequências de tarefas de negócio/dados, como o nosso DAG de ETL. A unidade de trabalho dele é a task, não o container ou o Pod.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b="1" sz="2200">
                <a:solidFill>
                  <a:srgbClr val="004A8F"/>
                </a:solidFill>
                <a:latin typeface="Calibri"/>
              </a:rPr>
              <a:t>Como o Airflow roda HOJE (Aula 04):  </a:t>
            </a:r>
            <a:r>
              <a:rPr sz="2200">
                <a:solidFill>
                  <a:srgbClr val="262626"/>
                </a:solidFill>
                <a:latin typeface="Calibri"/>
              </a:rPr>
              <a:t>via CeleryExecutor, sobre containers do Docker Compose — sem nenhum Kubernetes envolvido. O kind que instalamos nesta aula NÃO está sendo usado pelo Airflow ainda.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b="1" sz="2200">
                <a:solidFill>
                  <a:srgbClr val="004A8F"/>
                </a:solidFill>
                <a:latin typeface="Calibri"/>
              </a:rPr>
              <a:t>Para que serve o kind, então, se não é para o Airflow hoje?:  </a:t>
            </a:r>
            <a:r>
              <a:rPr sz="2200">
                <a:solidFill>
                  <a:srgbClr val="262626"/>
                </a:solidFill>
                <a:latin typeface="Calibri"/>
              </a:rPr>
              <a:t>está preparando o terreno para o Kubeflow (Aula 05), que SIM precisa de um cluster Kubernetes para rodar seus pipelines.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b="1" sz="2200">
                <a:solidFill>
                  <a:srgbClr val="004A8F"/>
                </a:solidFill>
                <a:latin typeface="Calibri"/>
              </a:rPr>
              <a:t>O caminho alternativo (não usado nesta aula):  </a:t>
            </a:r>
            <a:r>
              <a:rPr sz="2200">
                <a:solidFill>
                  <a:srgbClr val="262626"/>
                </a:solidFill>
                <a:latin typeface="Calibri"/>
              </a:rPr>
              <a:t>o Airflow também pode rodar com KubernetesExecutor — nesse modo, CADA task do DAG vira um Pod novo, criado e destruído sob demanda pelo próprio Kubernetes. Mais escalável, mais complexo — fica para depois da migração ao AKS.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Resumo: Quem Orquestra o Quê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36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89100" y="4406900"/>
          <a:ext cx="19140000" cy="3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0000"/>
                <a:gridCol w="5700000"/>
                <a:gridCol w="5700000"/>
                <a:gridCol w="3540000"/>
              </a:tblGrid>
              <a:tr h="792000"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FFFFFF"/>
                          </a:solidFill>
                          <a:latin typeface="Calibri"/>
                        </a:rPr>
                        <a:t>Ferramenta</a:t>
                      </a:r>
                    </a:p>
                  </a:txBody>
                  <a:tcPr anchor="ctr"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FFFFFF"/>
                          </a:solidFill>
                          <a:latin typeface="Calibri"/>
                        </a:rPr>
                        <a:t>O que orquestra</a:t>
                      </a:r>
                    </a:p>
                  </a:txBody>
                  <a:tcPr anchor="ctr"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FFFFFF"/>
                          </a:solidFill>
                          <a:latin typeface="Calibri"/>
                        </a:rPr>
                        <a:t>Unidade de trabalho</a:t>
                      </a:r>
                    </a:p>
                  </a:txBody>
                  <a:tcPr anchor="ctr"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FFFFFF"/>
                          </a:solidFill>
                          <a:latin typeface="Calibri"/>
                        </a:rPr>
                        <a:t>Papel nesta aula</a:t>
                      </a:r>
                    </a:p>
                  </a:txBody>
                  <a:tcPr anchor="ctr">
                    <a:solidFill>
                      <a:srgbClr val="004A8F"/>
                    </a:solidFill>
                  </a:tcPr>
                </a:tc>
              </a:tr>
              <a:tr h="79200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2626"/>
                          </a:solidFill>
                          <a:latin typeface="Consolas"/>
                        </a:rPr>
                        <a:t>Docker Engine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2626"/>
                          </a:solidFill>
                          <a:latin typeface="Calibri"/>
                        </a:rPr>
                        <a:t>Containers individuais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2626"/>
                          </a:solidFill>
                          <a:latin typeface="Calibri"/>
                        </a:rPr>
                        <a:t>Container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2626"/>
                          </a:solidFill>
                          <a:latin typeface="Calibri"/>
                        </a:rPr>
                        <a:t>Roda cada serviço (Postgres, webserver...)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9200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2626"/>
                          </a:solidFill>
                          <a:latin typeface="Consolas"/>
                        </a:rPr>
                        <a:t>Docker Compose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2626"/>
                          </a:solidFill>
                          <a:latin typeface="Calibri"/>
                        </a:rPr>
                        <a:t>Vários containers, 1 máquina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2626"/>
                          </a:solidFill>
                          <a:latin typeface="Calibri"/>
                        </a:rPr>
                        <a:t>Serviço (docker-compose.yml)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2626"/>
                          </a:solidFill>
                          <a:latin typeface="Calibri"/>
                        </a:rPr>
                        <a:t>Sobe toda a stack do Airflow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79200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2626"/>
                          </a:solidFill>
                          <a:latin typeface="Consolas"/>
                        </a:rPr>
                        <a:t>Kubernetes (kind)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2626"/>
                          </a:solidFill>
                          <a:latin typeface="Calibri"/>
                        </a:rPr>
                        <a:t>Cluster de containers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2626"/>
                          </a:solidFill>
                          <a:latin typeface="Calibri"/>
                        </a:rPr>
                        <a:t>Pod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2626"/>
                          </a:solidFill>
                          <a:latin typeface="Calibri"/>
                        </a:rPr>
                        <a:t>Preparar terreno p/ Kubeflow (Aula 05)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9200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2626"/>
                          </a:solidFill>
                          <a:latin typeface="Consolas"/>
                        </a:rPr>
                        <a:t>Apache Airflow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2626"/>
                          </a:solidFill>
                          <a:latin typeface="Calibri"/>
                        </a:rPr>
                        <a:t>Workflows / pipelines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2626"/>
                          </a:solidFill>
                          <a:latin typeface="Calibri"/>
                        </a:rPr>
                        <a:t>Task / DAG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2626"/>
                          </a:solidFill>
                          <a:latin typeface="Calibri"/>
                        </a:rPr>
                        <a:t>Orquestra o ETL dos BOs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5400000"/>
            <a:ext cx="19170650" cy="2000000"/>
          </a:xfrm>
        </p:spPr>
        <p:txBody>
          <a:bodyPr wrap="square"/>
          <a:lstStyle/>
          <a:p>
            <a:pPr algn="l"/>
            <a:r>
              <a:rPr sz="4800" b="1">
                <a:solidFill>
                  <a:srgbClr val="004A8F"/>
                </a:solidFill>
                <a:latin typeface="Calibri"/>
              </a:rPr>
              <a:t>Conta Azure for Students — Limitações e Alternativas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550000"/>
            <a:ext cx="0" cy="2000000"/>
          </a:xfrm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sz="2600">
                <a:solidFill>
                  <a:srgbClr val="595959"/>
                </a:solidFill>
                <a:latin typeface="Calibri"/>
              </a:rPr>
              <a:t>Na Aula 03, o comando de criação de recursos falhou e não ficou claro o porquê. A causa mais comum: a região escolhida não está liberada para a SUA conta de estudante.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4750000"/>
            <a:ext cx="1917065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5AC00"/>
                </a:solidFill>
                <a:latin typeface="Calibri"/>
              </a:rPr>
              <a:t>AJUSTE IMPORTANTE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O Que É a Conta Azure for Students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b="1" sz="2700">
                <a:solidFill>
                  <a:srgbClr val="004A8F"/>
                </a:solidFill>
                <a:latin typeface="Calibri"/>
              </a:rPr>
              <a:t>Ativação:  </a:t>
            </a:r>
            <a:r>
              <a:rPr sz="2700">
                <a:solidFill>
                  <a:srgbClr val="262626"/>
                </a:solidFill>
                <a:latin typeface="Calibri"/>
              </a:rPr>
              <a:t>com e-mail acadêmico (.edu ou institucional), sem precisar de cartão de crédito.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b="1" sz="2700">
                <a:solidFill>
                  <a:srgbClr val="004A8F"/>
                </a:solidFill>
                <a:latin typeface="Calibri"/>
              </a:rPr>
              <a:t>Crédito:  </a:t>
            </a:r>
            <a:r>
              <a:rPr sz="2700">
                <a:solidFill>
                  <a:srgbClr val="262626"/>
                </a:solidFill>
                <a:latin typeface="Calibri"/>
              </a:rPr>
              <a:t>US$ 100 em créditos Azure, válidos por 12 meses a partir da ativação.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b="1" sz="2700">
                <a:solidFill>
                  <a:srgbClr val="004A8F"/>
                </a:solidFill>
                <a:latin typeface="Calibri"/>
              </a:rPr>
              <a:t>Serviços gratuitos:  </a:t>
            </a:r>
            <a:r>
              <a:rPr sz="2700">
                <a:solidFill>
                  <a:srgbClr val="262626"/>
                </a:solidFill>
                <a:latin typeface="Calibri"/>
              </a:rPr>
              <a:t>um conjunto de serviços selecionados, além do crédito, também sem cartão de crédito.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b="1" sz="2700">
                <a:solidFill>
                  <a:srgbClr val="004A8F"/>
                </a:solidFill>
                <a:latin typeface="Calibri"/>
              </a:rPr>
              <a:t>Depois de acabar o crédito ou os 12 meses:  </a:t>
            </a:r>
            <a:r>
              <a:rPr sz="2700">
                <a:solidFill>
                  <a:srgbClr val="262626"/>
                </a:solidFill>
                <a:latin typeface="Calibri"/>
              </a:rPr>
              <a:t>é possível fazer upgrade para uma assinatura Pay-As-You-Go, que remove as restrições da conta de estudante.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A Restrição que Derrubou a Demo da Aula 03: Região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500">
                <a:solidFill>
                  <a:srgbClr val="004A8F"/>
                </a:solidFill>
                <a:latin typeface="Calibri"/>
              </a:rPr>
              <a:t>O mecanismo:  </a:t>
            </a:r>
            <a:r>
              <a:rPr sz="2500">
                <a:solidFill>
                  <a:srgbClr val="262626"/>
                </a:solidFill>
                <a:latin typeface="Calibri"/>
              </a:rPr>
              <a:t>toda conta de estudante tem uma Azure Policy chamada "Allowed locations" (regiões permitidas), aplicada automaticamente pela Microsoft.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500">
                <a:solidFill>
                  <a:srgbClr val="004A8F"/>
                </a:solidFill>
                <a:latin typeface="Calibri"/>
              </a:rPr>
              <a:t>O detalhe que pega todo mundo:  </a:t>
            </a:r>
            <a:r>
              <a:rPr sz="2500">
                <a:solidFill>
                  <a:srgbClr val="262626"/>
                </a:solidFill>
                <a:latin typeface="Calibri"/>
              </a:rPr>
              <a:t>essa lista de regiões permitidas MUDA de aluno para aluno — não existe uma região "garantida" para todo mundo.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500">
                <a:solidFill>
                  <a:srgbClr val="004A8F"/>
                </a:solidFill>
                <a:latin typeface="Calibri"/>
              </a:rPr>
              <a:t>brazilsouth:  </a:t>
            </a:r>
            <a:r>
              <a:rPr sz="2500">
                <a:solidFill>
                  <a:srgbClr val="262626"/>
                </a:solidFill>
                <a:latin typeface="Calibri"/>
              </a:rPr>
              <a:t>é uma região comumente BLOQUEADA para conta de estudante — por isso não adianta copiar o location de outro colega sem checar antes.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500">
                <a:solidFill>
                  <a:srgbClr val="004A8F"/>
                </a:solidFill>
                <a:latin typeface="Calibri"/>
              </a:rPr>
              <a:t>O erro típico:  </a:t>
            </a:r>
            <a:r>
              <a:rPr sz="2500">
                <a:solidFill>
                  <a:srgbClr val="262626"/>
                </a:solidFill>
                <a:latin typeface="Calibri"/>
              </a:rPr>
              <a:t>"RequestDisallowedByPolicy" — não é um bug do Terraform/Pulumi, é a política da conta rejeitando a região escolhida.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Como Descobrir a SUA Região Liberada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4406900"/>
            <a:ext cx="1917065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Rode com a conta de estudante já logada (az login) — funciona em WSL2 ou Linux, mesmo comando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9100" y="6056900"/>
            <a:ext cx="19170650" cy="61732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0000" tIns="160000" rIns="150000"/>
          <a:lstStyle/>
          <a:p>
            <a:pPr algn="l"/>
            <a:r>
              <a:rPr sz="1700">
                <a:solidFill>
                  <a:srgbClr val="E8E8E8"/>
                </a:solidFill>
                <a:latin typeface="Consolas"/>
              </a:rPr>
              <a:t>az login</a:t>
            </a:r>
          </a:p>
          <a:p>
            <a:pPr algn="l"/>
            <a:r>
              <a:rPr sz="17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/>
            <a:r>
              <a:rPr sz="1700">
                <a:solidFill>
                  <a:srgbClr val="E8E8E8"/>
                </a:solidFill>
                <a:latin typeface="Consolas"/>
              </a:rPr>
              <a:t>az policy assignment list \</a:t>
            </a:r>
          </a:p>
          <a:p>
            <a:pPr algn="l"/>
            <a:r>
              <a:rPr sz="1700">
                <a:solidFill>
                  <a:srgbClr val="E8E8E8"/>
                </a:solidFill>
                <a:latin typeface="Consolas"/>
              </a:rPr>
              <a:t>  --query "[?contains(displayName,'location')].</a:t>
            </a:r>
          </a:p>
          <a:p>
            <a:pPr algn="l"/>
            <a:r>
              <a:rPr sz="1700">
                <a:solidFill>
                  <a:srgbClr val="E8E8E8"/>
                </a:solidFill>
                <a:latin typeface="Consolas"/>
              </a:rPr>
              <a:t>{nome:displayName, id:name}" -o table</a:t>
            </a:r>
          </a:p>
          <a:p>
            <a:pPr algn="l"/>
            <a:r>
              <a:rPr sz="17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/>
            <a:r>
              <a:rPr sz="1700">
                <a:solidFill>
                  <a:srgbClr val="E8E8E8"/>
                </a:solidFill>
                <a:latin typeface="Consolas"/>
              </a:rPr>
              <a:t># com o "id" encontrado acima, veja a lista exata:</a:t>
            </a:r>
          </a:p>
          <a:p>
            <a:pPr algn="l"/>
            <a:r>
              <a:rPr sz="1700">
                <a:solidFill>
                  <a:srgbClr val="E8E8E8"/>
                </a:solidFill>
                <a:latin typeface="Consolas"/>
              </a:rPr>
              <a:t>az policy assignment show --name &lt;ID_DO_ASSIGNMENT&gt; \</a:t>
            </a:r>
          </a:p>
          <a:p>
            <a:pPr algn="l"/>
            <a:r>
              <a:rPr sz="1700">
                <a:solidFill>
                  <a:srgbClr val="E8E8E8"/>
                </a:solidFill>
                <a:latin typeface="Consolas"/>
              </a:rPr>
              <a:t>  --query "parameters.listOfAllowedLocations.value" -o tsv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E Se o Comando Acima Voltar VAZIO?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500">
                <a:solidFill>
                  <a:srgbClr val="004A8F"/>
                </a:solidFill>
                <a:latin typeface="Calibri"/>
              </a:rPr>
              <a:t>É normal em muitas contas de estudante:  </a:t>
            </a:r>
            <a:r>
              <a:rPr sz="2500">
                <a:solidFill>
                  <a:srgbClr val="262626"/>
                </a:solidFill>
                <a:latin typeface="Calibri"/>
              </a:rPr>
              <a:t>a restrição de região nem sempre aparece como uma Policy Assignment visível na sua assinatura — às vezes ela vive num nível acima (management group), que uma conta de estudante não tem permissão de ler.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500">
                <a:solidFill>
                  <a:srgbClr val="004A8F"/>
                </a:solidFill>
                <a:latin typeface="Calibri"/>
              </a:rPr>
              <a:t>Confirme antes de desistir:  </a:t>
            </a:r>
            <a:r>
              <a:rPr sz="2500">
                <a:solidFill>
                  <a:srgbClr val="262626"/>
                </a:solidFill>
                <a:latin typeface="Calibri"/>
              </a:rPr>
              <a:t>rode az policy assignment list -o table, SEM filtro — se continuar vazio, o comando simplesmente não vai funcionar para a sua conta.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500">
                <a:solidFill>
                  <a:srgbClr val="004A8F"/>
                </a:solidFill>
                <a:latin typeface="Calibri"/>
              </a:rPr>
              <a:t>Alternativa que sempre funciona:  </a:t>
            </a:r>
            <a:r>
              <a:rPr sz="2500">
                <a:solidFill>
                  <a:srgbClr val="262626"/>
                </a:solidFill>
                <a:latin typeface="Calibri"/>
              </a:rPr>
              <a:t>teste por tentativa direta: az group create --name rg-teste-regiao --location eastus. Deu certo? Essa é a região liberada. Deu erro RequestDisallowedByPolicy? Troque pela próxima região da tabela a seguir.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Regiões Alternativas Mais Comuns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89100" y="4406900"/>
          <a:ext cx="19170000" cy="4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0000"/>
                <a:gridCol w="13670000"/>
              </a:tblGrid>
              <a:tr h="770000">
                <a:tc>
                  <a:txBody>
                    <a:bodyPr/>
                    <a:lstStyle/>
                    <a:p>
                      <a:r>
                        <a:rPr b="1" sz="2200">
                          <a:solidFill>
                            <a:srgbClr val="FFFFFF"/>
                          </a:solidFill>
                          <a:latin typeface="Calibri"/>
                        </a:rPr>
                        <a:t>Região</a:t>
                      </a:r>
                    </a:p>
                  </a:txBody>
                  <a:tcPr anchor="ctr"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2200">
                          <a:solidFill>
                            <a:srgbClr val="FFFFFF"/>
                          </a:solidFill>
                          <a:latin typeface="Calibri"/>
                        </a:rPr>
                        <a:t>Observação</a:t>
                      </a:r>
                    </a:p>
                  </a:txBody>
                  <a:tcPr anchor="ctr">
                    <a:solidFill>
                      <a:srgbClr val="004A8F"/>
                    </a:solidFill>
                  </a:tcPr>
                </a:tc>
              </a:tr>
              <a:tr h="7700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2626"/>
                          </a:solidFill>
                          <a:latin typeface="Consolas"/>
                        </a:rPr>
                        <a:t>eastus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2626"/>
                          </a:solidFill>
                          <a:latin typeface="Calibri"/>
                        </a:rPr>
                        <a:t>costuma estar liberada — primeira opção para testar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00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2626"/>
                          </a:solidFill>
                          <a:latin typeface="Consolas"/>
                        </a:rPr>
                        <a:t>eastus2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2626"/>
                          </a:solidFill>
                          <a:latin typeface="Calibri"/>
                        </a:rPr>
                        <a:t>segunda opção mais comum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7700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2626"/>
                          </a:solidFill>
                          <a:latin typeface="Consolas"/>
                        </a:rPr>
                        <a:t>westus2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2626"/>
                          </a:solidFill>
                          <a:latin typeface="Calibri"/>
                        </a:rPr>
                        <a:t>boa alternativa se as duas acima estiverem bloqueadas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00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2626"/>
                          </a:solidFill>
                          <a:latin typeface="Consolas"/>
                        </a:rPr>
                        <a:t>westeurope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2626"/>
                          </a:solidFill>
                          <a:latin typeface="Calibri"/>
                        </a:rPr>
                        <a:t>alternativa fora dos EUA, também comum na lista liberada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7700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2626"/>
                          </a:solidFill>
                          <a:latin typeface="Consolas"/>
                        </a:rPr>
                        <a:t>brazilsouth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2626"/>
                          </a:solidFill>
                          <a:latin typeface="Calibri"/>
                        </a:rPr>
                        <a:t>NÃO garantida — confirme sempre antes de assumir que funciona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Como Adaptar o Código: Região Vira Parâmetro, Não Valor Fixo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500">
                <a:solidFill>
                  <a:srgbClr val="004A8F"/>
                </a:solidFill>
                <a:latin typeface="Calibri"/>
              </a:rPr>
              <a:t>Terraform:  </a:t>
            </a:r>
            <a:r>
              <a:rPr sz="2500">
                <a:solidFill>
                  <a:srgbClr val="262626"/>
                </a:solidFill>
                <a:latin typeface="Calibri"/>
              </a:rPr>
              <a:t>troque location = "brazilsouth" fixo por variable "location" { default = "eastus" } — aí basta trocar o default (ou passar -var) se a sua conta bloquear.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500">
                <a:solidFill>
                  <a:srgbClr val="004A8F"/>
                </a:solidFill>
                <a:latin typeface="Calibri"/>
              </a:rPr>
              <a:t>Pulumi:  </a:t>
            </a:r>
            <a:r>
              <a:rPr sz="2500">
                <a:solidFill>
                  <a:srgbClr val="262626"/>
                </a:solidFill>
                <a:latin typeface="Calibri"/>
              </a:rPr>
              <a:t>use pulumi.Config() para ler a região (pulumi config set localizacao eastus) em vez de escrever a região direto no código — veremos isso já no próximo bloco.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500">
                <a:solidFill>
                  <a:srgbClr val="004A8F"/>
                </a:solidFill>
                <a:latin typeface="Calibri"/>
              </a:rPr>
              <a:t>Por que isso importa:  </a:t>
            </a:r>
            <a:r>
              <a:rPr sz="2500">
                <a:solidFill>
                  <a:srgbClr val="262626"/>
                </a:solidFill>
                <a:latin typeface="Calibri"/>
              </a:rPr>
              <a:t>cada aluno tem uma lista de regiões diferente — codificar a região direto no arquivo obriga a editar código toda vez; com config, é só um comando.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 b="1">
                <a:solidFill>
                  <a:srgbClr val="0070C0"/>
                </a:solidFill>
                <a:latin typeface="Calibri"/>
              </a:rPr>
              <a:t>Checkpoint: Pratique Agora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4406900"/>
            <a:ext cx="1917065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Rode az policy assignment list e descubra a região liberada da SUA conta de estudante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Anote o nome exato da região — vamos usar no próximo bloco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89100" y="5856900"/>
            <a:ext cx="19170650" cy="6373200"/>
          </a:xfrm>
          <a:prstGeom prst="rect">
            <a:avLst/>
          </a:prstGeom>
          <a:solidFill>
            <a:srgbClr val="FAFAFA"/>
          </a:solidFill>
          <a:ln w="19050">
            <a:solidFill>
              <a:srgbClr val="B5B5B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i="1">
                <a:solidFill>
                  <a:srgbClr val="A6A6A6"/>
                </a:solidFill>
                <a:latin typeface="Calibri"/>
              </a:rPr>
              <a:t>📷  cole aqui a captura de tela da lista de regiões liberadas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5400000"/>
            <a:ext cx="19170650" cy="2000000"/>
          </a:xfrm>
        </p:spPr>
        <p:txBody>
          <a:bodyPr wrap="square"/>
          <a:lstStyle/>
          <a:p>
            <a:pPr algn="l"/>
            <a:r>
              <a:rPr sz="4800" b="1">
                <a:solidFill>
                  <a:srgbClr val="004A8F"/>
                </a:solidFill>
                <a:latin typeface="Calibri"/>
              </a:rPr>
              <a:t>Retomando o Pulumi — Exemplo PCDF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550000"/>
            <a:ext cx="0" cy="2000000"/>
          </a:xfrm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sz="2600">
                <a:solidFill>
                  <a:srgbClr val="595959"/>
                </a:solidFill>
                <a:latin typeface="Calibri"/>
              </a:rPr>
              <a:t>Faltou tempo para rodar, e o exemplo original tinha um problema de nomenclatura. Hoje corrigimos os dois — e o script ganha uma capacidade nova.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4750000"/>
            <a:ext cx="1917065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5AC00"/>
                </a:solidFill>
                <a:latin typeface="Calibri"/>
              </a:rPr>
              <a:t>PENDÊNCIA DA AULA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Recapitulando o Que Aconteceu na Aula 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600">
                <a:solidFill>
                  <a:srgbClr val="004A8F"/>
                </a:solidFill>
                <a:latin typeface="Calibri"/>
              </a:rPr>
              <a:t>O bug de autonaming:  </a:t>
            </a:r>
            <a:r>
              <a:rPr sz="2600">
                <a:solidFill>
                  <a:srgbClr val="262626"/>
                </a:solidFill>
                <a:latin typeface="Calibri"/>
              </a:rPr>
              <a:t>sem account_name/container_name explícitos, o Pulumi colava um sufixo aleatório no nome físico do recurso — já corrigido no material desde a última aula.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600">
                <a:solidFill>
                  <a:srgbClr val="004A8F"/>
                </a:solidFill>
                <a:latin typeface="Calibri"/>
              </a:rPr>
              <a:t>Faltou tempo:  </a:t>
            </a:r>
            <a:r>
              <a:rPr sz="2600">
                <a:solidFill>
                  <a:srgbClr val="262626"/>
                </a:solidFill>
                <a:latin typeface="Calibri"/>
              </a:rPr>
              <a:t>para rodar o exemplo até o fim, com todos vendo o resultado no Portal Azure.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600">
                <a:solidFill>
                  <a:srgbClr val="004A8F"/>
                </a:solidFill>
                <a:latin typeface="Calibri"/>
              </a:rPr>
              <a:t>Pré-requisito que travava alguns alunos:  </a:t>
            </a:r>
            <a:r>
              <a:rPr sz="2600">
                <a:solidFill>
                  <a:srgbClr val="262626"/>
                </a:solidFill>
                <a:latin typeface="Calibri"/>
              </a:rPr>
              <a:t>o Resource Group "rg-pcdf-demo" precisava já existir, criado manualmente via az group create — um passo a mais, fácil de esquecer.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Novidade de Hoje: o Pulumi Também Pode CRIAR o Resource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500">
                <a:solidFill>
                  <a:srgbClr val="004A8F"/>
                </a:solidFill>
                <a:latin typeface="Calibri"/>
              </a:rPr>
              <a:t>Antes (Aula 03):  </a:t>
            </a:r>
            <a:r>
              <a:rPr sz="2500">
                <a:solidFill>
                  <a:srgbClr val="262626"/>
                </a:solidFill>
                <a:latin typeface="Calibri"/>
              </a:rPr>
              <a:t>resources.ResourceGroup.get(...) — só LIA um grupo que já precisava existir.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500">
                <a:solidFill>
                  <a:srgbClr val="004A8F"/>
                </a:solidFill>
                <a:latin typeface="Calibri"/>
              </a:rPr>
              <a:t>Agora, dois modos, escolhidos por config:  </a:t>
            </a:r>
            <a:r>
              <a:rPr sz="2500">
                <a:solidFill>
                  <a:srgbClr val="262626"/>
                </a:solidFill>
                <a:latin typeface="Calibri"/>
              </a:rPr>
              <a:t>criar_grupo = false → continua lendo um grupo existente (se você já rodou az group create); criar_grupo = true → o Pulumi cria o grupo do zero.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500">
                <a:solidFill>
                  <a:srgbClr val="004A8F"/>
                </a:solidFill>
                <a:latin typeface="Calibri"/>
              </a:rPr>
              <a:t>Por que isso ajuda hoje:  </a:t>
            </a:r>
            <a:r>
              <a:rPr sz="2500">
                <a:solidFill>
                  <a:srgbClr val="262626"/>
                </a:solidFill>
                <a:latin typeface="Calibri"/>
              </a:rPr>
              <a:t>resolve de uma vez o problema de região: em vez de lembrar de passar --location no az group create, você define a região direto no config do Pulumi.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500">
                <a:solidFill>
                  <a:srgbClr val="004A8F"/>
                </a:solidFill>
                <a:latin typeface="Calibri"/>
              </a:rPr>
              <a:t>O padrão usado:  </a:t>
            </a:r>
            <a:r>
              <a:rPr sz="2500">
                <a:solidFill>
                  <a:srgbClr val="262626"/>
                </a:solidFill>
                <a:latin typeface="Calibri"/>
              </a:rPr>
              <a:t>pulumi.Config() — o mesmo mecanismo de configuração já apresentado na Aula 03, agora aplicado para resolver um problema real.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>
                <a:solidFill>
                  <a:srgbClr val="0070C0"/>
                </a:solidFill>
                <a:latin typeface="Calibri"/>
              </a:rPr>
              <a:t>main.py Completo do Exemplo PCDF (Parte 1 de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3980000"/>
            <a:ext cx="19170650" cy="4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595959"/>
                </a:solidFill>
                <a:latin typeface="Calibri"/>
              </a:rPr>
              <a:t>lê o config e decide: criar um Resource Group novo, ou usar um que já existe</a:t>
            </a:r>
          </a:p>
        </p:txBody>
      </p:sp>
      <p:sp>
        <p:nvSpPr>
          <p:cNvPr id="6" name="Oval 5"/>
          <p:cNvSpPr/>
          <p:nvPr/>
        </p:nvSpPr>
        <p:spPr>
          <a:xfrm>
            <a:off x="1689100" y="4540000"/>
            <a:ext cx="190000" cy="190000"/>
          </a:xfrm>
          <a:prstGeom prst="ellipse">
            <a:avLst/>
          </a:prstGeom>
          <a:solidFill>
            <a:srgbClr val="F5A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49100" y="4520000"/>
            <a:ext cx="2380000" cy="4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595959"/>
                </a:solidFill>
                <a:latin typeface="Calibri"/>
              </a:rPr>
              <a:t>palavra-chave Python</a:t>
            </a:r>
          </a:p>
        </p:txBody>
      </p:sp>
      <p:sp>
        <p:nvSpPr>
          <p:cNvPr id="8" name="Oval 7"/>
          <p:cNvSpPr/>
          <p:nvPr/>
        </p:nvSpPr>
        <p:spPr>
          <a:xfrm>
            <a:off x="4509100" y="4540000"/>
            <a:ext cx="190000" cy="1900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69100" y="4520000"/>
            <a:ext cx="896000" cy="4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595959"/>
                </a:solidFill>
                <a:latin typeface="Calibri"/>
              </a:rPr>
              <a:t>string</a:t>
            </a:r>
          </a:p>
        </p:txBody>
      </p:sp>
      <p:sp>
        <p:nvSpPr>
          <p:cNvPr id="10" name="Oval 9"/>
          <p:cNvSpPr/>
          <p:nvPr/>
        </p:nvSpPr>
        <p:spPr>
          <a:xfrm>
            <a:off x="5845100" y="4540000"/>
            <a:ext cx="190000" cy="1900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05100" y="4520000"/>
            <a:ext cx="2168000" cy="4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595959"/>
                </a:solidFill>
                <a:latin typeface="Calibri"/>
              </a:rPr>
              <a:t>escolhido por você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89100" y="5150000"/>
            <a:ext cx="19170650" cy="70801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89100" y="5150000"/>
            <a:ext cx="19170650" cy="400000"/>
          </a:xfrm>
          <a:prstGeom prst="roundRect">
            <a:avLst>
              <a:gd name="adj" fmla="val 22000"/>
            </a:avLst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89100" y="5350000"/>
            <a:ext cx="19170650" cy="200000"/>
          </a:xfrm>
          <a:prstGeom prst="rect">
            <a:avLst/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869100" y="5280000"/>
            <a:ext cx="130000" cy="13000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09100" y="5280000"/>
            <a:ext cx="130000" cy="13000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49100" y="5280000"/>
            <a:ext cx="130000" cy="13000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89100" y="5225000"/>
            <a:ext cx="1917065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595959"/>
                </a:solidFill>
                <a:latin typeface="Consolas"/>
              </a:rPr>
              <a:t>main.py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9100" y="5660000"/>
            <a:ext cx="18830650" cy="6530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5AC00"/>
                </a:solidFill>
                <a:latin typeface="Consolas"/>
              </a:rPr>
              <a:t>import</a:t>
            </a:r>
            <a:r>
              <a:rPr sz="1900" b="0" i="0">
                <a:solidFill>
                  <a:srgbClr val="262626"/>
                </a:solidFill>
                <a:latin typeface="Consolas"/>
              </a:rPr>
              <a:t> pulumi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5AC00"/>
                </a:solidFill>
                <a:latin typeface="Consolas"/>
              </a:rPr>
              <a:t>from</a:t>
            </a:r>
            <a:r>
              <a:rPr sz="1900" b="0" i="0">
                <a:solidFill>
                  <a:srgbClr val="262626"/>
                </a:solidFill>
                <a:latin typeface="Consolas"/>
              </a:rPr>
              <a:t> pulumi_azure_native </a:t>
            </a:r>
            <a:r>
              <a:rPr sz="1900" b="1" i="0">
                <a:solidFill>
                  <a:srgbClr val="F5AC00"/>
                </a:solidFill>
                <a:latin typeface="Consolas"/>
              </a:rPr>
              <a:t>import</a:t>
            </a:r>
            <a:r>
              <a:rPr sz="1900" b="0" i="0">
                <a:solidFill>
                  <a:srgbClr val="262626"/>
                </a:solidFill>
                <a:latin typeface="Consolas"/>
              </a:rPr>
              <a:t> resources, storage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262626"/>
                </a:solidFill>
                <a:latin typeface="Consolas"/>
              </a:rPr>
              <a:t>config = pulumi.Config()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262626"/>
                </a:solidFill>
                <a:latin typeface="Consolas"/>
              </a:rPr>
              <a:t>criar_grupo = config.get_bool(</a:t>
            </a:r>
            <a:r>
              <a:rPr sz="1900" b="0" i="0">
                <a:solidFill>
                  <a:srgbClr val="2E7D32"/>
                </a:solidFill>
                <a:latin typeface="Consolas"/>
              </a:rPr>
              <a:t>"criar_grupo"</a:t>
            </a:r>
            <a:r>
              <a:rPr sz="1900" b="0" i="0">
                <a:solidFill>
                  <a:srgbClr val="262626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5AC00"/>
                </a:solidFill>
                <a:latin typeface="Consolas"/>
              </a:rPr>
              <a:t>if</a:t>
            </a:r>
            <a:r>
              <a:rPr sz="1900" b="0" i="0">
                <a:solidFill>
                  <a:srgbClr val="262626"/>
                </a:solidFill>
                <a:latin typeface="Consolas"/>
              </a:rPr>
              <a:t> criar_grupo </a:t>
            </a:r>
            <a:r>
              <a:rPr sz="1900" b="1" i="0">
                <a:solidFill>
                  <a:srgbClr val="F5AC00"/>
                </a:solidFill>
                <a:latin typeface="Consolas"/>
              </a:rPr>
              <a:t>is</a:t>
            </a:r>
            <a:r>
              <a:rPr sz="1900" b="0" i="0">
                <a:solidFill>
                  <a:srgbClr val="262626"/>
                </a:solidFill>
                <a:latin typeface="Consolas"/>
              </a:rPr>
              <a:t> </a:t>
            </a:r>
            <a:r>
              <a:rPr sz="1900" b="1" i="0">
                <a:solidFill>
                  <a:srgbClr val="F5AC00"/>
                </a:solidFill>
                <a:latin typeface="Consolas"/>
              </a:rPr>
              <a:t>None</a:t>
            </a:r>
            <a:r>
              <a:rPr sz="1900" b="0" i="0">
                <a:solidFill>
                  <a:srgbClr val="262626"/>
                </a:solidFill>
                <a:latin typeface="Consolas"/>
              </a:rPr>
              <a:t>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262626"/>
                </a:solidFill>
                <a:latin typeface="Consolas"/>
              </a:rPr>
              <a:t>    </a:t>
            </a:r>
            <a:r>
              <a:rPr sz="1900" b="0" i="0">
                <a:solidFill>
                  <a:srgbClr val="262626"/>
                </a:solidFill>
                <a:latin typeface="Consolas"/>
              </a:rPr>
              <a:t>criar_grupo = </a:t>
            </a:r>
            <a:r>
              <a:rPr sz="1900" b="1" i="0">
                <a:solidFill>
                  <a:srgbClr val="F5AC00"/>
                </a:solidFill>
                <a:latin typeface="Consolas"/>
              </a:rPr>
              <a:t>True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262626"/>
                </a:solidFill>
                <a:latin typeface="Consolas"/>
              </a:rPr>
              <a:t>localizacao = config.get(</a:t>
            </a:r>
            <a:r>
              <a:rPr sz="1900" b="0" i="0">
                <a:solidFill>
                  <a:srgbClr val="2E7D32"/>
                </a:solidFill>
                <a:latin typeface="Consolas"/>
              </a:rPr>
              <a:t>"localizacao"</a:t>
            </a:r>
            <a:r>
              <a:rPr sz="1900" b="0" i="0">
                <a:solidFill>
                  <a:srgbClr val="262626"/>
                </a:solidFill>
                <a:latin typeface="Consolas"/>
              </a:rPr>
              <a:t>) </a:t>
            </a:r>
            <a:r>
              <a:rPr sz="1900" b="1" i="0">
                <a:solidFill>
                  <a:srgbClr val="F5AC00"/>
                </a:solidFill>
                <a:latin typeface="Consolas"/>
              </a:rPr>
              <a:t>or</a:t>
            </a:r>
            <a:r>
              <a:rPr sz="1900" b="0" i="0">
                <a:solidFill>
                  <a:srgbClr val="262626"/>
                </a:solidFill>
                <a:latin typeface="Consolas"/>
              </a:rPr>
              <a:t> </a:t>
            </a:r>
            <a:r>
              <a:rPr sz="1900" b="0" i="0">
                <a:solidFill>
                  <a:srgbClr val="2E7D32"/>
                </a:solidFill>
                <a:latin typeface="Consolas"/>
              </a:rPr>
              <a:t>"eastus"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262626"/>
                </a:solidFill>
                <a:latin typeface="Consolas"/>
              </a:rPr>
              <a:t>NOME_GRUPO = </a:t>
            </a:r>
            <a:r>
              <a:rPr sz="1900" b="0" i="0">
                <a:solidFill>
                  <a:srgbClr val="2E7D32"/>
                </a:solidFill>
                <a:latin typeface="Consolas"/>
              </a:rPr>
              <a:t>"rg-pcdf-demo"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262626"/>
                </a:solidFill>
                <a:latin typeface="Consolas"/>
              </a:rPr>
              <a:t>NOME_CONTA = </a:t>
            </a:r>
            <a:r>
              <a:rPr sz="1900" b="0" i="0">
                <a:solidFill>
                  <a:srgbClr val="2E7D32"/>
                </a:solidFill>
                <a:latin typeface="Consolas"/>
              </a:rPr>
              <a:t>"stpcdfbopulumi"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262626"/>
                </a:solidFill>
                <a:latin typeface="Consolas"/>
              </a:rPr>
              <a:t>NOME_CONTAINER = </a:t>
            </a:r>
            <a:r>
              <a:rPr sz="1900" b="0" i="0">
                <a:solidFill>
                  <a:srgbClr val="2E7D32"/>
                </a:solidFill>
                <a:latin typeface="Consolas"/>
              </a:rPr>
              <a:t>"bos-pulumi-demo"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>
                <a:solidFill>
                  <a:srgbClr val="0070C0"/>
                </a:solidFill>
                <a:latin typeface="Calibri"/>
              </a:rPr>
              <a:t>main.py Completo do Exemplo PCDF (Parte 2 de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3980000"/>
            <a:ext cx="19170650" cy="4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595959"/>
                </a:solidFill>
                <a:latin typeface="Calibri"/>
              </a:rPr>
              <a:t>o "if" que decide entre criar (resource) ou ler (.get) o Resource Group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9100" y="4480000"/>
            <a:ext cx="19170650" cy="77501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689100" y="4480000"/>
            <a:ext cx="19170650" cy="400000"/>
          </a:xfrm>
          <a:prstGeom prst="roundRect">
            <a:avLst>
              <a:gd name="adj" fmla="val 22000"/>
            </a:avLst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89100" y="4680000"/>
            <a:ext cx="19170650" cy="200000"/>
          </a:xfrm>
          <a:prstGeom prst="rect">
            <a:avLst/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69100" y="4610000"/>
            <a:ext cx="130000" cy="13000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109100" y="4610000"/>
            <a:ext cx="130000" cy="13000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49100" y="4610000"/>
            <a:ext cx="130000" cy="13000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89100" y="4555000"/>
            <a:ext cx="1917065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595959"/>
                </a:solidFill>
                <a:latin typeface="Consolas"/>
              </a:rPr>
              <a:t>main.py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69100" y="4990000"/>
            <a:ext cx="18830650" cy="7200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5AC00"/>
                </a:solidFill>
                <a:latin typeface="Consolas"/>
              </a:rPr>
              <a:t>if</a:t>
            </a:r>
            <a:r>
              <a:rPr sz="1600" b="0" i="0">
                <a:solidFill>
                  <a:srgbClr val="262626"/>
                </a:solidFill>
                <a:latin typeface="Consolas"/>
              </a:rPr>
              <a:t> criar_grupo: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262626"/>
                </a:solidFill>
                <a:latin typeface="Consolas"/>
              </a:rPr>
              <a:t>    </a:t>
            </a:r>
            <a:r>
              <a:rPr sz="1600" b="0" i="0">
                <a:solidFill>
                  <a:srgbClr val="262626"/>
                </a:solidFill>
                <a:latin typeface="Consolas"/>
              </a:rPr>
              <a:t>rg = resources.ResourceGroup(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262626"/>
                </a:solidFill>
                <a:latin typeface="Consolas"/>
              </a:rPr>
              <a:t>        </a:t>
            </a:r>
            <a:r>
              <a:rPr sz="1600" b="0" i="0">
                <a:solidFill>
                  <a:srgbClr val="2E7D32"/>
                </a:solidFill>
                <a:latin typeface="Consolas"/>
              </a:rPr>
              <a:t>"rg"</a:t>
            </a:r>
            <a:r>
              <a:rPr sz="1600" b="0" i="0">
                <a:solidFill>
                  <a:srgbClr val="262626"/>
                </a:solidFill>
                <a:latin typeface="Consolas"/>
              </a:rPr>
              <a:t>,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262626"/>
                </a:solidFill>
                <a:latin typeface="Consolas"/>
              </a:rPr>
              <a:t>        </a:t>
            </a:r>
            <a:r>
              <a:rPr sz="1600" b="0" i="0">
                <a:solidFill>
                  <a:srgbClr val="262626"/>
                </a:solidFill>
                <a:latin typeface="Consolas"/>
              </a:rPr>
              <a:t>resource_group_name=NOME_GRUPO,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262626"/>
                </a:solidFill>
                <a:latin typeface="Consolas"/>
              </a:rPr>
              <a:t>        </a:t>
            </a:r>
            <a:r>
              <a:rPr sz="1600" b="0" i="0">
                <a:solidFill>
                  <a:srgbClr val="262626"/>
                </a:solidFill>
                <a:latin typeface="Consolas"/>
              </a:rPr>
              <a:t>location=localizacao,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262626"/>
                </a:solidFill>
                <a:latin typeface="Consolas"/>
              </a:rPr>
              <a:t>    </a:t>
            </a:r>
            <a:r>
              <a:rPr sz="1600" b="0" i="0">
                <a:solidFill>
                  <a:srgbClr val="262626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5AC00"/>
                </a:solidFill>
                <a:latin typeface="Consolas"/>
              </a:rPr>
              <a:t>else</a:t>
            </a:r>
            <a:r>
              <a:rPr sz="1600" b="0" i="0">
                <a:solidFill>
                  <a:srgbClr val="262626"/>
                </a:solidFill>
                <a:latin typeface="Consolas"/>
              </a:rPr>
              <a:t>: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262626"/>
                </a:solidFill>
                <a:latin typeface="Consolas"/>
              </a:rPr>
              <a:t>    </a:t>
            </a:r>
            <a:r>
              <a:rPr sz="1600" b="0" i="0">
                <a:solidFill>
                  <a:srgbClr val="262626"/>
                </a:solidFill>
                <a:latin typeface="Consolas"/>
              </a:rPr>
              <a:t>rg = resources.ResourceGroup.get(</a:t>
            </a:r>
            <a:r>
              <a:rPr sz="1600" b="0" i="0">
                <a:solidFill>
                  <a:srgbClr val="2E7D32"/>
                </a:solidFill>
                <a:latin typeface="Consolas"/>
              </a:rPr>
              <a:t>"rg"</a:t>
            </a:r>
            <a:r>
              <a:rPr sz="1600" b="0" i="0">
                <a:solidFill>
                  <a:srgbClr val="262626"/>
                </a:solidFill>
                <a:latin typeface="Consolas"/>
              </a:rPr>
              <a:t>, NOME_GRUPO)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262626"/>
                </a:solidFill>
                <a:latin typeface="Consolas"/>
              </a:rPr>
              <a:t>account = storage.StorageAccount(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262626"/>
                </a:solidFill>
                <a:latin typeface="Consolas"/>
              </a:rPr>
              <a:t>    </a:t>
            </a:r>
            <a:r>
              <a:rPr sz="1600" b="0" i="0">
                <a:solidFill>
                  <a:srgbClr val="2E7D32"/>
                </a:solidFill>
                <a:latin typeface="Consolas"/>
              </a:rPr>
              <a:t>"stpcdfbopulumi"</a:t>
            </a:r>
            <a:r>
              <a:rPr sz="1600" b="0" i="0">
                <a:solidFill>
                  <a:srgbClr val="262626"/>
                </a:solidFill>
                <a:latin typeface="Consolas"/>
              </a:rPr>
              <a:t>, account_name=NOME_CONTA,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262626"/>
                </a:solidFill>
                <a:latin typeface="Consolas"/>
              </a:rPr>
              <a:t>    </a:t>
            </a:r>
            <a:r>
              <a:rPr sz="1600" b="0" i="0">
                <a:solidFill>
                  <a:srgbClr val="262626"/>
                </a:solidFill>
                <a:latin typeface="Consolas"/>
              </a:rPr>
              <a:t>resource_group_name=rg.name, location=rg.location,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262626"/>
                </a:solidFill>
                <a:latin typeface="Consolas"/>
              </a:rPr>
              <a:t>    </a:t>
            </a:r>
            <a:r>
              <a:rPr sz="1600" b="0" i="0">
                <a:solidFill>
                  <a:srgbClr val="262626"/>
                </a:solidFill>
                <a:latin typeface="Consolas"/>
              </a:rPr>
              <a:t>sku=storage.SkuArgs(name=</a:t>
            </a:r>
            <a:r>
              <a:rPr sz="1600" b="0" i="0">
                <a:solidFill>
                  <a:srgbClr val="2E7D32"/>
                </a:solidFill>
                <a:latin typeface="Consolas"/>
              </a:rPr>
              <a:t>"Standard_LRS"</a:t>
            </a:r>
            <a:r>
              <a:rPr sz="1600" b="0" i="0">
                <a:solidFill>
                  <a:srgbClr val="262626"/>
                </a:solidFill>
                <a:latin typeface="Consolas"/>
              </a:rPr>
              <a:t>), kind=</a:t>
            </a:r>
            <a:r>
              <a:rPr sz="1600" b="0" i="0">
                <a:solidFill>
                  <a:srgbClr val="2E7D32"/>
                </a:solidFill>
                <a:latin typeface="Consolas"/>
              </a:rPr>
              <a:t>"StorageV2"</a:t>
            </a:r>
            <a:r>
              <a:rPr sz="1600" b="0" i="0">
                <a:solidFill>
                  <a:srgbClr val="262626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262626"/>
                </a:solidFill>
                <a:latin typeface="Consolas"/>
              </a:rPr>
              <a:t>container = storage.BlobContainer(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262626"/>
                </a:solidFill>
                <a:latin typeface="Consolas"/>
              </a:rPr>
              <a:t>    </a:t>
            </a:r>
            <a:r>
              <a:rPr sz="1600" b="0" i="0">
                <a:solidFill>
                  <a:srgbClr val="2E7D32"/>
                </a:solidFill>
                <a:latin typeface="Consolas"/>
              </a:rPr>
              <a:t>"bos-pulumi-demo"</a:t>
            </a:r>
            <a:r>
              <a:rPr sz="1600" b="0" i="0">
                <a:solidFill>
                  <a:srgbClr val="262626"/>
                </a:solidFill>
                <a:latin typeface="Consolas"/>
              </a:rPr>
              <a:t>, container_name=NOME_CONTAINER,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262626"/>
                </a:solidFill>
                <a:latin typeface="Consolas"/>
              </a:rPr>
              <a:t>    </a:t>
            </a:r>
            <a:r>
              <a:rPr sz="1600" b="0" i="0">
                <a:solidFill>
                  <a:srgbClr val="262626"/>
                </a:solidFill>
                <a:latin typeface="Consolas"/>
              </a:rPr>
              <a:t>account_name=account.name, resource_group_name=rg.name)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262626"/>
                </a:solidFill>
                <a:latin typeface="Consolas"/>
              </a:rPr>
              <a:t>pulumi.export(</a:t>
            </a:r>
            <a:r>
              <a:rPr sz="1600" b="0" i="0">
                <a:solidFill>
                  <a:srgbClr val="2E7D32"/>
                </a:solidFill>
                <a:latin typeface="Consolas"/>
              </a:rPr>
              <a:t>"grupo_de_recursos"</a:t>
            </a:r>
            <a:r>
              <a:rPr sz="1600" b="0" i="0">
                <a:solidFill>
                  <a:srgbClr val="262626"/>
                </a:solidFill>
                <a:latin typeface="Consolas"/>
              </a:rPr>
              <a:t>, rg.name)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262626"/>
                </a:solidFill>
                <a:latin typeface="Consolas"/>
              </a:rPr>
              <a:t>pulumi.export(</a:t>
            </a:r>
            <a:r>
              <a:rPr sz="1600" b="0" i="0">
                <a:solidFill>
                  <a:srgbClr val="2E7D32"/>
                </a:solidFill>
                <a:latin typeface="Consolas"/>
              </a:rPr>
              <a:t>"conta_criada"</a:t>
            </a:r>
            <a:r>
              <a:rPr sz="1600" b="0" i="0">
                <a:solidFill>
                  <a:srgbClr val="262626"/>
                </a:solidFill>
                <a:latin typeface="Consolas"/>
              </a:rPr>
              <a:t>, account.name)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Passo A6-1 — Criar o Projeto Pulumi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50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89100" y="1052900"/>
            <a:ext cx="6048000" cy="430000"/>
          </a:xfrm>
          <a:prstGeom prst="roundRect">
            <a:avLst>
              <a:gd name="adj" fmla="val 50000"/>
            </a:avLst>
          </a:prstGeom>
          <a:solidFill>
            <a:srgbClr val="1B6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AMBIENTE DO PROJETO-GUIA PCDF  (aluno, no seu repositório)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9100" y="4406900"/>
            <a:ext cx="1917065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Idêntico em WSL2 (Windows) e Linux — comando INTERATIVO, vai fazer perguntas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89100" y="6056900"/>
            <a:ext cx="19170650" cy="61732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0000" tIns="160000" rIns="150000"/>
          <a:lstStyle/>
          <a:p>
            <a:pPr algn="l"/>
            <a:r>
              <a:rPr sz="2200">
                <a:solidFill>
                  <a:srgbClr val="E8E8E8"/>
                </a:solidFill>
                <a:latin typeface="Consolas"/>
              </a:rPr>
              <a:t>az login</a:t>
            </a:r>
          </a:p>
          <a:p>
            <a:pPr algn="l"/>
            <a:r>
              <a:rPr sz="2200">
                <a:solidFill>
                  <a:srgbClr val="E8E8E8"/>
                </a:solidFill>
                <a:latin typeface="Consolas"/>
              </a:rPr>
              <a:t>mkdir -p pulumi &amp;&amp; cd pulumi</a:t>
            </a:r>
          </a:p>
          <a:p>
            <a:pPr algn="l"/>
            <a:r>
              <a:rPr sz="2200">
                <a:solidFill>
                  <a:srgbClr val="E8E8E8"/>
                </a:solidFill>
                <a:latin typeface="Consolas"/>
              </a:rPr>
              <a:t>pulumi new azure-python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O Que o pulumi new Vai Perguntar, Nesta Ordem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b="1" sz="2300">
                <a:solidFill>
                  <a:srgbClr val="004A8F"/>
                </a:solidFill>
                <a:latin typeface="Calibri"/>
              </a:rPr>
              <a:t>1. project name:  </a:t>
            </a:r>
            <a:r>
              <a:rPr sz="2300">
                <a:solidFill>
                  <a:srgbClr val="262626"/>
                </a:solidFill>
                <a:latin typeface="Calibri"/>
              </a:rPr>
              <a:t>aceite o padrão ou digite pcdf-aula04.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b="1" sz="2300">
                <a:solidFill>
                  <a:srgbClr val="004A8F"/>
                </a:solidFill>
                <a:latin typeface="Calibri"/>
              </a:rPr>
              <a:t>2. project description:  </a:t>
            </a:r>
            <a:r>
              <a:rPr sz="2300">
                <a:solidFill>
                  <a:srgbClr val="262626"/>
                </a:solidFill>
                <a:latin typeface="Calibri"/>
              </a:rPr>
              <a:t>aperte Enter para aceitar o padrão.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b="1" sz="2300">
                <a:solidFill>
                  <a:srgbClr val="004A8F"/>
                </a:solidFill>
                <a:latin typeface="Calibri"/>
              </a:rPr>
              <a:t>3. stack name:  </a:t>
            </a:r>
            <a:r>
              <a:rPr sz="2300">
                <a:solidFill>
                  <a:srgbClr val="262626"/>
                </a:solidFill>
                <a:latin typeface="Calibri"/>
              </a:rPr>
              <a:t>digite dev.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b="1" sz="2300">
                <a:solidFill>
                  <a:srgbClr val="004A8F"/>
                </a:solidFill>
                <a:latin typeface="Calibri"/>
              </a:rPr>
              <a:t>4. "Enter your passphrase to protect config/secrets":  </a:t>
            </a:r>
            <a:r>
              <a:rPr sz="2300">
                <a:solidFill>
                  <a:srgbClr val="262626"/>
                </a:solidFill>
                <a:latin typeface="Calibri"/>
              </a:rPr>
              <a:t>crie uma senha SUA — fica só na sua máquina, protege o arquivo de config. Guarde num cofre de senhas; vai pedir de novo no pulumi up.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b="1" sz="2300">
                <a:solidFill>
                  <a:srgbClr val="004A8F"/>
                </a:solidFill>
                <a:latin typeface="Calibri"/>
              </a:rPr>
              <a:t>5. azure-native:location:  </a:t>
            </a:r>
            <a:r>
              <a:rPr sz="2300">
                <a:solidFill>
                  <a:srgbClr val="262626"/>
                </a:solidFill>
                <a:latin typeface="Calibri"/>
              </a:rPr>
              <a:t>pode aceitar o padrão — não é usado, porque o NOSSO script decide a região sozinho (próximo passo).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51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89100" y="1052900"/>
            <a:ext cx="6048000" cy="430000"/>
          </a:xfrm>
          <a:prstGeom prst="roundRect">
            <a:avLst>
              <a:gd name="adj" fmla="val 50000"/>
            </a:avLst>
          </a:prstGeom>
          <a:solidFill>
            <a:srgbClr val="1B6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AMBIENTE DO PROJETO-GUIA PCDF  (aluno, no seu repositório)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Passo A6-2 — Substituir o __main__.py Gerado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500">
                <a:solidFill>
                  <a:srgbClr val="004A8F"/>
                </a:solidFill>
                <a:latin typeface="Calibri"/>
              </a:rPr>
              <a:t>O que aconteceu:  </a:t>
            </a:r>
            <a:r>
              <a:rPr sz="2500">
                <a:solidFill>
                  <a:srgbClr val="262626"/>
                </a:solidFill>
                <a:latin typeface="Calibri"/>
              </a:rPr>
              <a:t>o pulumi new criou um __main__.py de EXEMPLO genérico — precisamos trocar pelo código real do Exemplo PCDF (mostrado 2 slides atrás).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500">
                <a:solidFill>
                  <a:srgbClr val="004A8F"/>
                </a:solidFill>
                <a:latin typeface="Calibri"/>
              </a:rPr>
              <a:t>Opção A — comando completo:  </a:t>
            </a:r>
            <a:r>
              <a:rPr sz="2500">
                <a:solidFill>
                  <a:srgbClr val="262626"/>
                </a:solidFill>
                <a:latin typeface="Calibri"/>
              </a:rPr>
              <a:t>está no Manual do Professor, Passo A6-2: um bloco cat &gt; __main__.py &lt;&lt; EOF que cola o código inteiro de uma vez, direto no terminal.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500">
                <a:solidFill>
                  <a:srgbClr val="004A8F"/>
                </a:solidFill>
                <a:latin typeface="Calibri"/>
              </a:rPr>
              <a:t>Opção B — se já copiou o material para o WSL2:  </a:t>
            </a:r>
            <a:r>
              <a:rPr sz="2500">
                <a:solidFill>
                  <a:srgbClr val="262626"/>
                </a:solidFill>
                <a:latin typeface="Calibri"/>
              </a:rPr>
              <a:t>cp aula4_material/main_pcdf_v2.py __main__.py (rode de dentro da pasta pulumi/).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52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89100" y="1052900"/>
            <a:ext cx="6048000" cy="430000"/>
          </a:xfrm>
          <a:prstGeom prst="roundRect">
            <a:avLst>
              <a:gd name="adj" fmla="val 50000"/>
            </a:avLst>
          </a:prstGeom>
          <a:solidFill>
            <a:srgbClr val="1B6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AMBIENTE DO PROJETO-GUIA PCDF  (aluno, no seu repositório)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>
                <a:solidFill>
                  <a:srgbClr val="0070C0"/>
                </a:solidFill>
                <a:latin typeface="Calibri"/>
              </a:rPr>
              <a:t>Passo A6-3 — Configurar, Revisar e Aplicar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3980000"/>
            <a:ext cx="1917065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i="1">
                <a:solidFill>
                  <a:srgbClr val="595959"/>
                </a:solidFill>
                <a:latin typeface="Calibri"/>
              </a:rPr>
              <a:t>Idêntico nos dois ambientes, a partir daqui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9100" y="4480000"/>
            <a:ext cx="9455325" cy="34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WSL2 (Ubuntu)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04425" y="4480000"/>
            <a:ext cx="9455325" cy="340000"/>
          </a:xfrm>
          <a:prstGeom prst="roundRect">
            <a:avLst>
              <a:gd name="adj" fmla="val 50000"/>
            </a:avLst>
          </a:prstGeom>
          <a:solidFill>
            <a:srgbClr val="1B6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Linux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89100" y="4870000"/>
            <a:ext cx="9455325" cy="73601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tIns="150000" rIns="14000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pip install -r requirements.txt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pulumi config set criar_grupo true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pulumi config set localizacao eastus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pulumi preview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pulumi 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04425" y="4870000"/>
            <a:ext cx="9455325" cy="73601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tIns="150000" rIns="14000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pip install -r requirements.txt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pulumi config set criar_grupo true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pulumi config set localizacao eastus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pulumi preview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pulumi up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Resultado Esperado e Conferência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500">
                <a:solidFill>
                  <a:srgbClr val="004A8F"/>
                </a:solidFill>
                <a:latin typeface="Calibri"/>
              </a:rPr>
              <a:t>pulumi up:  </a:t>
            </a:r>
            <a:r>
              <a:rPr sz="2500">
                <a:solidFill>
                  <a:srgbClr val="262626"/>
                </a:solidFill>
                <a:latin typeface="Calibri"/>
              </a:rPr>
              <a:t>pede confirmação ("yes") e mostra os 3 recursos sendo criados: Resource Group, Storage Account, Container.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500">
                <a:solidFill>
                  <a:srgbClr val="004A8F"/>
                </a:solidFill>
                <a:latin typeface="Calibri"/>
              </a:rPr>
              <a:t>Outputs no terminal:  </a:t>
            </a:r>
            <a:r>
              <a:rPr sz="2500">
                <a:solidFill>
                  <a:srgbClr val="262626"/>
                </a:solidFill>
                <a:latin typeface="Calibri"/>
              </a:rPr>
              <a:t>grupo_de_recursos e conta_criada aparecem com os nomes EXATOS que definimos ("rg-pcdf-demo", "stpcdfbopulumi") — sem sufixo aleatório.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500">
                <a:solidFill>
                  <a:srgbClr val="004A8F"/>
                </a:solidFill>
                <a:latin typeface="Calibri"/>
              </a:rPr>
              <a:t>Conferir no Portal:  </a:t>
            </a:r>
            <a:r>
              <a:rPr sz="2500">
                <a:solidFill>
                  <a:srgbClr val="262626"/>
                </a:solidFill>
                <a:latin typeface="Calibri"/>
              </a:rPr>
              <a:t>portal.azure.com → Resource Groups → rg-pcdf-demo → Storage Account "stpcdfbopulumi" e container "bos-pulumi-demo" visíveis.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500">
                <a:solidFill>
                  <a:srgbClr val="004A8F"/>
                </a:solidFill>
                <a:latin typeface="Calibri"/>
              </a:rPr>
              <a:t>Se der erro de política de região:  </a:t>
            </a:r>
            <a:r>
              <a:rPr sz="2500">
                <a:solidFill>
                  <a:srgbClr val="262626"/>
                </a:solidFill>
                <a:latin typeface="Calibri"/>
              </a:rPr>
              <a:t>volte à Parte 3 de hoje e troque "eastus" pela região liberada na SUA conta.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Limpeza ao Final — Não Deixe Rodando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b="1" sz="2700">
                <a:solidFill>
                  <a:srgbClr val="004A8F"/>
                </a:solidFill>
                <a:latin typeface="Calibri"/>
              </a:rPr>
              <a:t>Por quê:  </a:t>
            </a:r>
            <a:r>
              <a:rPr sz="2700">
                <a:solidFill>
                  <a:srgbClr val="262626"/>
                </a:solidFill>
                <a:latin typeface="Calibri"/>
              </a:rPr>
              <a:t>a conta de estudante tem crédito limitado (US$ 100/12 meses) — recursos esquecidos ligados consomem crédito sem necessidade.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b="1" sz="2700">
                <a:solidFill>
                  <a:srgbClr val="004A8F"/>
                </a:solidFill>
                <a:latin typeface="Calibri"/>
              </a:rPr>
              <a:t>Comando:  </a:t>
            </a:r>
            <a:r>
              <a:rPr sz="2700">
                <a:solidFill>
                  <a:srgbClr val="262626"/>
                </a:solidFill>
                <a:latin typeface="Calibri"/>
              </a:rPr>
              <a:t>pulumi destroy, confirmando com "yes" — remove os 3 recursos criados (Resource Group incluído, se criar_grupo=true).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b="1" sz="2700">
                <a:solidFill>
                  <a:srgbClr val="004A8F"/>
                </a:solidFill>
                <a:latin typeface="Calibri"/>
              </a:rPr>
              <a:t>Atenção:  </a:t>
            </a:r>
            <a:r>
              <a:rPr sz="2700">
                <a:solidFill>
                  <a:srgbClr val="262626"/>
                </a:solidFill>
                <a:latin typeface="Calibri"/>
              </a:rPr>
              <a:t>se você usou criar_grupo=false (grupo já existia antes do Pulumi), o destroy NUNCA apaga o Resource Group — só o que o Pulumi criou de fato.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 b="1">
                <a:solidFill>
                  <a:srgbClr val="0070C0"/>
                </a:solidFill>
                <a:latin typeface="Calibri"/>
              </a:rPr>
              <a:t>Checkpoint: Pratique Agora (Hoje, com Tempo)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4406900"/>
            <a:ext cx="1917065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Rode o ciclo completo: pulumi new → config set → pulumi up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Confirme os 3 recursos no Portal Azure, com os nomes exatos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89100" y="5856900"/>
            <a:ext cx="19170650" cy="6373200"/>
          </a:xfrm>
          <a:prstGeom prst="rect">
            <a:avLst/>
          </a:prstGeom>
          <a:solidFill>
            <a:srgbClr val="FAFAFA"/>
          </a:solidFill>
          <a:ln w="19050">
            <a:solidFill>
              <a:srgbClr val="B5B5B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i="1">
                <a:solidFill>
                  <a:srgbClr val="A6A6A6"/>
                </a:solidFill>
                <a:latin typeface="Calibri"/>
              </a:rPr>
              <a:t>📷  cole aqui a captura de tela do pulumi up e do Portal Azure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5400000"/>
            <a:ext cx="19170650" cy="2000000"/>
          </a:xfrm>
        </p:spPr>
        <p:txBody>
          <a:bodyPr wrap="square"/>
          <a:lstStyle/>
          <a:p>
            <a:pPr algn="l"/>
            <a:r>
              <a:rPr sz="4800" b="1">
                <a:solidFill>
                  <a:srgbClr val="004A8F"/>
                </a:solidFill>
                <a:latin typeface="Calibri"/>
              </a:rPr>
              <a:t>Instalação e Configuração do Airflow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550000"/>
            <a:ext cx="0" cy="2000000"/>
          </a:xfrm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sz="2600">
                <a:solidFill>
                  <a:srgbClr val="595959"/>
                </a:solidFill>
                <a:latin typeface="Calibri"/>
              </a:rPr>
              <a:t>Vamos praticar primeiro no Ambiente Local de Demonstração (airflow-demo/) — só depois replicamos no projeto PCDF.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4750000"/>
            <a:ext cx="1917065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5AC00"/>
                </a:solidFill>
                <a:latin typeface="Calibri"/>
              </a:rPr>
              <a:t>CONSTRUÇÃO — PARTE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Onde Vamos Praticar Primeiro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b="1" sz="2500">
                <a:solidFill>
                  <a:srgbClr val="004A8F"/>
                </a:solidFill>
                <a:latin typeface="Calibri"/>
              </a:rPr>
              <a:t>Qual terminal:  </a:t>
            </a:r>
            <a:r>
              <a:rPr sz="2500">
                <a:solidFill>
                  <a:srgbClr val="262626"/>
                </a:solidFill>
                <a:latin typeface="Calibri"/>
              </a:rPr>
              <a:t>TUDO a partir daqui roda dentro do terminal Ubuntu/WSL2 (ou Linux, se for sua máquina) — nunca no PowerShell/CMD do Windows.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b="1" sz="2500">
                <a:solidFill>
                  <a:srgbClr val="004A8F"/>
                </a:solidFill>
                <a:latin typeface="Calibri"/>
              </a:rPr>
              <a:t>Pasta de trabalho:  </a:t>
            </a:r>
            <a:r>
              <a:rPr sz="2500">
                <a:solidFill>
                  <a:srgbClr val="262626"/>
                </a:solidFill>
                <a:latin typeface="Calibri"/>
              </a:rPr>
              <a:t>airflow-demo/ — uma pasta DENTRO desse mesmo terminal, criada no Passo A1-1. "Ambiente Local de Demonstração" não é outro programa: é só o nome dessa pasta de testes.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b="1" sz="2500">
                <a:solidFill>
                  <a:srgbClr val="004A8F"/>
                </a:solidFill>
                <a:latin typeface="Calibri"/>
              </a:rPr>
              <a:t>Por que primeiro aqui:  </a:t>
            </a:r>
            <a:r>
              <a:rPr sz="2500">
                <a:solidFill>
                  <a:srgbClr val="262626"/>
                </a:solidFill>
                <a:latin typeface="Calibri"/>
              </a:rPr>
              <a:t>o Airflow tem vários serviços rodando ao mesmo tempo (banco, webserver, scheduler, worker) — melhor errar aqui do que no projeto que vale nota.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b="1" sz="2500">
                <a:solidFill>
                  <a:srgbClr val="004A8F"/>
                </a:solidFill>
                <a:latin typeface="Calibri"/>
              </a:rPr>
              <a:t>Comandos:  </a:t>
            </a:r>
            <a:r>
              <a:rPr sz="2500">
                <a:solidFill>
                  <a:srgbClr val="262626"/>
                </a:solidFill>
                <a:latin typeface="Calibri"/>
              </a:rPr>
              <a:t>idênticos em WSL2 (Windows) e Linux — o Docker Compose não muda entre os dois.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58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89100" y="1052900"/>
            <a:ext cx="5472000" cy="43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AMBIENTE LOCAL DE DEMONSTRAÇÃO  (professor, em aula)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Passo A1-1 — Baixar o docker-compose.yaml Oficial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59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89100" y="1052900"/>
            <a:ext cx="5472000" cy="43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AMBIENTE LOCAL DE DEMONSTRAÇÃO  (professor, em aula)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9100" y="4406900"/>
            <a:ext cx="1917065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Idêntico em WSL2 (Windows) e Linux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89100" y="6056900"/>
            <a:ext cx="19170650" cy="61732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0000" tIns="160000" rIns="150000"/>
          <a:lstStyle/>
          <a:p>
            <a:pPr algn="l"/>
            <a:r>
              <a:rPr sz="2100">
                <a:solidFill>
                  <a:srgbClr val="E8E8E8"/>
                </a:solidFill>
                <a:latin typeface="Consolas"/>
              </a:rPr>
              <a:t>mkdir airflow-demo &amp;&amp; cd airflow-demo</a:t>
            </a:r>
          </a:p>
          <a:p>
            <a:pPr algn="l"/>
            <a:r>
              <a:rPr sz="21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/>
            <a:r>
              <a:rPr sz="2100">
                <a:solidFill>
                  <a:srgbClr val="E8E8E8"/>
                </a:solidFill>
                <a:latin typeface="Consolas"/>
              </a:rPr>
              <a:t>curl -LfO 'https://airflow.apache.org/docs/apache-airflow/</a:t>
            </a:r>
          </a:p>
          <a:p>
            <a:pPr algn="l"/>
            <a:r>
              <a:rPr sz="2100">
                <a:solidFill>
                  <a:srgbClr val="E8E8E8"/>
                </a:solidFill>
                <a:latin typeface="Consolas"/>
              </a:rPr>
              <a:t>stable/docker-compose.yaml'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Passo A1-2 — Criar as Pastas Auxiliares e o .env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60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89100" y="1052900"/>
            <a:ext cx="5472000" cy="43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AMBIENTE LOCAL DE DEMONSTRAÇÃO  (professor, em aula)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9100" y="4406900"/>
            <a:ext cx="1917065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Diferença em relação ao Manual da Aula 01: agora criamos TAMBÉM a pasta ./data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89100" y="6056900"/>
            <a:ext cx="19170650" cy="61732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0000" tIns="160000" rIns="150000"/>
          <a:lstStyle/>
          <a:p>
            <a:pPr algn="l"/>
            <a:r>
              <a:rPr sz="2200">
                <a:solidFill>
                  <a:srgbClr val="E8E8E8"/>
                </a:solidFill>
                <a:latin typeface="Consolas"/>
              </a:rPr>
              <a:t>mkdir -p ./dags ./logs ./plugins ./config ./data</a:t>
            </a:r>
          </a:p>
          <a:p>
            <a:pPr algn="l"/>
            <a:r>
              <a:rPr sz="2200">
                <a:solidFill>
                  <a:srgbClr val="E8E8E8"/>
                </a:solidFill>
                <a:latin typeface="Consolas"/>
              </a:rPr>
              <a:t>echo -e "AIRFLOW_UID=50000" &gt; .env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Passo A1-2b (NOVO) — Adicionar o Mount de ./data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61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89100" y="1052900"/>
            <a:ext cx="5472000" cy="43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AMBIENTE LOCAL DE DEMONSTRAÇÃO  (professor, em aula)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9100" y="4406900"/>
            <a:ext cx="1917065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O docker-compose.yaml oficial NÃO monta a pasta ./data — sem este arquivo, a task "extract" falha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O comando abaixo CRIA docker-compose.override.yml direto pelo terminal — cole o bloco inteiro, do cat até o EOF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89100" y="6056900"/>
            <a:ext cx="19170650" cy="61732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0000" tIns="160000" rIns="150000"/>
          <a:lstStyle/>
          <a:p>
            <a:pPr algn="l"/>
            <a:r>
              <a:rPr sz="1600">
                <a:solidFill>
                  <a:srgbClr val="E8E8E8"/>
                </a:solidFill>
                <a:latin typeface="Consolas"/>
              </a:rPr>
              <a:t>cat &gt; docker-compose.override.yml &lt;&lt; 'EOF'</a:t>
            </a:r>
          </a:p>
          <a:p>
            <a:pPr algn="l"/>
            <a:r>
              <a:rPr sz="1600">
                <a:solidFill>
                  <a:srgbClr val="E8E8E8"/>
                </a:solidFill>
                <a:latin typeface="Consolas"/>
              </a:rPr>
              <a:t>version: "3.8"</a:t>
            </a:r>
          </a:p>
          <a:p>
            <a:pPr algn="l"/>
            <a:r>
              <a:rPr sz="16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/>
            <a:r>
              <a:rPr sz="1600">
                <a:solidFill>
                  <a:srgbClr val="E8E8E8"/>
                </a:solidFill>
                <a:latin typeface="Consolas"/>
              </a:rPr>
              <a:t>services:</a:t>
            </a:r>
          </a:p>
          <a:p>
            <a:pPr algn="l"/>
            <a:r>
              <a:rPr sz="1600">
                <a:solidFill>
                  <a:srgbClr val="E8E8E8"/>
                </a:solidFill>
                <a:latin typeface="Consolas"/>
              </a:rPr>
              <a:t>  airflow-scheduler:</a:t>
            </a:r>
          </a:p>
          <a:p>
            <a:pPr algn="l"/>
            <a:r>
              <a:rPr sz="1600">
                <a:solidFill>
                  <a:srgbClr val="E8E8E8"/>
                </a:solidFill>
                <a:latin typeface="Consolas"/>
              </a:rPr>
              <a:t>    volumes: ["./data:/opt/airflow/data"]</a:t>
            </a:r>
          </a:p>
          <a:p>
            <a:pPr algn="l"/>
            <a:r>
              <a:rPr sz="1600">
                <a:solidFill>
                  <a:srgbClr val="E8E8E8"/>
                </a:solidFill>
                <a:latin typeface="Consolas"/>
              </a:rPr>
              <a:t>  airflow-webserver:</a:t>
            </a:r>
          </a:p>
          <a:p>
            <a:pPr algn="l"/>
            <a:r>
              <a:rPr sz="1600">
                <a:solidFill>
                  <a:srgbClr val="E8E8E8"/>
                </a:solidFill>
                <a:latin typeface="Consolas"/>
              </a:rPr>
              <a:t>    volumes: ["./data:/opt/airflow/data"]</a:t>
            </a:r>
          </a:p>
          <a:p>
            <a:pPr algn="l"/>
            <a:r>
              <a:rPr sz="1600">
                <a:solidFill>
                  <a:srgbClr val="E8E8E8"/>
                </a:solidFill>
                <a:latin typeface="Consolas"/>
              </a:rPr>
              <a:t>  airflow-worker:</a:t>
            </a:r>
          </a:p>
          <a:p>
            <a:pPr algn="l"/>
            <a:r>
              <a:rPr sz="1600">
                <a:solidFill>
                  <a:srgbClr val="E8E8E8"/>
                </a:solidFill>
                <a:latin typeface="Consolas"/>
              </a:rPr>
              <a:t>    volumes: ["./data:/opt/airflow/data"]</a:t>
            </a:r>
          </a:p>
          <a:p>
            <a:pPr algn="l"/>
            <a:r>
              <a:rPr sz="1600">
                <a:solidFill>
                  <a:srgbClr val="E8E8E8"/>
                </a:solidFill>
                <a:latin typeface="Consolas"/>
              </a:rPr>
              <a:t>  airflow-triggerer:</a:t>
            </a:r>
          </a:p>
          <a:p>
            <a:pPr algn="l"/>
            <a:r>
              <a:rPr sz="1600">
                <a:solidFill>
                  <a:srgbClr val="E8E8E8"/>
                </a:solidFill>
                <a:latin typeface="Consolas"/>
              </a:rPr>
              <a:t>    volumes: ["./data:/opt/airflow/data"]</a:t>
            </a:r>
          </a:p>
          <a:p>
            <a:pPr algn="l"/>
            <a:r>
              <a:rPr sz="1600">
                <a:solidFill>
                  <a:srgbClr val="E8E8E8"/>
                </a:solidFill>
                <a:latin typeface="Consolas"/>
              </a:rPr>
              <a:t>  airflow-init:</a:t>
            </a:r>
          </a:p>
          <a:p>
            <a:pPr algn="l"/>
            <a:r>
              <a:rPr sz="1600">
                <a:solidFill>
                  <a:srgbClr val="E8E8E8"/>
                </a:solidFill>
                <a:latin typeface="Consolas"/>
              </a:rPr>
              <a:t>    volumes: ["./data:/opt/airflow/data"]</a:t>
            </a:r>
          </a:p>
          <a:p>
            <a:pPr algn="l"/>
            <a:r>
              <a:rPr sz="1600">
                <a:solidFill>
                  <a:srgbClr val="E8E8E8"/>
                </a:solidFill>
                <a:latin typeface="Consolas"/>
              </a:rPr>
              <a:t>EOF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Por Que Este Arquivo Não Estava no Manual Original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500">
                <a:solidFill>
                  <a:srgbClr val="004A8F"/>
                </a:solidFill>
                <a:latin typeface="Calibri"/>
              </a:rPr>
              <a:t>O problema real:  </a:t>
            </a:r>
            <a:r>
              <a:rPr sz="2500">
                <a:solidFill>
                  <a:srgbClr val="262626"/>
                </a:solidFill>
                <a:latin typeface="Calibri"/>
              </a:rPr>
              <a:t>o docker-compose.yaml oficial do Airflow só monta ./dags, ./logs, ./plugins e ./config — nunca incluiu ./data, porque o projeto genérico do Airflow não sabe que vamos ler um .csv.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500">
                <a:solidFill>
                  <a:srgbClr val="004A8F"/>
                </a:solidFill>
                <a:latin typeface="Calibri"/>
              </a:rPr>
              <a:t>Sintoma sem esse arquivo:  </a:t>
            </a:r>
            <a:r>
              <a:rPr sz="2500">
                <a:solidFill>
                  <a:srgbClr val="262626"/>
                </a:solidFill>
                <a:latin typeface="Calibri"/>
              </a:rPr>
              <a:t>a task "extract" falha com FileNotFoundError, porque /opt/airflow/data simplesmente não existe dentro do container.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500">
                <a:solidFill>
                  <a:srgbClr val="004A8F"/>
                </a:solidFill>
                <a:latin typeface="Calibri"/>
              </a:rPr>
              <a:t>Como o Compose junta os dois arquivos:  </a:t>
            </a:r>
            <a:r>
              <a:rPr sz="2500">
                <a:solidFill>
                  <a:srgbClr val="262626"/>
                </a:solidFill>
                <a:latin typeface="Calibri"/>
              </a:rPr>
              <a:t>docker compose lê docker-compose.yaml E docker-compose.override.yml automaticamente, e faz merge das listas de volumes — não precisa editar o arquivo oficial.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62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89100" y="1052900"/>
            <a:ext cx="5472000" cy="43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AMBIENTE LOCAL DE DEMONSTRAÇÃO  (professor, em aula)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Passo A1-3 — Inicializar o Banco de Metadados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63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89100" y="1052900"/>
            <a:ext cx="5472000" cy="43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AMBIENTE LOCAL DE DEMONSTRAÇÃO  (professor, em aula)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9100" y="4406900"/>
            <a:ext cx="1917065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Idêntico em WSL2 (Windows) e Linux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89100" y="6056900"/>
            <a:ext cx="19170650" cy="61732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0000" tIns="160000" rIns="150000"/>
          <a:lstStyle/>
          <a:p>
            <a:pPr algn="l"/>
            <a:r>
              <a:rPr sz="2300">
                <a:solidFill>
                  <a:srgbClr val="E8E8E8"/>
                </a:solidFill>
                <a:latin typeface="Consolas"/>
              </a:rPr>
              <a:t>docker compose up airflow-init</a:t>
            </a:r>
          </a:p>
          <a:p>
            <a:pPr algn="l"/>
            <a:r>
              <a:rPr sz="23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/>
            <a:r>
              <a:rPr sz="2300">
                <a:solidFill>
                  <a:srgbClr val="E8E8E8"/>
                </a:solidFill>
                <a:latin typeface="Consolas"/>
              </a:rPr>
              <a:t># resultado esperado: "airflow-init exited with code 0"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Passo A1-4 — Subir os Serviços do Airflow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64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89100" y="1052900"/>
            <a:ext cx="5472000" cy="43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AMBIENTE LOCAL DE DEMONSTRAÇÃO  (professor, em aula)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9100" y="4406900"/>
            <a:ext cx="1917065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Idêntico em WSL2 (Windows) e Linux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89100" y="6056900"/>
            <a:ext cx="19170650" cy="61732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0000" tIns="160000" rIns="150000"/>
          <a:lstStyle/>
          <a:p>
            <a:pPr algn="l"/>
            <a:r>
              <a:rPr sz="2100">
                <a:solidFill>
                  <a:srgbClr val="E8E8E8"/>
                </a:solidFill>
                <a:latin typeface="Consolas"/>
              </a:rPr>
              <a:t>docker compose up -d</a:t>
            </a:r>
          </a:p>
          <a:p>
            <a:pPr algn="l"/>
            <a:r>
              <a:rPr sz="21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/>
            <a:r>
              <a:rPr sz="2100">
                <a:solidFill>
                  <a:srgbClr val="E8E8E8"/>
                </a:solidFill>
                <a:latin typeface="Consolas"/>
              </a:rPr>
              <a:t>docker ps</a:t>
            </a:r>
          </a:p>
          <a:p>
            <a:pPr algn="l"/>
            <a:r>
              <a:rPr sz="2100">
                <a:solidFill>
                  <a:srgbClr val="E8E8E8"/>
                </a:solidFill>
                <a:latin typeface="Consolas"/>
              </a:rPr>
              <a:t># resultado esperado: containers com status "Up"</a:t>
            </a:r>
          </a:p>
          <a:p>
            <a:pPr algn="l"/>
            <a:r>
              <a:rPr sz="21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/>
            <a:r>
              <a:rPr sz="2100">
                <a:solidFill>
                  <a:srgbClr val="E8E8E8"/>
                </a:solidFill>
                <a:latin typeface="Consolas"/>
              </a:rPr>
              <a:t># UI disponível em: http://localhost:8080</a:t>
            </a:r>
          </a:p>
          <a:p>
            <a:pPr algn="l"/>
            <a:r>
              <a:rPr sz="2100">
                <a:solidFill>
                  <a:srgbClr val="E8E8E8"/>
                </a:solidFill>
                <a:latin typeface="Consolas"/>
              </a:rPr>
              <a:t># usuário/senha: airflow / airflow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 b="1">
                <a:solidFill>
                  <a:srgbClr val="0070C0"/>
                </a:solidFill>
                <a:latin typeface="Calibri"/>
              </a:rPr>
              <a:t>Checkpoint: Pratique Agora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65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89100" y="1052900"/>
            <a:ext cx="5472000" cy="43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AMBIENTE LOCAL DE DEMONSTRAÇÃO  (professor, em aula)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9100" y="4406900"/>
            <a:ext cx="1917065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Suba o Airflow no ambiente local (airflow-demo/) com os 4 passos acima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Acesse http://localhost:8080 e confirme o login com airflow/airflow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1689100" y="5856900"/>
            <a:ext cx="19170650" cy="6373200"/>
          </a:xfrm>
          <a:prstGeom prst="rect">
            <a:avLst/>
          </a:prstGeom>
          <a:solidFill>
            <a:srgbClr val="FAFAFA"/>
          </a:solidFill>
          <a:ln w="19050">
            <a:solidFill>
              <a:srgbClr val="B5B5B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i="1">
                <a:solidFill>
                  <a:srgbClr val="A6A6A6"/>
                </a:solidFill>
                <a:latin typeface="Calibri"/>
              </a:rPr>
              <a:t>📷  cole aqui a captura de tela do docker ps e da tela de login do Airflow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5400000"/>
            <a:ext cx="19170650" cy="2000000"/>
          </a:xfrm>
        </p:spPr>
        <p:txBody>
          <a:bodyPr wrap="square"/>
          <a:lstStyle/>
          <a:p>
            <a:pPr algn="l"/>
            <a:r>
              <a:rPr sz="4800" b="1">
                <a:solidFill>
                  <a:srgbClr val="004A8F"/>
                </a:solidFill>
                <a:latin typeface="Calibri"/>
              </a:rPr>
              <a:t>O ETL do Projeto — Onde Cada Coisa Acontece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550000"/>
            <a:ext cx="0" cy="2000000"/>
          </a:xfrm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sz="2600">
                <a:solidFill>
                  <a:srgbClr val="595959"/>
                </a:solidFill>
                <a:latin typeface="Calibri"/>
              </a:rPr>
              <a:t>O ponto que ficou confuso no Manual original: o ETL não roda na sua máquina — ele roda DENTRO de um container específico. Vamos deixar isso visual.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4750000"/>
            <a:ext cx="1917065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5AC00"/>
                </a:solidFill>
                <a:latin typeface="Calibri"/>
              </a:rPr>
              <a:t>ENTENDENDO O FLUXO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As Siglas de Hoje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500">
                <a:solidFill>
                  <a:srgbClr val="004A8F"/>
                </a:solidFill>
                <a:latin typeface="Calibri"/>
              </a:rPr>
              <a:t>ETL:  </a:t>
            </a:r>
            <a:r>
              <a:rPr sz="2500">
                <a:solidFill>
                  <a:srgbClr val="262626"/>
                </a:solidFill>
                <a:latin typeface="Calibri"/>
              </a:rPr>
              <a:t>Extract, Transform, Load (Extração, Transformação, Carga) — o padrão clássico de pipeline de dados: buscar o dado bruto, limpar/ajustar, e gravar o resultado tratado.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500">
                <a:solidFill>
                  <a:srgbClr val="004A8F"/>
                </a:solidFill>
                <a:latin typeface="Calibri"/>
              </a:rPr>
              <a:t>DAG:  </a:t>
            </a:r>
            <a:r>
              <a:rPr sz="2500">
                <a:solidFill>
                  <a:srgbClr val="262626"/>
                </a:solidFill>
                <a:latin typeface="Calibri"/>
              </a:rPr>
              <a:t>Directed Acyclic Graph (Grafo Acíclico Dirigido) — a estrutura que o Airflow usa para organizar tarefas: uma sequência de passos que só andam para frente, sem loops.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500">
                <a:solidFill>
                  <a:srgbClr val="004A8F"/>
                </a:solidFill>
                <a:latin typeface="Calibri"/>
              </a:rPr>
              <a:t>XCom:  </a:t>
            </a:r>
            <a:r>
              <a:rPr sz="2500">
                <a:solidFill>
                  <a:srgbClr val="262626"/>
                </a:solidFill>
                <a:latin typeface="Calibri"/>
              </a:rPr>
              <a:t>Cross-Communication — o mecanismo do Airflow para passar pequenos pedaços de dado de uma task para a próxima, dentro do mesmo DAG.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500">
                <a:solidFill>
                  <a:srgbClr val="004A8F"/>
                </a:solidFill>
                <a:latin typeface="Calibri"/>
              </a:rPr>
              <a:t>UI:  </a:t>
            </a:r>
            <a:r>
              <a:rPr sz="2500">
                <a:solidFill>
                  <a:srgbClr val="262626"/>
                </a:solidFill>
                <a:latin typeface="Calibri"/>
              </a:rPr>
              <a:t>User Interface (Interface do Usuário) — no nosso caso, a tela web do Airflow em localhost:8080.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67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Arquitetura do Airflow e o Fluxo do ETL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68</a:t>
            </a:r>
          </a:p>
        </p:txBody>
      </p:sp>
      <p:pic>
        <p:nvPicPr>
          <p:cNvPr id="5" name="Picture 4" descr="img_airflow_et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761" y="4406900"/>
            <a:ext cx="13981327" cy="78232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>
                <a:solidFill>
                  <a:srgbClr val="0070C0"/>
                </a:solidFill>
                <a:latin typeface="Calibri"/>
              </a:rPr>
              <a:t>O DAG Completo, Explicado ao Lado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3980000"/>
            <a:ext cx="1917065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i="1">
                <a:solidFill>
                  <a:srgbClr val="595959"/>
                </a:solidFill>
                <a:latin typeface="Calibri"/>
              </a:rPr>
              <a:t>dag_ingestao_bo.py — roda dentro do container airflow-worker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9100" y="4480000"/>
            <a:ext cx="9455325" cy="34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dag_ingestao_bo.py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04425" y="4480000"/>
            <a:ext cx="9455325" cy="340000"/>
          </a:xfrm>
          <a:prstGeom prst="roundRect">
            <a:avLst>
              <a:gd name="adj" fmla="val 50000"/>
            </a:avLst>
          </a:prstGeom>
          <a:solidFill>
            <a:srgbClr val="F5A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 Que Cada Parte Faz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89100" y="4870000"/>
            <a:ext cx="9455325" cy="73601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89100" y="4870000"/>
            <a:ext cx="9455325" cy="400000"/>
          </a:xfrm>
          <a:prstGeom prst="roundRect">
            <a:avLst>
              <a:gd name="adj" fmla="val 22000"/>
            </a:avLst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9100" y="5070000"/>
            <a:ext cx="9455325" cy="200000"/>
          </a:xfrm>
          <a:prstGeom prst="rect">
            <a:avLst/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69100" y="5000000"/>
            <a:ext cx="130000" cy="13000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109100" y="5000000"/>
            <a:ext cx="130000" cy="13000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49100" y="5000000"/>
            <a:ext cx="130000" cy="13000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89100" y="4945000"/>
            <a:ext cx="9455325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595959"/>
                </a:solidFill>
                <a:latin typeface="Consolas"/>
              </a:rPr>
              <a:t>dag_ingestao_bo.py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69100" y="5380000"/>
            <a:ext cx="9115325" cy="6810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F5AC00"/>
                </a:solidFill>
                <a:latin typeface="Consolas"/>
              </a:rPr>
              <a:t>from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 airflow </a:t>
            </a:r>
            <a:r>
              <a:rPr sz="1050" b="1" i="0">
                <a:solidFill>
                  <a:srgbClr val="F5AC00"/>
                </a:solidFill>
                <a:latin typeface="Consolas"/>
              </a:rPr>
              <a:t>import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 DAG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F5AC00"/>
                </a:solidFill>
                <a:latin typeface="Consolas"/>
              </a:rPr>
              <a:t>from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 airflow.operators.python </a:t>
            </a:r>
            <a:r>
              <a:rPr sz="1050" b="1" i="0">
                <a:solidFill>
                  <a:srgbClr val="F5AC00"/>
                </a:solidFill>
                <a:latin typeface="Consolas"/>
              </a:rPr>
              <a:t>import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 PythonOperator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F5AC00"/>
                </a:solidFill>
                <a:latin typeface="Consolas"/>
              </a:rPr>
              <a:t>from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 datetime </a:t>
            </a:r>
            <a:r>
              <a:rPr sz="1050" b="1" i="0">
                <a:solidFill>
                  <a:srgbClr val="F5AC00"/>
                </a:solidFill>
                <a:latin typeface="Consolas"/>
              </a:rPr>
              <a:t>import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 datetime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F5AC00"/>
                </a:solidFill>
                <a:latin typeface="Consolas"/>
              </a:rPr>
              <a:t>import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 pandas </a:t>
            </a:r>
            <a:r>
              <a:rPr sz="1050" b="1" i="0">
                <a:solidFill>
                  <a:srgbClr val="F5AC00"/>
                </a:solidFill>
                <a:latin typeface="Consolas"/>
              </a:rPr>
              <a:t>as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 pd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F5AC00"/>
                </a:solidFill>
                <a:latin typeface="Consolas"/>
              </a:rPr>
              <a:t>def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 extract(**kw):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df = pd.read_csv(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    </a:t>
            </a:r>
            <a:r>
              <a:rPr sz="1050" b="0" i="0">
                <a:solidFill>
                  <a:srgbClr val="2E7D32"/>
                </a:solidFill>
                <a:latin typeface="Consolas"/>
              </a:rPr>
              <a:t>"/opt/airflow/data/bos_sinteticos.csv"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kw[</a:t>
            </a:r>
            <a:r>
              <a:rPr sz="1050" b="0" i="0">
                <a:solidFill>
                  <a:srgbClr val="2E7D32"/>
                </a:solidFill>
                <a:latin typeface="Consolas"/>
              </a:rPr>
              <a:t>"ti"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].xcom_push(key=</a:t>
            </a:r>
            <a:r>
              <a:rPr sz="1050" b="0" i="0">
                <a:solidFill>
                  <a:srgbClr val="2E7D32"/>
                </a:solidFill>
                <a:latin typeface="Consolas"/>
              </a:rPr>
              <a:t>"raw"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,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                    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value=df.to_json())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F5AC00"/>
                </a:solidFill>
                <a:latin typeface="Consolas"/>
              </a:rPr>
              <a:t>def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 clean(**kw):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raw = kw[</a:t>
            </a:r>
            <a:r>
              <a:rPr sz="1050" b="0" i="0">
                <a:solidFill>
                  <a:srgbClr val="2E7D32"/>
                </a:solidFill>
                <a:latin typeface="Consolas"/>
              </a:rPr>
              <a:t>"ti"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].xcom_pull(key=</a:t>
            </a:r>
            <a:r>
              <a:rPr sz="1050" b="0" i="0">
                <a:solidFill>
                  <a:srgbClr val="2E7D32"/>
                </a:solidFill>
                <a:latin typeface="Consolas"/>
              </a:rPr>
              <a:t>"raw"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df = pd.read_json(raw)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df[</a:t>
            </a:r>
            <a:r>
              <a:rPr sz="1050" b="0" i="0">
                <a:solidFill>
                  <a:srgbClr val="2E7D32"/>
                </a:solidFill>
                <a:latin typeface="Consolas"/>
              </a:rPr>
              <a:t>"texto_relato"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] = (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    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df[</a:t>
            </a:r>
            <a:r>
              <a:rPr sz="1050" b="0" i="0">
                <a:solidFill>
                  <a:srgbClr val="2E7D32"/>
                </a:solidFill>
                <a:latin typeface="Consolas"/>
              </a:rPr>
              <a:t>"texto_relato"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].str.lower().str.strip())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kw[</a:t>
            </a:r>
            <a:r>
              <a:rPr sz="1050" b="0" i="0">
                <a:solidFill>
                  <a:srgbClr val="2E7D32"/>
                </a:solidFill>
                <a:latin typeface="Consolas"/>
              </a:rPr>
              <a:t>"ti"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].xcom_push(key=</a:t>
            </a:r>
            <a:r>
              <a:rPr sz="1050" b="0" i="0">
                <a:solidFill>
                  <a:srgbClr val="2E7D32"/>
                </a:solidFill>
                <a:latin typeface="Consolas"/>
              </a:rPr>
              <a:t>"clean"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,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                    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value=df.to_json())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F5AC00"/>
                </a:solidFill>
                <a:latin typeface="Consolas"/>
              </a:rPr>
              <a:t>def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 load(**kw):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clean_data = kw[</a:t>
            </a:r>
            <a:r>
              <a:rPr sz="1050" b="0" i="0">
                <a:solidFill>
                  <a:srgbClr val="2E7D32"/>
                </a:solidFill>
                <a:latin typeface="Consolas"/>
              </a:rPr>
              <a:t>"ti"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].xcom_pull(key=</a:t>
            </a:r>
            <a:r>
              <a:rPr sz="1050" b="0" i="0">
                <a:solidFill>
                  <a:srgbClr val="2E7D32"/>
                </a:solidFill>
                <a:latin typeface="Consolas"/>
              </a:rPr>
              <a:t>"clean"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df = pd.read_json(clean_data)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df.to_csv(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    </a:t>
            </a:r>
            <a:r>
              <a:rPr sz="1050" b="0" i="0">
                <a:solidFill>
                  <a:srgbClr val="2E7D32"/>
                </a:solidFill>
                <a:latin typeface="Consolas"/>
              </a:rPr>
              <a:t>"/opt/airflow/data/bos_tratados.csv"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,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    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index=</a:t>
            </a:r>
            <a:r>
              <a:rPr sz="1050" b="1" i="0">
                <a:solidFill>
                  <a:srgbClr val="F5AC00"/>
                </a:solidFill>
                <a:latin typeface="Consolas"/>
              </a:rPr>
              <a:t>False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F5AC00"/>
                </a:solidFill>
                <a:latin typeface="Consolas"/>
              </a:rPr>
              <a:t>with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 DAG(</a:t>
            </a:r>
            <a:r>
              <a:rPr sz="1050" b="0" i="0">
                <a:solidFill>
                  <a:srgbClr val="2E7D32"/>
                </a:solidFill>
                <a:latin typeface="Consolas"/>
              </a:rPr>
              <a:t>"ingestao_bo_pcdf"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,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     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start_date=datetime(2026, 1, 1),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     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schedule=</a:t>
            </a:r>
            <a:r>
              <a:rPr sz="1050" b="1" i="0">
                <a:solidFill>
                  <a:srgbClr val="F5AC00"/>
                </a:solidFill>
                <a:latin typeface="Consolas"/>
              </a:rPr>
              <a:t>None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, catchup=</a:t>
            </a:r>
            <a:r>
              <a:rPr sz="1050" b="1" i="0">
                <a:solidFill>
                  <a:srgbClr val="F5AC00"/>
                </a:solidFill>
                <a:latin typeface="Consolas"/>
              </a:rPr>
              <a:t>False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) </a:t>
            </a:r>
            <a:r>
              <a:rPr sz="1050" b="1" i="0">
                <a:solidFill>
                  <a:srgbClr val="F5AC00"/>
                </a:solidFill>
                <a:latin typeface="Consolas"/>
              </a:rPr>
              <a:t>as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 dag: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t1 = PythonOperator(task_id=</a:t>
            </a:r>
            <a:r>
              <a:rPr sz="1050" b="0" i="0">
                <a:solidFill>
                  <a:srgbClr val="2E7D32"/>
                </a:solidFill>
                <a:latin typeface="Consolas"/>
              </a:rPr>
              <a:t>"extract"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,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                     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python_callable=extract)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t2 = PythonOperator(task_id=</a:t>
            </a:r>
            <a:r>
              <a:rPr sz="1050" b="0" i="0">
                <a:solidFill>
                  <a:srgbClr val="2E7D32"/>
                </a:solidFill>
                <a:latin typeface="Consolas"/>
              </a:rPr>
              <a:t>"clean"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,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                     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python_callable=clean)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t3 = PythonOperator(task_id=</a:t>
            </a:r>
            <a:r>
              <a:rPr sz="1050" b="0" i="0">
                <a:solidFill>
                  <a:srgbClr val="2E7D32"/>
                </a:solidFill>
                <a:latin typeface="Consolas"/>
              </a:rPr>
              <a:t>"load"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,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                     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python_callable=load)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t1 &gt;&gt; t2 &gt;&gt; t3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04425" y="4870000"/>
            <a:ext cx="9455325" cy="7360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b="1" sz="1700">
                <a:solidFill>
                  <a:srgbClr val="004A8F"/>
                </a:solidFill>
                <a:latin typeface="Calibri"/>
              </a:rPr>
              <a:t>extract (E):  </a:t>
            </a:r>
            <a:r>
              <a:rPr sz="1700">
                <a:solidFill>
                  <a:srgbClr val="262626"/>
                </a:solidFill>
                <a:latin typeface="Calibri"/>
              </a:rPr>
              <a:t>lê o .csv bruto do volume montado e guarda no XCom, para a próxima task usar.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b="1" sz="1700">
                <a:solidFill>
                  <a:srgbClr val="004A8F"/>
                </a:solidFill>
                <a:latin typeface="Calibri"/>
              </a:rPr>
              <a:t>clean (T):  </a:t>
            </a:r>
            <a:r>
              <a:rPr sz="1700">
                <a:solidFill>
                  <a:srgbClr val="262626"/>
                </a:solidFill>
                <a:latin typeface="Calibri"/>
              </a:rPr>
              <a:t>puxa do XCom, normaliza o texto (minúsculas + sem espaços nas pontas), guarda de novo no XCom.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b="1" sz="1700">
                <a:solidFill>
                  <a:srgbClr val="004A8F"/>
                </a:solidFill>
                <a:latin typeface="Calibri"/>
              </a:rPr>
              <a:t>load (L):  </a:t>
            </a:r>
            <a:r>
              <a:rPr sz="1700">
                <a:solidFill>
                  <a:srgbClr val="262626"/>
                </a:solidFill>
                <a:latin typeface="Calibri"/>
              </a:rPr>
              <a:t>puxa o resultado limpo e grava o .csv final — este SIM some do container, porque ./data é um volume.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b="1" sz="1700">
                <a:solidFill>
                  <a:srgbClr val="004A8F"/>
                </a:solidFill>
                <a:latin typeface="Calibri"/>
              </a:rPr>
              <a:t>t1 &gt;&gt; t2 &gt;&gt; t3:  </a:t>
            </a:r>
            <a:r>
              <a:rPr sz="1700">
                <a:solidFill>
                  <a:srgbClr val="262626"/>
                </a:solidFill>
                <a:latin typeface="Calibri"/>
              </a:rPr>
              <a:t>define a ordem do DAG: extract roda, DEPOIS clean, DEPOIS load — nunca em paralelo, nunca fora de ordem.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b="1" sz="1700">
                <a:solidFill>
                  <a:srgbClr val="004A8F"/>
                </a:solidFill>
                <a:latin typeface="Calibri"/>
              </a:rPr>
              <a:t>Onde isso roda:  </a:t>
            </a:r>
            <a:r>
              <a:rPr sz="1700">
                <a:solidFill>
                  <a:srgbClr val="262626"/>
                </a:solidFill>
                <a:latin typeface="Calibri"/>
              </a:rPr>
              <a:t>tudo dentro do container airflow-worker — nunca na sua máquina diretamente.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Mapa do ETL — Tarefa, Sigla e Local de Execução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70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89100" y="4406900"/>
          <a:ext cx="21870000" cy="3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0000"/>
                <a:gridCol w="5000000"/>
                <a:gridCol w="6500000"/>
                <a:gridCol w="6870000"/>
              </a:tblGrid>
              <a:tr h="825000">
                <a:tc>
                  <a:txBody>
                    <a:bodyPr/>
                    <a:lstStyle/>
                    <a:p>
                      <a:r>
                        <a:rPr b="1" sz="2000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anchor="ctr"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2000">
                          <a:solidFill>
                            <a:srgbClr val="FFFFFF"/>
                          </a:solidFill>
                          <a:latin typeface="Calibri"/>
                        </a:rPr>
                        <a:t>Etapa do ETL</a:t>
                      </a:r>
                    </a:p>
                  </a:txBody>
                  <a:tcPr anchor="ctr"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2000">
                          <a:solidFill>
                            <a:srgbClr val="FFFFFF"/>
                          </a:solidFill>
                          <a:latin typeface="Calibri"/>
                        </a:rPr>
                        <a:t>Onde Roda</a:t>
                      </a:r>
                    </a:p>
                  </a:txBody>
                  <a:tcPr anchor="ctr"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2000">
                          <a:solidFill>
                            <a:srgbClr val="FFFFFF"/>
                          </a:solidFill>
                          <a:latin typeface="Calibri"/>
                        </a:rPr>
                        <a:t>Arquivo</a:t>
                      </a:r>
                    </a:p>
                  </a:txBody>
                  <a:tcPr anchor="ctr">
                    <a:solidFill>
                      <a:srgbClr val="004A8F"/>
                    </a:solidFill>
                  </a:tcPr>
                </a:tc>
              </a:tr>
              <a:tr h="825000"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262626"/>
                          </a:solidFill>
                          <a:latin typeface="Consolas"/>
                        </a:rPr>
                        <a:t>extract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262626"/>
                          </a:solidFill>
                          <a:latin typeface="Calibri"/>
                        </a:rPr>
                        <a:t>E — Extract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262626"/>
                          </a:solidFill>
                          <a:latin typeface="Calibri"/>
                        </a:rPr>
                        <a:t>container airflow-worker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262626"/>
                          </a:solidFill>
                          <a:latin typeface="Calibri"/>
                        </a:rPr>
                        <a:t>lê bos_sinteticos.csv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25000"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262626"/>
                          </a:solidFill>
                          <a:latin typeface="Consolas"/>
                        </a:rPr>
                        <a:t>clean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262626"/>
                          </a:solidFill>
                          <a:latin typeface="Calibri"/>
                        </a:rPr>
                        <a:t>T — Transform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262626"/>
                          </a:solidFill>
                          <a:latin typeface="Calibri"/>
                        </a:rPr>
                        <a:t>container airflow-worker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262626"/>
                          </a:solidFill>
                          <a:latin typeface="Calibri"/>
                        </a:rPr>
                        <a:t>usa XCom (em memória)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825000"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262626"/>
                          </a:solidFill>
                          <a:latin typeface="Consolas"/>
                        </a:rPr>
                        <a:t>load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262626"/>
                          </a:solidFill>
                          <a:latin typeface="Calibri"/>
                        </a:rPr>
                        <a:t>L — Load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262626"/>
                          </a:solidFill>
                          <a:latin typeface="Calibri"/>
                        </a:rPr>
                        <a:t>container airflow-worker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262626"/>
                          </a:solidFill>
                          <a:latin typeface="Calibri"/>
                        </a:rPr>
                        <a:t>grava bos_tratados.csv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Por Dentro do extract() — Linha por Linha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b="1" sz="2200">
                <a:solidFill>
                  <a:srgbClr val="004A8F"/>
                </a:solidFill>
                <a:latin typeface="Calibri"/>
              </a:rPr>
              <a:t>df = pd.read_csv("/opt/airflow/data/bos_sinteticos.csv"):  </a:t>
            </a:r>
            <a:r>
              <a:rPr sz="2200">
                <a:solidFill>
                  <a:srgbClr val="262626"/>
                </a:solidFill>
                <a:latin typeface="Calibri"/>
              </a:rPr>
              <a:t>lê o CSV bruto (dados fictícios de BOs) que está no volume montado — pandas carrega isso como um DataFrame, uma tabela em memória.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b="1" sz="2200">
                <a:solidFill>
                  <a:srgbClr val="004A8F"/>
                </a:solidFill>
                <a:latin typeface="Calibri"/>
              </a:rPr>
              <a:t>kw["ti"]:  </a:t>
            </a:r>
            <a:r>
              <a:rPr sz="2200">
                <a:solidFill>
                  <a:srgbClr val="262626"/>
                </a:solidFill>
                <a:latin typeface="Calibri"/>
              </a:rPr>
              <a:t>"ti" = task instance — um objeto com informações da execução ATUAL, que o Airflow injeta sozinho em toda função de task (por isso **kw no def).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b="1" sz="2200">
                <a:solidFill>
                  <a:srgbClr val="004A8F"/>
                </a:solidFill>
                <a:latin typeface="Calibri"/>
              </a:rPr>
              <a:t>df.to_json():  </a:t>
            </a:r>
            <a:r>
              <a:rPr sz="2200">
                <a:solidFill>
                  <a:srgbClr val="262626"/>
                </a:solidFill>
                <a:latin typeface="Calibri"/>
              </a:rPr>
              <a:t>serializa o DataFrame inteiro para uma string JSON — o XCom só guarda coisas pequenas e serializáveis, não objetos Python complexos como um DataFrame.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b="1" sz="2200">
                <a:solidFill>
                  <a:srgbClr val="004A8F"/>
                </a:solidFill>
                <a:latin typeface="Calibri"/>
              </a:rPr>
              <a:t>xcom_push(key="raw", value=...):  </a:t>
            </a:r>
            <a:r>
              <a:rPr sz="2200">
                <a:solidFill>
                  <a:srgbClr val="262626"/>
                </a:solidFill>
                <a:latin typeface="Calibri"/>
              </a:rPr>
              <a:t>grava essa string no XCom, com a chave "raw" — é assim que a próxima task (clean) vai conseguir buscar esse dado.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Por Dentro do clean() — Linha por Linha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b="1" sz="2200">
                <a:solidFill>
                  <a:srgbClr val="004A8F"/>
                </a:solidFill>
                <a:latin typeface="Calibri"/>
              </a:rPr>
              <a:t>raw = kw["ti"].xcom_pull(key="raw"):  </a:t>
            </a:r>
            <a:r>
              <a:rPr sz="2200">
                <a:solidFill>
                  <a:srgbClr val="262626"/>
                </a:solidFill>
                <a:latin typeface="Calibri"/>
              </a:rPr>
              <a:t>busca de volta o valor salvo pela task extract, usando a MESMA chave "raw" — é assim que uma task "conversa" com a anterior.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b="1" sz="2200">
                <a:solidFill>
                  <a:srgbClr val="004A8F"/>
                </a:solidFill>
                <a:latin typeface="Calibri"/>
              </a:rPr>
              <a:t>df = pd.read_json(raw):  </a:t>
            </a:r>
            <a:r>
              <a:rPr sz="2200">
                <a:solidFill>
                  <a:srgbClr val="262626"/>
                </a:solidFill>
                <a:latin typeface="Calibri"/>
              </a:rPr>
              <a:t>desserializa a string JSON de volta para um DataFrame do pandas — o caminho inverso do to_json() de antes.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b="1" sz="2200">
                <a:solidFill>
                  <a:srgbClr val="004A8F"/>
                </a:solidFill>
                <a:latin typeface="Calibri"/>
              </a:rPr>
              <a:t>df["texto_relato"].str.lower().str.strip():  </a:t>
            </a:r>
            <a:r>
              <a:rPr sz="2200">
                <a:solidFill>
                  <a:srgbClr val="262626"/>
                </a:solidFill>
                <a:latin typeface="Calibri"/>
              </a:rPr>
              <a:t>.str.lower() converte todo o texto para minúsculas; .str.strip() remove espaços em branco no início/fim — normalização clássica de texto antes de qualquer análise.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b="1" sz="2200">
                <a:solidFill>
                  <a:srgbClr val="004A8F"/>
                </a:solidFill>
                <a:latin typeface="Calibri"/>
              </a:rPr>
              <a:t>xcom_push(key="clean", value=...):  </a:t>
            </a:r>
            <a:r>
              <a:rPr sz="2200">
                <a:solidFill>
                  <a:srgbClr val="262626"/>
                </a:solidFill>
                <a:latin typeface="Calibri"/>
              </a:rPr>
              <a:t>salva o resultado já limpo no XCom, com uma chave NOVA ("clean", diferente de "raw") — para a task load buscar a versão certa.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72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Por Dentro do load() — Linha por Linha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b="1" sz="2200">
                <a:solidFill>
                  <a:srgbClr val="004A8F"/>
                </a:solidFill>
                <a:latin typeface="Calibri"/>
              </a:rPr>
              <a:t>clean_data = kw["ti"].xcom_pull(key="clean"):  </a:t>
            </a:r>
            <a:r>
              <a:rPr sz="2200">
                <a:solidFill>
                  <a:srgbClr val="262626"/>
                </a:solidFill>
                <a:latin typeface="Calibri"/>
              </a:rPr>
              <a:t>busca o dado já limpo, salvo pela task clean — de novo, usando a chave certa ("clean").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b="1" sz="2200">
                <a:solidFill>
                  <a:srgbClr val="004A8F"/>
                </a:solidFill>
                <a:latin typeface="Calibri"/>
              </a:rPr>
              <a:t>df = pd.read_json(clean_data):  </a:t>
            </a:r>
            <a:r>
              <a:rPr sz="2200">
                <a:solidFill>
                  <a:srgbClr val="262626"/>
                </a:solidFill>
                <a:latin typeface="Calibri"/>
              </a:rPr>
              <a:t>desserializa de volta para DataFrame — mesma lógica do clean().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b="1" sz="2200">
                <a:solidFill>
                  <a:srgbClr val="004A8F"/>
                </a:solidFill>
                <a:latin typeface="Calibri"/>
              </a:rPr>
              <a:t>df.to_csv("/opt/airflow/data/bos_tratados.csv", index=False):  </a:t>
            </a:r>
            <a:r>
              <a:rPr sz="2200">
                <a:solidFill>
                  <a:srgbClr val="262626"/>
                </a:solidFill>
                <a:latin typeface="Calibri"/>
              </a:rPr>
              <a:t>grava o resultado final como um NOVO arquivo CSV, na mesma pasta montada — este é o arquivo que "sobrevive" fora do container, porque ./data é volume.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b="1" sz="2200">
                <a:solidFill>
                  <a:srgbClr val="004A8F"/>
                </a:solidFill>
                <a:latin typeface="Calibri"/>
              </a:rPr>
              <a:t>index=False:  </a:t>
            </a:r>
            <a:r>
              <a:rPr sz="2200">
                <a:solidFill>
                  <a:srgbClr val="262626"/>
                </a:solidFill>
                <a:latin typeface="Calibri"/>
              </a:rPr>
              <a:t>evita escrever a coluna de índice numérico do pandas (0, 1, 2...) dentro do CSV — sem isso, o arquivo ganharia uma coluna extra sem sentido.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73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Por Dentro da Definição do DAG — Linha por Linha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b="1" sz="2200">
                <a:solidFill>
                  <a:srgbClr val="004A8F"/>
                </a:solidFill>
                <a:latin typeface="Calibri"/>
              </a:rPr>
              <a:t>with DAG("ingestao_bo_pcdf", ...) as dag::  </a:t>
            </a:r>
            <a:r>
              <a:rPr sz="2200">
                <a:solidFill>
                  <a:srgbClr val="262626"/>
                </a:solidFill>
                <a:latin typeface="Calibri"/>
              </a:rPr>
              <a:t>cria o DAG com um nome único (é esse nome que aparece na UI do Airflow) — tudo dentro do "with" pertence a esse DAG.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b="1" sz="2200">
                <a:solidFill>
                  <a:srgbClr val="004A8F"/>
                </a:solidFill>
                <a:latin typeface="Calibri"/>
              </a:rPr>
              <a:t>schedule=None:  </a:t>
            </a:r>
            <a:r>
              <a:rPr sz="2200">
                <a:solidFill>
                  <a:srgbClr val="262626"/>
                </a:solidFill>
                <a:latin typeface="Calibri"/>
              </a:rPr>
              <a:t>o DAG NÃO tem agendamento automático — só roda quando alguém dispara manualmente na UI (o que faremos no Passo A5-3).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b="1" sz="2200">
                <a:solidFill>
                  <a:srgbClr val="004A8F"/>
                </a:solidFill>
                <a:latin typeface="Calibri"/>
              </a:rPr>
              <a:t>catchup=False:  </a:t>
            </a:r>
            <a:r>
              <a:rPr sz="2200">
                <a:solidFill>
                  <a:srgbClr val="262626"/>
                </a:solidFill>
                <a:latin typeface="Calibri"/>
              </a:rPr>
              <a:t>evita que o Airflow tente rodar execuções "atrasadas" retroativas, contando desde o start_date — sem isso, ele tentaria recuperar dias que nunca rodaram.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b="1" sz="2200">
                <a:solidFill>
                  <a:srgbClr val="004A8F"/>
                </a:solidFill>
                <a:latin typeface="Calibri"/>
              </a:rPr>
              <a:t>PythonOperator(task_id="extract", python_callable=extract):  </a:t>
            </a:r>
            <a:r>
              <a:rPr sz="2200">
                <a:solidFill>
                  <a:srgbClr val="262626"/>
                </a:solidFill>
                <a:latin typeface="Calibri"/>
              </a:rPr>
              <a:t>cria uma task que executa uma função Python específica — task_id é o nome que aparece na UI, python_callable é a função de fato chamada.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b="1" sz="2200">
                <a:solidFill>
                  <a:srgbClr val="004A8F"/>
                </a:solidFill>
                <a:latin typeface="Calibri"/>
              </a:rPr>
              <a:t>t1 &gt;&gt; t2 &gt;&gt; t3:  </a:t>
            </a:r>
            <a:r>
              <a:rPr sz="2200">
                <a:solidFill>
                  <a:srgbClr val="262626"/>
                </a:solidFill>
                <a:latin typeface="Calibri"/>
              </a:rPr>
              <a:t>operador do Airflow que define a ORDEM de execução: t1 antes de t2, antes de t3 — é isso que desenha as setas do grafo (DAG) que você vê na UI.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5400000"/>
            <a:ext cx="19170650" cy="2000000"/>
          </a:xfrm>
        </p:spPr>
        <p:txBody>
          <a:bodyPr wrap="square"/>
          <a:lstStyle/>
          <a:p>
            <a:pPr algn="l"/>
            <a:r>
              <a:rPr sz="4800" b="1">
                <a:solidFill>
                  <a:srgbClr val="004A8F"/>
                </a:solidFill>
                <a:latin typeface="Calibri"/>
              </a:rPr>
              <a:t>Rodando o DAG no Ambiente Local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550000"/>
            <a:ext cx="0" cy="2000000"/>
          </a:xfrm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sz="2600">
                <a:solidFill>
                  <a:srgbClr val="595959"/>
                </a:solidFill>
                <a:latin typeface="Calibri"/>
              </a:rPr>
              <a:t>Primeiro no airflow-demo/ (Ambiente Local de Demonstração) — depois replicamos no seu projeto PCDF.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4750000"/>
            <a:ext cx="1917065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5AC00"/>
                </a:solidFill>
                <a:latin typeface="Calibri"/>
              </a:rPr>
              <a:t>CONSTRUÇÃO — PARTE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75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Passo A2-1/A2-2 — Copiar o DAG e o 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76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89100" y="1052900"/>
            <a:ext cx="5472000" cy="43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AMBIENTE LOCAL DE DEMONSTRAÇÃO  (professor, em aula)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9100" y="4406900"/>
            <a:ext cx="1917065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Idêntico em WSL2 (Windows) e Linux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89100" y="6056900"/>
            <a:ext cx="19170650" cy="61732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0000" tIns="160000" rIns="150000"/>
          <a:lstStyle/>
          <a:p>
            <a:pPr algn="l"/>
            <a:r>
              <a:rPr sz="2100">
                <a:solidFill>
                  <a:srgbClr val="E8E8E8"/>
                </a:solidFill>
                <a:latin typeface="Consolas"/>
              </a:rPr>
              <a:t>cp caminho/para/bos_sinteticos.csv ./data/</a:t>
            </a:r>
          </a:p>
          <a:p>
            <a:pPr algn="l"/>
            <a:r>
              <a:rPr sz="2100">
                <a:solidFill>
                  <a:srgbClr val="E8E8E8"/>
                </a:solidFill>
                <a:latin typeface="Consolas"/>
              </a:rPr>
              <a:t>cp caminho/para/dag_ingestao_bo.py ./dags/</a:t>
            </a:r>
          </a:p>
          <a:p>
            <a:pPr algn="l"/>
            <a:r>
              <a:rPr sz="21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/>
            <a:r>
              <a:rPr sz="2100">
                <a:solidFill>
                  <a:srgbClr val="E8E8E8"/>
                </a:solidFill>
                <a:latin typeface="Consolas"/>
              </a:rPr>
              <a:t># o Airflow detecta arquivos novos em ./dags/ automaticamente,</a:t>
            </a:r>
          </a:p>
          <a:p>
            <a:pPr algn="l"/>
            <a:r>
              <a:rPr sz="2100">
                <a:solidFill>
                  <a:srgbClr val="E8E8E8"/>
                </a:solidFill>
                <a:latin typeface="Consolas"/>
              </a:rPr>
              <a:t># em até 1 minuto (scheduler faz o scan periódico)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Passo A2-3/A2-4 — Localizar, Ativar e Disparar o DAG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b="1" sz="2700">
                <a:solidFill>
                  <a:srgbClr val="004A8F"/>
                </a:solidFill>
                <a:latin typeface="Calibri"/>
              </a:rPr>
              <a:t>Onde:  </a:t>
            </a:r>
            <a:r>
              <a:rPr sz="2700">
                <a:solidFill>
                  <a:srgbClr val="262626"/>
                </a:solidFill>
                <a:latin typeface="Calibri"/>
              </a:rPr>
              <a:t>http://localhost:8080 → procure "ingestao_bo_pcdf" na lista de DAGs.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b="1" sz="2700">
                <a:solidFill>
                  <a:srgbClr val="004A8F"/>
                </a:solidFill>
                <a:latin typeface="Calibri"/>
              </a:rPr>
              <a:t>Ativar (unpause):  </a:t>
            </a:r>
            <a:r>
              <a:rPr sz="2700">
                <a:solidFill>
                  <a:srgbClr val="262626"/>
                </a:solidFill>
                <a:latin typeface="Calibri"/>
              </a:rPr>
              <a:t>clique no botão de toggle ao lado do nome do DAG — de cinza para azul.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b="1" sz="2700">
                <a:solidFill>
                  <a:srgbClr val="004A8F"/>
                </a:solidFill>
                <a:latin typeface="Calibri"/>
              </a:rPr>
              <a:t>Disparar (trigger):  </a:t>
            </a:r>
            <a:r>
              <a:rPr sz="2700">
                <a:solidFill>
                  <a:srgbClr val="262626"/>
                </a:solidFill>
                <a:latin typeface="Calibri"/>
              </a:rPr>
              <a:t>clique no ícone de "play" (▶) à direita, na coluna Actions.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b="1" sz="2700">
                <a:solidFill>
                  <a:srgbClr val="004A8F"/>
                </a:solidFill>
                <a:latin typeface="Calibri"/>
              </a:rPr>
              <a:t>Resultado esperado:  </a:t>
            </a:r>
            <a:r>
              <a:rPr sz="2700">
                <a:solidFill>
                  <a:srgbClr val="262626"/>
                </a:solidFill>
                <a:latin typeface="Calibri"/>
              </a:rPr>
              <a:t>as 3 tasks (extract, clean, load) ficam verdes (success), uma após a outra.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77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89100" y="1052900"/>
            <a:ext cx="5472000" cy="43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AMBIENTE LOCAL DE DEMONSTRAÇÃO  (professor, em aula)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 b="1">
                <a:solidFill>
                  <a:srgbClr val="0070C0"/>
                </a:solidFill>
                <a:latin typeface="Calibri"/>
              </a:rPr>
              <a:t>Checkpoint: Pratique Agora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78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89100" y="1052900"/>
            <a:ext cx="5472000" cy="43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AMBIENTE LOCAL DE DEMONSTRAÇÃO  (professor, em aula)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9100" y="4406900"/>
            <a:ext cx="1917065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Ative e dispare o DAG ingestao_bo_pcdf no ambiente local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Confirme as 3 tasks verdes e o arquivo ./data/bos_tratados.csv criado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1689100" y="5856900"/>
            <a:ext cx="19170650" cy="6373200"/>
          </a:xfrm>
          <a:prstGeom prst="rect">
            <a:avLst/>
          </a:prstGeom>
          <a:solidFill>
            <a:srgbClr val="FAFAFA"/>
          </a:solidFill>
          <a:ln w="19050">
            <a:solidFill>
              <a:srgbClr val="B5B5B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i="1">
                <a:solidFill>
                  <a:srgbClr val="A6A6A6"/>
                </a:solidFill>
                <a:latin typeface="Calibri"/>
              </a:rPr>
              <a:t>📷  cole aqui a captura de tela das 3 tasks verdes na UI do Airflow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Agora Sim: Replicando no SEU Projeto PCDF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500">
                <a:solidFill>
                  <a:srgbClr val="004A8F"/>
                </a:solidFill>
                <a:latin typeface="Calibri"/>
              </a:rPr>
              <a:t>O que muda:  </a:t>
            </a:r>
            <a:r>
              <a:rPr sz="2500">
                <a:solidFill>
                  <a:srgbClr val="262626"/>
                </a:solidFill>
                <a:latin typeface="Calibri"/>
              </a:rPr>
              <a:t>nada no código — só o local: em vez de airflow-demo/, os arquivos vão para airflow/dags/ e airflow/data/ dentro do repositório real do projeto.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500">
                <a:solidFill>
                  <a:srgbClr val="004A8F"/>
                </a:solidFill>
                <a:latin typeface="Calibri"/>
              </a:rPr>
              <a:t>Antes de copiar:  </a:t>
            </a:r>
            <a:r>
              <a:rPr sz="2500">
                <a:solidFill>
                  <a:srgbClr val="262626"/>
                </a:solidFill>
                <a:latin typeface="Calibri"/>
              </a:rPr>
              <a:t>confirme que a pasta airflow/ existe no seu projeto (Passo A2-3 do Manual da Aula 01) — se não existir, crie antes de continuar.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500">
                <a:solidFill>
                  <a:srgbClr val="004A8F"/>
                </a:solidFill>
                <a:latin typeface="Calibri"/>
              </a:rPr>
              <a:t>Commit:  </a:t>
            </a:r>
            <a:r>
              <a:rPr sz="2500">
                <a:solidFill>
                  <a:srgbClr val="262626"/>
                </a:solidFill>
                <a:latin typeface="Calibri"/>
              </a:rPr>
              <a:t>git add airflow/ → git commit -m "airflow: dag de ingestão e limpeza dos bos" → git push.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500">
                <a:solidFill>
                  <a:srgbClr val="004A8F"/>
                </a:solidFill>
                <a:latin typeface="Calibri"/>
              </a:rPr>
              <a:t>Evidência:  </a:t>
            </a:r>
            <a:r>
              <a:rPr sz="2500">
                <a:solidFill>
                  <a:srgbClr val="262626"/>
                </a:solidFill>
                <a:latin typeface="Calibri"/>
              </a:rPr>
              <a:t>print da UI com as 3 tasks verdes, tirado NO SEU PROJETO — não no ambiente de testes — é o que compõe a Entrega.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79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89100" y="1052900"/>
            <a:ext cx="6048000" cy="430000"/>
          </a:xfrm>
          <a:prstGeom prst="roundRect">
            <a:avLst>
              <a:gd name="adj" fmla="val 50000"/>
            </a:avLst>
          </a:prstGeom>
          <a:solidFill>
            <a:srgbClr val="1B6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AMBIENTE DO PROJETO-GUIA PCDF  (aluno, no seu repositório)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5400000"/>
            <a:ext cx="19170650" cy="2000000"/>
          </a:xfrm>
        </p:spPr>
        <p:txBody>
          <a:bodyPr wrap="square"/>
          <a:lstStyle/>
          <a:p>
            <a:pPr algn="l"/>
            <a:r>
              <a:rPr sz="4800" b="1">
                <a:solidFill>
                  <a:srgbClr val="004A8F"/>
                </a:solidFill>
                <a:latin typeface="Calibri"/>
              </a:rPr>
              <a:t>Limpeza do Ambiente ao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550000"/>
            <a:ext cx="0" cy="2000000"/>
          </a:xfrm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sz="2600">
                <a:solidFill>
                  <a:srgbClr val="595959"/>
                </a:solidFill>
                <a:latin typeface="Calibri"/>
              </a:rPr>
              <a:t>Airflow, Kubernetes local e recursos na nuvem continuam consumindo memória, disco e crédito Azure se você não desligar.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4750000"/>
            <a:ext cx="1917065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5AC00"/>
                </a:solidFill>
                <a:latin typeface="Calibri"/>
              </a:rPr>
              <a:t>NÃO ESQUEÇA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80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Por Que Limpar É Parte do Processo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600">
                <a:solidFill>
                  <a:srgbClr val="004A8F"/>
                </a:solidFill>
                <a:latin typeface="Calibri"/>
              </a:rPr>
              <a:t>Crédito Azure:  </a:t>
            </a:r>
            <a:r>
              <a:rPr sz="2600">
                <a:solidFill>
                  <a:srgbClr val="262626"/>
                </a:solidFill>
                <a:latin typeface="Calibri"/>
              </a:rPr>
              <a:t>a conta de estudante tem só US$ 100 — recursos esquecidos ligados (Storage Account, VM, etc.) consomem crédito sem gerar valor.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600">
                <a:solidFill>
                  <a:srgbClr val="004A8F"/>
                </a:solidFill>
                <a:latin typeface="Calibri"/>
              </a:rPr>
              <a:t>Espaço em disco/memória:  </a:t>
            </a:r>
            <a:r>
              <a:rPr sz="2600">
                <a:solidFill>
                  <a:srgbClr val="262626"/>
                </a:solidFill>
                <a:latin typeface="Calibri"/>
              </a:rPr>
              <a:t>containers do Airflow (postgres + 4 serviços) e o cluster kind consomem recursos da sua máquina o tempo todo em que ficam de pé.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600">
                <a:solidFill>
                  <a:srgbClr val="004A8F"/>
                </a:solidFill>
                <a:latin typeface="Calibri"/>
              </a:rPr>
              <a:t>O que NUNCA apagar:  </a:t>
            </a:r>
            <a:r>
              <a:rPr sz="2600">
                <a:solidFill>
                  <a:srgbClr val="262626"/>
                </a:solidFill>
                <a:latin typeface="Calibri"/>
              </a:rPr>
              <a:t>o repositório do seu projeto PCDF em si — o que limpamos aqui é AMBIENTE de execução, não o código nem os dados versionados no Git.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81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>
                <a:solidFill>
                  <a:srgbClr val="0070C0"/>
                </a:solidFill>
                <a:latin typeface="Calibri"/>
              </a:rPr>
              <a:t>Comandos de Limpeza — Idênticos nos Dois Ambientes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3980000"/>
            <a:ext cx="1917065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i="1">
                <a:solidFill>
                  <a:srgbClr val="595959"/>
                </a:solidFill>
                <a:latin typeface="Calibri"/>
              </a:rPr>
              <a:t>rode ao final da prática de hoje, no ambiente local de testes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9100" y="4480000"/>
            <a:ext cx="9455325" cy="34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WSL2 (Ubuntu)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04425" y="4480000"/>
            <a:ext cx="9455325" cy="340000"/>
          </a:xfrm>
          <a:prstGeom prst="roundRect">
            <a:avLst>
              <a:gd name="adj" fmla="val 50000"/>
            </a:avLst>
          </a:prstGeom>
          <a:solidFill>
            <a:srgbClr val="1B6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Linux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89100" y="4870000"/>
            <a:ext cx="9455325" cy="73601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tIns="150000" rIns="14000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>
                <a:solidFill>
                  <a:srgbClr val="E8E8E8"/>
                </a:solidFill>
                <a:latin typeface="Consolas"/>
              </a:rPr>
              <a:t># Airflow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>
                <a:solidFill>
                  <a:srgbClr val="E8E8E8"/>
                </a:solidFill>
                <a:latin typeface="Consolas"/>
              </a:rPr>
              <a:t>docker compose down -v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>
                <a:solidFill>
                  <a:srgbClr val="E8E8E8"/>
                </a:solidFill>
                <a:latin typeface="Consolas"/>
              </a:rPr>
              <a:t># Kubernetes local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>
                <a:solidFill>
                  <a:srgbClr val="E8E8E8"/>
                </a:solidFill>
                <a:latin typeface="Consolas"/>
              </a:rPr>
              <a:t>kind delete cluster --name mlops-local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>
                <a:solidFill>
                  <a:srgbClr val="E8E8E8"/>
                </a:solidFill>
                <a:latin typeface="Consolas"/>
              </a:rPr>
              <a:t># Pulumi (Exemplo PCDF)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>
                <a:solidFill>
                  <a:srgbClr val="E8E8E8"/>
                </a:solidFill>
                <a:latin typeface="Consolas"/>
              </a:rPr>
              <a:t>pulumi destroy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>
                <a:solidFill>
                  <a:srgbClr val="E8E8E8"/>
                </a:solidFill>
                <a:latin typeface="Consolas"/>
              </a:rPr>
              <a:t># limpar imagens/containers não usados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>
                <a:solidFill>
                  <a:srgbClr val="E8E8E8"/>
                </a:solidFill>
                <a:latin typeface="Consolas"/>
              </a:rPr>
              <a:t>docker system prune -f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04425" y="4870000"/>
            <a:ext cx="9455325" cy="73601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tIns="150000" rIns="14000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>
                <a:solidFill>
                  <a:srgbClr val="E8E8E8"/>
                </a:solidFill>
                <a:latin typeface="Consolas"/>
              </a:rPr>
              <a:t># Airflow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>
                <a:solidFill>
                  <a:srgbClr val="E8E8E8"/>
                </a:solidFill>
                <a:latin typeface="Consolas"/>
              </a:rPr>
              <a:t>docker compose down -v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>
                <a:solidFill>
                  <a:srgbClr val="E8E8E8"/>
                </a:solidFill>
                <a:latin typeface="Consolas"/>
              </a:rPr>
              <a:t># Kubernetes local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>
                <a:solidFill>
                  <a:srgbClr val="E8E8E8"/>
                </a:solidFill>
                <a:latin typeface="Consolas"/>
              </a:rPr>
              <a:t>kind delete cluster --name mlops-local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>
                <a:solidFill>
                  <a:srgbClr val="E8E8E8"/>
                </a:solidFill>
                <a:latin typeface="Consolas"/>
              </a:rPr>
              <a:t># Pulumi (Exemplo PCDF)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>
                <a:solidFill>
                  <a:srgbClr val="E8E8E8"/>
                </a:solidFill>
                <a:latin typeface="Consolas"/>
              </a:rPr>
              <a:t>pulumi destroy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>
                <a:solidFill>
                  <a:srgbClr val="E8E8E8"/>
                </a:solidFill>
                <a:latin typeface="Consolas"/>
              </a:rPr>
              <a:t># limpar imagens/containers não usados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>
                <a:solidFill>
                  <a:srgbClr val="E8E8E8"/>
                </a:solidFill>
                <a:latin typeface="Consolas"/>
              </a:rPr>
              <a:t>docker system prune -f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O Que Fica de Pé (Não Apagar)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b="1" sz="2700">
                <a:solidFill>
                  <a:srgbClr val="004A8F"/>
                </a:solidFill>
                <a:latin typeface="Calibri"/>
              </a:rPr>
              <a:t>Seu repositório Git:  </a:t>
            </a:r>
            <a:r>
              <a:rPr sz="2700">
                <a:solidFill>
                  <a:srgbClr val="262626"/>
                </a:solidFill>
                <a:latin typeface="Calibri"/>
              </a:rPr>
              <a:t>código, DAG, .csv versionado — nada disso é afetado pelos comandos acima.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b="1" sz="2700">
                <a:solidFill>
                  <a:srgbClr val="004A8F"/>
                </a:solidFill>
                <a:latin typeface="Calibri"/>
              </a:rPr>
              <a:t>O Resource Group do PROJETO (se for o real):  </a:t>
            </a:r>
            <a:r>
              <a:rPr sz="2700">
                <a:solidFill>
                  <a:srgbClr val="262626"/>
                </a:solidFill>
                <a:latin typeface="Calibri"/>
              </a:rPr>
              <a:t>se você já rodou com criar_grupo=false num grupo que compõe a Entrega, NÃO rode terraform/pulumi destroy nele — só limpe ambientes de TESTE.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b="1" sz="2700">
                <a:solidFill>
                  <a:srgbClr val="004A8F"/>
                </a:solidFill>
                <a:latin typeface="Calibri"/>
              </a:rPr>
              <a:t>Capturas de tela já feitas:  </a:t>
            </a:r>
            <a:r>
              <a:rPr sz="2700">
                <a:solidFill>
                  <a:srgbClr val="262626"/>
                </a:solidFill>
                <a:latin typeface="Calibri"/>
              </a:rPr>
              <a:t>guarde-as antes de limpar — elas são a evidência, e o ambiente já vai deixar de existir depois do destroy.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83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5400000"/>
            <a:ext cx="19170650" cy="2000000"/>
          </a:xfrm>
        </p:spPr>
        <p:txBody>
          <a:bodyPr wrap="square"/>
          <a:lstStyle/>
          <a:p>
            <a:pPr algn="l"/>
            <a:r>
              <a:rPr sz="4800" b="1">
                <a:solidFill>
                  <a:srgbClr val="004A8F"/>
                </a:solidFill>
                <a:latin typeface="Calibri"/>
              </a:rPr>
              <a:t>Revisão, Avaliação e Entregável de Hoje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4750000"/>
            <a:ext cx="1917065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5AC00"/>
                </a:solidFill>
                <a:latin typeface="Calibri"/>
              </a:rPr>
              <a:t>ENCERRAMENTO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84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Entrega 4 — DAG do Projeto (Prévia)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600">
                <a:solidFill>
                  <a:srgbClr val="004A8F"/>
                </a:solidFill>
                <a:latin typeface="Calibri"/>
              </a:rPr>
              <a:t>O que ela cobre:  </a:t>
            </a:r>
            <a:r>
              <a:rPr sz="2600">
                <a:solidFill>
                  <a:srgbClr val="262626"/>
                </a:solidFill>
                <a:latin typeface="Calibri"/>
              </a:rPr>
              <a:t>o DAG de ingestão/ETL rodando no SEU projeto individual, com evidência das 3 tasks concluídas com sucesso na UI do Airflow.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600">
                <a:solidFill>
                  <a:srgbClr val="004A8F"/>
                </a:solidFill>
                <a:latin typeface="Calibri"/>
              </a:rPr>
              <a:t>Pontuação:  </a:t>
            </a:r>
            <a:r>
              <a:rPr sz="2600">
                <a:solidFill>
                  <a:srgbClr val="262626"/>
                </a:solidFill>
                <a:latin typeface="Calibri"/>
              </a:rPr>
              <a:t>10 pontos — critério detalhado de pontuação (rubrica ponto a ponto) será publicado antes do prazo de entrega, seguindo o mesmo formato das Entregas 1 a 3.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b="1" sz="2600">
                <a:solidFill>
                  <a:srgbClr val="004A8F"/>
                </a:solidFill>
                <a:latin typeface="Calibri"/>
              </a:rPr>
              <a:t>O que já dá para adiantar:  </a:t>
            </a:r>
            <a:r>
              <a:rPr sz="2600">
                <a:solidFill>
                  <a:srgbClr val="262626"/>
                </a:solidFill>
                <a:latin typeface="Calibri"/>
              </a:rPr>
              <a:t>estruturar airflow/dags/ e airflow/data/ no seu repositório, e já deixar o DAG rodando com sucesso no ambiente do SEU projeto.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85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Checklist de Encerramento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2100">
                <a:solidFill>
                  <a:srgbClr val="262626"/>
                </a:solidFill>
                <a:latin typeface="Calibri"/>
              </a:rPr>
              <a:t>☐ Docker Engine instalado (WSL2 ou Linux) e Kubernetes local habilitado via kind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2100">
                <a:solidFill>
                  <a:srgbClr val="262626"/>
                </a:solidFill>
                <a:latin typeface="Calibri"/>
              </a:rPr>
              <a:t>☐ Região liberada da SUA conta Azure for Students identificada e anotada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2100">
                <a:solidFill>
                  <a:srgbClr val="262626"/>
                </a:solidFill>
                <a:latin typeface="Calibri"/>
              </a:rPr>
              <a:t>☐ Exemplo Pulumi PCDF rodado até o fim, com evidência do Portal Azure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2100">
                <a:solidFill>
                  <a:srgbClr val="262626"/>
                </a:solidFill>
                <a:latin typeface="Calibri"/>
              </a:rPr>
              <a:t>☐ Airflow rodando no ambiente local (airflow-demo/), com docker-compose.override.yml aplicado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2100">
                <a:solidFill>
                  <a:srgbClr val="262626"/>
                </a:solidFill>
                <a:latin typeface="Calibri"/>
              </a:rPr>
              <a:t>☐ DAG ingestao_bo_pcdf com as 3 tasks verdes no ambiente local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2100">
                <a:solidFill>
                  <a:srgbClr val="262626"/>
                </a:solidFill>
                <a:latin typeface="Calibri"/>
              </a:rPr>
              <a:t>☐ DAG replicado no SEU projeto PCDF, com commit enviado ao GitHub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2100">
                <a:solidFill>
                  <a:srgbClr val="262626"/>
                </a:solidFill>
                <a:latin typeface="Calibri"/>
              </a:rPr>
              <a:t>☐ Ambiente de testes limpo (docker compose down -v, kind delete, pulumi destroy)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86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Entregável de Hoje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b="1" sz="2800">
                <a:solidFill>
                  <a:srgbClr val="004A8F"/>
                </a:solidFill>
                <a:latin typeface="Calibri"/>
              </a:rPr>
              <a:t>O que entregar:  </a:t>
            </a:r>
            <a:r>
              <a:rPr sz="2800">
                <a:solidFill>
                  <a:srgbClr val="262626"/>
                </a:solidFill>
                <a:latin typeface="Calibri"/>
              </a:rPr>
              <a:t>evidências de hoje alimentam a Entrega 4 (DAG do Projeto) — a rubrica completa de pontos será publicada antes do prazo.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b="1" sz="2800">
                <a:solidFill>
                  <a:srgbClr val="004A8F"/>
                </a:solidFill>
                <a:latin typeface="Calibri"/>
              </a:rPr>
              <a:t>Organização recomendada:  </a:t>
            </a:r>
            <a:r>
              <a:rPr sz="2800">
                <a:solidFill>
                  <a:srgbClr val="262626"/>
                </a:solidFill>
                <a:latin typeface="Calibri"/>
              </a:rPr>
              <a:t>mantenha os prints já separados por etapa (Docker/Kubernetes, região Azure, Pulumi, Airflow) — facilita montar o PDF da entrega.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b="1" sz="2800">
                <a:solidFill>
                  <a:srgbClr val="004A8F"/>
                </a:solidFill>
                <a:latin typeface="Calibri"/>
              </a:rPr>
              <a:t>Antes de subir:  </a:t>
            </a:r>
            <a:r>
              <a:rPr sz="2800">
                <a:solidFill>
                  <a:srgbClr val="262626"/>
                </a:solidFill>
                <a:latin typeface="Calibri"/>
              </a:rPr>
              <a:t>confirme que .env, credenciais.txt e qualquer chave/senha NÃO estão sendo commitados no repositório.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87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Referências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b="1" sz="2800">
                <a:solidFill>
                  <a:srgbClr val="004A8F"/>
                </a:solidFill>
                <a:latin typeface="Calibri"/>
              </a:rPr>
              <a:t>Documentação oficial do Airflow:  </a:t>
            </a:r>
            <a:r>
              <a:rPr sz="2800">
                <a:solidFill>
                  <a:srgbClr val="262626"/>
                </a:solidFill>
                <a:latin typeface="Calibri"/>
              </a:rPr>
              <a:t>airflow.apache.org/docs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b="1" sz="2800">
                <a:solidFill>
                  <a:srgbClr val="004A8F"/>
                </a:solidFill>
                <a:latin typeface="Calibri"/>
              </a:rPr>
              <a:t>Docker sem Docker Desktop (convenience script):  </a:t>
            </a:r>
            <a:r>
              <a:rPr sz="2800">
                <a:solidFill>
                  <a:srgbClr val="262626"/>
                </a:solidFill>
                <a:latin typeface="Calibri"/>
              </a:rPr>
              <a:t>get.docker.com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b="1" sz="2800">
                <a:solidFill>
                  <a:srgbClr val="004A8F"/>
                </a:solidFill>
                <a:latin typeface="Calibri"/>
              </a:rPr>
              <a:t>kind — Kubernetes-in-Docker:  </a:t>
            </a:r>
            <a:r>
              <a:rPr sz="2800">
                <a:solidFill>
                  <a:srgbClr val="262626"/>
                </a:solidFill>
                <a:latin typeface="Calibri"/>
              </a:rPr>
              <a:t>kind.sigs.k8s.io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b="1" sz="2800">
                <a:solidFill>
                  <a:srgbClr val="004A8F"/>
                </a:solidFill>
                <a:latin typeface="Calibri"/>
              </a:rPr>
              <a:t>Azure for Students — termos e limites:  </a:t>
            </a:r>
            <a:r>
              <a:rPr sz="2800">
                <a:solidFill>
                  <a:srgbClr val="262626"/>
                </a:solidFill>
                <a:latin typeface="Calibri"/>
              </a:rPr>
              <a:t>azure.microsoft.com/free/students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88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C9E5B6CA2FF774BAC2C469BEFBF993E" ma:contentTypeVersion="14" ma:contentTypeDescription="Crie um novo documento." ma:contentTypeScope="" ma:versionID="dc976a3d313a1884427fd4a25d2cee27">
  <xsd:schema xmlns:xsd="http://www.w3.org/2001/XMLSchema" xmlns:xs="http://www.w3.org/2001/XMLSchema" xmlns:p="http://schemas.microsoft.com/office/2006/metadata/properties" xmlns:ns1="http://schemas.microsoft.com/sharepoint/v3" xmlns:ns2="ca9a7d42-d7cc-4acf-9ced-5a6d605f5bb5" xmlns:ns3="de2f6f28-cd42-4609-bf66-4e8286a5a335" targetNamespace="http://schemas.microsoft.com/office/2006/metadata/properties" ma:root="true" ma:fieldsID="36c23cd9085cefcfd0c57ebeef0d5511" ns1:_="" ns2:_="" ns3:_="">
    <xsd:import namespace="http://schemas.microsoft.com/sharepoint/v3"/>
    <xsd:import namespace="ca9a7d42-d7cc-4acf-9ced-5a6d605f5bb5"/>
    <xsd:import namespace="de2f6f28-cd42-4609-bf66-4e8286a5a3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Ação de Interface do Usuário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9a7d42-d7cc-4acf-9ced-5a6d605f5b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2f6f28-cd42-4609-bf66-4e8286a5a33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12B0F66-32D8-4318-9FAE-9EACF69D7379}">
  <ds:schemaRefs>
    <ds:schemaRef ds:uri="http://schemas.microsoft.com/office/2006/metadata/properties"/>
    <ds:schemaRef ds:uri="http://schemas.microsoft.com/office/infopath/2007/PartnerControls"/>
    <ds:schemaRef ds:uri="4620a0fb-8c8e-452c-99f9-831cb1282a4d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A5A8ECF9-7567-461A-B635-D7A1660AA25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4036CB-9748-436C-A1A1-F4D69768EB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a9a7d42-d7cc-4acf-9ced-5a6d605f5bb5"/>
    <ds:schemaRef ds:uri="de2f6f28-cd42-4609-bf66-4e8286a5a3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11</Words>
  <Application>Microsoft Office PowerPoint</Application>
  <PresentationFormat>Personalizar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Helvetica Neue</vt:lpstr>
      <vt:lpstr>Helvetica Neue Light</vt:lpstr>
      <vt:lpstr>Helvetica Neue Medium</vt:lpstr>
      <vt:lpstr>White</vt:lpstr>
      <vt:lpstr>Curso de ...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Cláudio Carvajal</cp:lastModifiedBy>
  <cp:revision>13</cp:revision>
  <dcterms:modified xsi:type="dcterms:W3CDTF">2025-06-23T13:34:59Z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0x010100BC9E5B6CA2FF774BAC2C469BEFBF993E</vt:lpwstr>
  </property>
</Properties>
</file>